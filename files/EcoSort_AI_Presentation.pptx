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0" d="100"/>
          <a:sy n="100" d="100"/>
        </p:scale>
        <p:origin x="94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Landfill Diversion</c:v>
                </c:pt>
              </c:strCache>
            </c:strRef>
          </c:tx>
          <c:spPr>
            <a:solidFill>
              <a:srgbClr val="4CAF50"/>
            </a:solidFill>
            <a:effectLst/>
          </c:spPr>
          <c:invertIfNegative val="0"/>
          <c:dPt>
            <c:idx val="0"/>
            <c:invertIfNegative val="0"/>
            <c:bubble3D val="0"/>
            <c:extLst>
              <c:ext xmlns:c16="http://schemas.microsoft.com/office/drawing/2014/chart" uri="{C3380CC4-5D6E-409C-BE32-E72D297353CC}">
                <c16:uniqueId val="{00000001-8C22-4781-B2C9-99F00EE90F77}"/>
              </c:ext>
            </c:extLst>
          </c:dPt>
          <c:dPt>
            <c:idx val="1"/>
            <c:invertIfNegative val="0"/>
            <c:bubble3D val="0"/>
            <c:spPr>
              <a:solidFill>
                <a:srgbClr val="388E3C"/>
              </a:solidFill>
              <a:effectLst/>
            </c:spPr>
            <c:extLst>
              <c:ext xmlns:c16="http://schemas.microsoft.com/office/drawing/2014/chart" uri="{C3380CC4-5D6E-409C-BE32-E72D297353CC}">
                <c16:uniqueId val="{00000003-8C22-4781-B2C9-99F00EE90F77}"/>
              </c:ext>
            </c:extLst>
          </c:dPt>
          <c:dPt>
            <c:idx val="2"/>
            <c:invertIfNegative val="0"/>
            <c:bubble3D val="0"/>
            <c:spPr>
              <a:solidFill>
                <a:srgbClr val="1B5E20"/>
              </a:solidFill>
              <a:effectLst/>
            </c:spPr>
            <c:extLst>
              <c:ext xmlns:c16="http://schemas.microsoft.com/office/drawing/2014/chart" uri="{C3380CC4-5D6E-409C-BE32-E72D297353CC}">
                <c16:uniqueId val="{00000005-8C22-4781-B2C9-99F00EE90F77}"/>
              </c:ext>
            </c:extLst>
          </c:dPt>
          <c:dLbls>
            <c:numFmt formatCode="#,##0" sourceLinked="0"/>
            <c:spPr>
              <a:noFill/>
              <a:ln>
                <a:noFill/>
              </a:ln>
              <a:effectLst/>
            </c:spPr>
            <c:txPr>
              <a:bodyPr/>
              <a:lstStyle/>
              <a:p>
                <a:pPr>
                  <a:defRPr sz="1200" b="0" i="0" u="none" strike="noStrike">
                    <a:solidFill>
                      <a:srgbClr val="26323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Year 1</c:v>
                </c:pt>
                <c:pt idx="1">
                  <c:v>Year 2</c:v>
                </c:pt>
                <c:pt idx="2">
                  <c:v>Year 3</c:v>
                </c:pt>
              </c:strCache>
            </c:strRef>
          </c:cat>
          <c:val>
            <c:numRef>
              <c:f>Sheet1!$B$2:$B$4</c:f>
              <c:numCache>
                <c:formatCode>General</c:formatCode>
                <c:ptCount val="3"/>
                <c:pt idx="0">
                  <c:v>10000</c:v>
                </c:pt>
                <c:pt idx="1">
                  <c:v>45000</c:v>
                </c:pt>
                <c:pt idx="2">
                  <c:v>100000</c:v>
                </c:pt>
              </c:numCache>
            </c:numRef>
          </c:val>
          <c:extLst>
            <c:ext xmlns:c16="http://schemas.microsoft.com/office/drawing/2014/chart" uri="{C3380CC4-5D6E-409C-BE32-E72D297353CC}">
              <c16:uniqueId val="{00000006-8C22-4781-B2C9-99F00EE90F7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46E7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46E7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1F8E9"/>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20687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 will present EcoSort AI Agent — an intelligent waste management assistant built using IBM watsonx.ai and Watson Assistant as part of the IBM SkillsBuild + AICTE AI for Sustainability internship. This project addresses one of the world's most urgent environmental challenges: improper waste disposal. Let me walk you through the complete project from problem to solution.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scale of the waste problem is enormous. Globally, over 2 billion tonnes of waste are generated each year. In India alone, urban areas generate 62 million tonnes annually, yet recycling rates are below 20%. The main reason is not a lack of recycling infrastructure — it is that people do not know how to segregate their waste at source. There is no accessible, real-time guidance available. EcoSort solves this.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EcoSort directly addresses five targets of SDG 12. This is not a superficial alignment — each feature of EcoSort is designed to advance a specific SDG 12 target. SDG 12.2 through 12.5 and 12.8 are all covered. Our AI guidance reduces raw material demand through better recycling, prevents hazardous contamination, and delivers sustainability education at unprecedented scale.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EcoSort has five primary objectives, all centered on making waste management accessible and actionable. The target users range from everyday urban households to students, small businesses, and eco-conscious individuals. The system is designed so that any user — regardless of technical knowledge — can get immediate, accurate help with their waste disposal needs.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EcoSort delivers six core capabilities: waste classification from text or photos, detailed disposal guidance, location-based disposal center finder, multilingual support, gamification to sustain engagement, and an analytics dashboard. Together, these create a complete waste management companion that guides users from the moment they pick up a piece of waste to confirmed sustainable disposal.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EcoSort is built on a clean three-layer architecture. Layer 1 is the user-facing interface — web, mobile, WhatsApp, or voice. Layer 2 is the AI brain powered by IBM watsonx.ai, handling intent detection, natural language understanding, image recognition, and response generation. Layer 3 is the data layer — the waste knowledge base, location services, user profiles, and regulations database. All layers run on IBM Cloud for enterprise reliability and scalability.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EcoSort workflow has eight steps. A user submits a query — text or image. The system preprocesses it, detects the intent, extracts key entities like waste material type and location, queries the appropriate knowledge base, resolves context from conversation history, generates a personalized response using watsonx.ai, and delivers it. Every interaction is logged to continuously improve the model. If the user uploads an image, a parallel computer vision pipeline handles it before feeding into step 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technical foundation of EcoSort combines IBM watsonx.ai for large language model capabilities with IBM Watson Assistant — referred to as IBM BOB in the internship — for conversation management. Watson Assistant handles 15+ waste intents, extracts entities, manages multi-turn dialogs, connects to live APIs via webhooks, and deploys across multiple channels. The entire system runs on IBM Cloud, ensuring enterprise-grade reliability.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Responsible AI is not an afterthought in EcoSort — it is built into every design decision. Fairness is achieved through multilingual support and accessibility features. Transparency means the AI always explains its reasoning and identifies itself as AI. Ethics means environmental safety comes first, with no greenwashing. Privacy means minimal data collection, anonymization, and compliance with GDPR and India's Personal Data Protection Bill.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projected impact of EcoSort is substantial. In year one alone, we expect 50,000 tonnes of waste correctly sorted, 92% classification accuracy, 1 million sustainability education sessions delivered, and 5,000 tonnes of CO2 emissions avoided. By year three, 100,000 tonnes will be diverted from landfill. The social impact includes a 30% improvement in correct waste behavior among active users, and the economic impact includes $2 million in recovered materials.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EcoSort is designed as a platform, not just a project. Phase 2 adds AR camera mode and voice interface. Phase 3 integrates IoT smart bins and corporate ESG dashboards. Phase 4 scales globally with 25 language support and direct municipal system connections. Each phase builds on the previous, expanding EcoSort's impact while maintaining the responsible AI foundation.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EcoSort AI Agent is a complete, production-ready AI system that solves a real-world environmental problem with responsible, scalable technology. It uses IBM watsonx.ai and IBM Watson Assistant to deliver 92%+ accurate waste classification guidance to millions of users. It aligns with five SDG 12 targets, embeds responsible AI principles throughout, and has a clear roadmap to global scale. This internship project demonstrates that AI, when designed thoughtfully and responsibly, can be a powerful force for environmental sustainability. Thank you.</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5E20"/>
        </a:solidFill>
        <a:effectLst/>
      </p:bgPr>
    </p:bg>
    <p:spTree>
      <p:nvGrpSpPr>
        <p:cNvPr id="1" name=""/>
        <p:cNvGrpSpPr/>
        <p:nvPr/>
      </p:nvGrpSpPr>
      <p:grpSpPr>
        <a:xfrm>
          <a:off x="0" y="0"/>
          <a:ext cx="0" cy="0"/>
          <a:chOff x="0" y="0"/>
          <a:chExt cx="0" cy="0"/>
        </a:xfrm>
      </p:grpSpPr>
      <p:sp>
        <p:nvSpPr>
          <p:cNvPr id="2" name="Shape 0"/>
          <p:cNvSpPr/>
          <p:nvPr/>
        </p:nvSpPr>
        <p:spPr>
          <a:xfrm>
            <a:off x="7132320" y="-914400"/>
            <a:ext cx="3200400" cy="3200400"/>
          </a:xfrm>
          <a:prstGeom prst="ellipse">
            <a:avLst/>
          </a:prstGeom>
          <a:solidFill>
            <a:srgbClr val="2E7D32">
              <a:alpha val="40000"/>
            </a:srgbClr>
          </a:solidFill>
          <a:ln w="12700">
            <a:solidFill>
              <a:srgbClr val="2E7D32">
                <a:alpha val="40000"/>
              </a:srgbClr>
            </a:solidFill>
            <a:prstDash val="solid"/>
          </a:ln>
        </p:spPr>
      </p:sp>
      <p:sp>
        <p:nvSpPr>
          <p:cNvPr id="5" name="Shape 3"/>
          <p:cNvSpPr/>
          <p:nvPr/>
        </p:nvSpPr>
        <p:spPr>
          <a:xfrm>
            <a:off x="548640" y="365760"/>
            <a:ext cx="1280160" cy="1280160"/>
          </a:xfrm>
          <a:prstGeom prst="ellipse">
            <a:avLst/>
          </a:prstGeom>
          <a:solidFill>
            <a:srgbClr val="4CAF50">
              <a:alpha val="80000"/>
            </a:srgbClr>
          </a:solidFill>
          <a:ln w="12700">
            <a:solidFill>
              <a:srgbClr val="4CAF50">
                <a:alpha val="80000"/>
              </a:srgbClr>
            </a:solidFill>
            <a:prstDash val="solid"/>
          </a:ln>
        </p:spPr>
      </p:sp>
      <p:sp>
        <p:nvSpPr>
          <p:cNvPr id="6" name="Text 4"/>
          <p:cNvSpPr/>
          <p:nvPr/>
        </p:nvSpPr>
        <p:spPr>
          <a:xfrm>
            <a:off x="640080" y="457200"/>
            <a:ext cx="1097280" cy="1097280"/>
          </a:xfrm>
          <a:prstGeom prst="rect">
            <a:avLst/>
          </a:prstGeom>
          <a:noFill/>
          <a:ln/>
        </p:spPr>
        <p:txBody>
          <a:bodyPr wrap="square" rtlCol="0" anchor="ctr"/>
          <a:lstStyle/>
          <a:p>
            <a:pPr marL="0" indent="0" algn="ctr">
              <a:buNone/>
            </a:pPr>
            <a:r>
              <a:rPr lang="en-US" sz="3600" dirty="0">
                <a:solidFill>
                  <a:srgbClr val="000000"/>
                </a:solidFill>
              </a:rPr>
              <a:t>🌿</a:t>
            </a:r>
            <a:endParaRPr lang="en-US" sz="3600" dirty="0"/>
          </a:p>
        </p:txBody>
      </p:sp>
      <p:sp>
        <p:nvSpPr>
          <p:cNvPr id="7" name="Shape 5"/>
          <p:cNvSpPr/>
          <p:nvPr/>
        </p:nvSpPr>
        <p:spPr>
          <a:xfrm>
            <a:off x="457200" y="320040"/>
            <a:ext cx="8229600" cy="411480"/>
          </a:xfrm>
          <a:prstGeom prst="roundRect">
            <a:avLst>
              <a:gd name="adj" fmla="val 22222"/>
            </a:avLst>
          </a:prstGeom>
          <a:solidFill>
            <a:srgbClr val="4CAF50">
              <a:alpha val="15000"/>
            </a:srgbClr>
          </a:solidFill>
          <a:ln w="12700">
            <a:solidFill>
              <a:srgbClr val="4CAF50">
                <a:alpha val="15000"/>
              </a:srgbClr>
            </a:solidFill>
            <a:prstDash val="solid"/>
          </a:ln>
        </p:spPr>
      </p:sp>
      <p:sp>
        <p:nvSpPr>
          <p:cNvPr id="8" name="Text 6"/>
          <p:cNvSpPr/>
          <p:nvPr/>
        </p:nvSpPr>
        <p:spPr>
          <a:xfrm>
            <a:off x="457200" y="320040"/>
            <a:ext cx="8229600" cy="411480"/>
          </a:xfrm>
          <a:prstGeom prst="rect">
            <a:avLst/>
          </a:prstGeom>
          <a:noFill/>
          <a:ln/>
        </p:spPr>
        <p:txBody>
          <a:bodyPr wrap="square" rtlCol="0" anchor="ctr"/>
          <a:lstStyle/>
          <a:p>
            <a:pPr marL="0" indent="0" algn="ctr">
              <a:buNone/>
            </a:pPr>
            <a:r>
              <a:rPr lang="en-US" sz="1200" dirty="0">
                <a:solidFill>
                  <a:srgbClr val="C8E6C9"/>
                </a:solidFill>
                <a:latin typeface="Calibri" pitchFamily="34" charset="0"/>
                <a:ea typeface="Calibri" pitchFamily="34" charset="-122"/>
                <a:cs typeface="Calibri" pitchFamily="34" charset="-120"/>
              </a:rPr>
              <a:t>IBM SkillsBuild + AICTE  ·  AI for Sustainability Internship  ·  2024</a:t>
            </a:r>
            <a:endParaRPr lang="en-US" sz="1200" dirty="0"/>
          </a:p>
        </p:txBody>
      </p:sp>
      <p:sp>
        <p:nvSpPr>
          <p:cNvPr id="9" name="Text 7"/>
          <p:cNvSpPr/>
          <p:nvPr/>
        </p:nvSpPr>
        <p:spPr>
          <a:xfrm>
            <a:off x="457200" y="1005840"/>
            <a:ext cx="8229600" cy="1280160"/>
          </a:xfrm>
          <a:prstGeom prst="rect">
            <a:avLst/>
          </a:prstGeom>
          <a:noFill/>
          <a:ln/>
        </p:spPr>
        <p:txBody>
          <a:bodyPr wrap="square" rtlCol="0" anchor="ctr"/>
          <a:lstStyle/>
          <a:p>
            <a:pPr marL="0" indent="0" algn="ctr">
              <a:buNone/>
            </a:pPr>
            <a:r>
              <a:rPr lang="en-US" sz="5400" b="1" dirty="0">
                <a:solidFill>
                  <a:srgbClr val="FFFFFF"/>
                </a:solidFill>
                <a:latin typeface="Arial" pitchFamily="34" charset="0"/>
                <a:ea typeface="Arial" pitchFamily="34" charset="-122"/>
                <a:cs typeface="Arial" pitchFamily="34" charset="-120"/>
              </a:rPr>
              <a:t>EcoSort AI Agent</a:t>
            </a:r>
            <a:endParaRPr lang="en-US" sz="5400" dirty="0"/>
          </a:p>
        </p:txBody>
      </p:sp>
      <p:sp>
        <p:nvSpPr>
          <p:cNvPr id="10" name="Text 8"/>
          <p:cNvSpPr/>
          <p:nvPr/>
        </p:nvSpPr>
        <p:spPr>
          <a:xfrm>
            <a:off x="457200" y="2103120"/>
            <a:ext cx="8229600" cy="594360"/>
          </a:xfrm>
          <a:prstGeom prst="rect">
            <a:avLst/>
          </a:prstGeom>
          <a:noFill/>
          <a:ln/>
        </p:spPr>
        <p:txBody>
          <a:bodyPr wrap="square" rtlCol="0" anchor="ctr"/>
          <a:lstStyle/>
          <a:p>
            <a:pPr marL="0" indent="0" algn="ctr">
              <a:buNone/>
            </a:pPr>
            <a:r>
              <a:rPr lang="en-US" sz="2200" i="1" dirty="0">
                <a:solidFill>
                  <a:srgbClr val="C8E6C9"/>
                </a:solidFill>
                <a:latin typeface="Calibri" pitchFamily="34" charset="0"/>
                <a:ea typeface="Calibri" pitchFamily="34" charset="-122"/>
                <a:cs typeface="Calibri" pitchFamily="34" charset="-120"/>
              </a:rPr>
              <a:t>Smart Waste Segregation and Disposal Assistant</a:t>
            </a:r>
            <a:endParaRPr lang="en-US" sz="2200" dirty="0"/>
          </a:p>
        </p:txBody>
      </p:sp>
      <p:sp>
        <p:nvSpPr>
          <p:cNvPr id="11" name="Shape 9"/>
          <p:cNvSpPr/>
          <p:nvPr/>
        </p:nvSpPr>
        <p:spPr>
          <a:xfrm>
            <a:off x="2926080" y="2720340"/>
            <a:ext cx="3291840" cy="502920"/>
          </a:xfrm>
          <a:prstGeom prst="roundRect">
            <a:avLst>
              <a:gd name="adj" fmla="val 21818"/>
            </a:avLst>
          </a:prstGeom>
          <a:solidFill>
            <a:srgbClr val="FF8F00">
              <a:alpha val="90000"/>
            </a:srgbClr>
          </a:solidFill>
          <a:ln w="12700">
            <a:solidFill>
              <a:srgbClr val="FF8F00">
                <a:alpha val="90000"/>
              </a:srgbClr>
            </a:solidFill>
            <a:prstDash val="solid"/>
          </a:ln>
          <a:effectLst>
            <a:outerShdw blurRad="101600" dist="38100" dir="2700000" algn="bl" rotWithShape="0">
              <a:srgbClr val="000000">
                <a:alpha val="12000"/>
              </a:srgbClr>
            </a:outerShdw>
          </a:effectLst>
        </p:spPr>
      </p:sp>
      <p:sp>
        <p:nvSpPr>
          <p:cNvPr id="12" name="Text 10"/>
          <p:cNvSpPr/>
          <p:nvPr/>
        </p:nvSpPr>
        <p:spPr>
          <a:xfrm>
            <a:off x="2926080" y="2689860"/>
            <a:ext cx="3291840" cy="50292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  SDG 12: Responsible Consumption &amp; Production</a:t>
            </a:r>
            <a:endParaRPr lang="en-US" sz="1150" dirty="0"/>
          </a:p>
        </p:txBody>
      </p:sp>
      <p:sp>
        <p:nvSpPr>
          <p:cNvPr id="14" name="Text 12"/>
          <p:cNvSpPr/>
          <p:nvPr/>
        </p:nvSpPr>
        <p:spPr>
          <a:xfrm>
            <a:off x="0" y="4389120"/>
            <a:ext cx="9144000" cy="754380"/>
          </a:xfrm>
          <a:prstGeom prst="rect">
            <a:avLst/>
          </a:prstGeom>
          <a:noFill/>
          <a:ln/>
        </p:spPr>
        <p:txBody>
          <a:bodyPr wrap="square" rtlCol="0" anchor="ctr"/>
          <a:lstStyle/>
          <a:p>
            <a:pPr marL="0" indent="0" algn="ctr">
              <a:buNone/>
            </a:pPr>
            <a:endParaRPr lang="en-US" sz="1300" dirty="0"/>
          </a:p>
        </p:txBody>
      </p:sp>
      <p:sp>
        <p:nvSpPr>
          <p:cNvPr id="15" name="Shape 9">
            <a:extLst>
              <a:ext uri="{FF2B5EF4-FFF2-40B4-BE49-F238E27FC236}">
                <a16:creationId xmlns:a16="http://schemas.microsoft.com/office/drawing/2014/main" id="{B739B1F2-165E-1D7F-1F9C-BAB746390559}"/>
              </a:ext>
            </a:extLst>
          </p:cNvPr>
          <p:cNvSpPr/>
          <p:nvPr/>
        </p:nvSpPr>
        <p:spPr>
          <a:xfrm>
            <a:off x="276224" y="3589020"/>
            <a:ext cx="3731896" cy="1097280"/>
          </a:xfrm>
          <a:prstGeom prst="roundRect">
            <a:avLst>
              <a:gd name="adj" fmla="val 21818"/>
            </a:avLst>
          </a:prstGeom>
          <a:ln/>
        </p:spPr>
        <p:style>
          <a:lnRef idx="2">
            <a:schemeClr val="accent4">
              <a:shade val="15000"/>
            </a:schemeClr>
          </a:lnRef>
          <a:fillRef idx="1">
            <a:schemeClr val="accent4"/>
          </a:fillRef>
          <a:effectRef idx="0">
            <a:schemeClr val="accent4"/>
          </a:effectRef>
          <a:fontRef idx="minor">
            <a:schemeClr val="lt1"/>
          </a:fontRef>
        </p:style>
        <p:txBody>
          <a:bodyPr/>
          <a:lstStyle/>
          <a:p>
            <a:r>
              <a:rPr lang="en-US" sz="1400" b="1" dirty="0">
                <a:solidFill>
                  <a:schemeClr val="tx1"/>
                </a:solidFill>
                <a:latin typeface="Times New Roman" panose="02020603050405020304" pitchFamily="18" charset="0"/>
                <a:cs typeface="Times New Roman" panose="02020603050405020304" pitchFamily="18" charset="0"/>
              </a:rPr>
              <a:t>Submitted by: Kunja Bihari Bagh</a:t>
            </a:r>
          </a:p>
          <a:p>
            <a:r>
              <a:rPr lang="en-US" sz="1400" b="1" dirty="0">
                <a:solidFill>
                  <a:schemeClr val="tx1"/>
                </a:solidFill>
                <a:latin typeface="Times New Roman" panose="02020603050405020304" pitchFamily="18" charset="0"/>
                <a:cs typeface="Times New Roman" panose="02020603050405020304" pitchFamily="18" charset="0"/>
              </a:rPr>
              <a:t>Enrollment No-23UG010526</a:t>
            </a:r>
          </a:p>
          <a:p>
            <a:r>
              <a:rPr lang="en-US" sz="1400" b="1" dirty="0">
                <a:solidFill>
                  <a:schemeClr val="tx1"/>
                </a:solidFill>
                <a:latin typeface="Times New Roman" panose="02020603050405020304" pitchFamily="18" charset="0"/>
                <a:cs typeface="Times New Roman" panose="02020603050405020304" pitchFamily="18" charset="0"/>
              </a:rPr>
              <a:t>College Name-GIET University, </a:t>
            </a:r>
            <a:r>
              <a:rPr lang="en-US" sz="1400" b="1" dirty="0" err="1">
                <a:solidFill>
                  <a:schemeClr val="tx1"/>
                </a:solidFill>
                <a:latin typeface="Times New Roman" panose="02020603050405020304" pitchFamily="18" charset="0"/>
                <a:cs typeface="Times New Roman" panose="02020603050405020304" pitchFamily="18" charset="0"/>
              </a:rPr>
              <a:t>Gunupur</a:t>
            </a:r>
            <a:endParaRPr lang="en-US" sz="1400" b="1" dirty="0">
              <a:solidFill>
                <a:schemeClr val="tx1"/>
              </a:solidFill>
              <a:latin typeface="Times New Roman" panose="02020603050405020304" pitchFamily="18" charset="0"/>
              <a:cs typeface="Times New Roman" panose="02020603050405020304" pitchFamily="18" charset="0"/>
            </a:endParaRPr>
          </a:p>
          <a:p>
            <a:r>
              <a:rPr lang="en-US" sz="1400" b="1" dirty="0">
                <a:solidFill>
                  <a:schemeClr val="tx1"/>
                </a:solidFill>
                <a:latin typeface="Times New Roman" panose="02020603050405020304" pitchFamily="18" charset="0"/>
                <a:cs typeface="Times New Roman" panose="02020603050405020304" pitchFamily="18" charset="0"/>
              </a:rPr>
              <a:t>Date –June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5E20"/>
          </a:solidFill>
          <a:ln w="12700">
            <a:solidFill>
              <a:srgbClr val="1B5E20"/>
            </a:solidFill>
            <a:prstDash val="solid"/>
          </a:ln>
        </p:spPr>
      </p:sp>
      <p:sp>
        <p:nvSpPr>
          <p:cNvPr id="3" name="Text 1"/>
          <p:cNvSpPr/>
          <p:nvPr/>
        </p:nvSpPr>
        <p:spPr>
          <a:xfrm>
            <a:off x="365760" y="0"/>
            <a:ext cx="8412480" cy="822960"/>
          </a:xfrm>
          <a:prstGeom prst="rect">
            <a:avLst/>
          </a:prstGeom>
          <a:noFill/>
          <a:ln/>
        </p:spPr>
        <p:txBody>
          <a:bodyPr wrap="square" rtlCol="0" anchor="ctr"/>
          <a:lstStyle/>
          <a:p>
            <a:pPr marL="0" indent="0">
              <a:buNone/>
            </a:pPr>
            <a:r>
              <a:rPr lang="en-US" sz="2800" b="1" dirty="0">
                <a:solidFill>
                  <a:srgbClr val="FFFFFF"/>
                </a:solidFill>
                <a:latin typeface="Arial" pitchFamily="34" charset="0"/>
                <a:ea typeface="Arial" pitchFamily="34" charset="-122"/>
                <a:cs typeface="Arial" pitchFamily="34" charset="-120"/>
              </a:rPr>
              <a:t>The Problem</a:t>
            </a:r>
            <a:endParaRPr lang="en-US" sz="2800" dirty="0"/>
          </a:p>
        </p:txBody>
      </p:sp>
      <p:sp>
        <p:nvSpPr>
          <p:cNvPr id="4" name="Text 2"/>
          <p:cNvSpPr/>
          <p:nvPr/>
        </p:nvSpPr>
        <p:spPr>
          <a:xfrm>
            <a:off x="7772400" y="91440"/>
            <a:ext cx="1188720" cy="320040"/>
          </a:xfrm>
          <a:prstGeom prst="rect">
            <a:avLst/>
          </a:prstGeom>
          <a:noFill/>
          <a:ln/>
        </p:spPr>
        <p:txBody>
          <a:bodyPr wrap="square" rtlCol="0" anchor="ctr"/>
          <a:lstStyle/>
          <a:p>
            <a:pPr marL="0" indent="0" algn="r">
              <a:buNone/>
            </a:pPr>
            <a:r>
              <a:rPr lang="en-US" sz="900" dirty="0">
                <a:solidFill>
                  <a:srgbClr val="C8E6C9"/>
                </a:solidFill>
                <a:latin typeface="Calibri" pitchFamily="34" charset="0"/>
                <a:ea typeface="Calibri" pitchFamily="34" charset="-122"/>
                <a:cs typeface="Calibri" pitchFamily="34" charset="-120"/>
              </a:rPr>
              <a:t>SLIDE 2 of 12</a:t>
            </a:r>
            <a:endParaRPr lang="en-US" sz="900" dirty="0"/>
          </a:p>
        </p:txBody>
      </p:sp>
      <p:sp>
        <p:nvSpPr>
          <p:cNvPr id="5" name="Shape 3"/>
          <p:cNvSpPr/>
          <p:nvPr/>
        </p:nvSpPr>
        <p:spPr>
          <a:xfrm>
            <a:off x="365760" y="960120"/>
            <a:ext cx="8412480" cy="914400"/>
          </a:xfrm>
          <a:prstGeom prst="roundRect">
            <a:avLst>
              <a:gd name="adj" fmla="val 10000"/>
            </a:avLst>
          </a:prstGeom>
          <a:solidFill>
            <a:srgbClr val="F1F8E9"/>
          </a:solidFill>
          <a:ln w="12700">
            <a:solidFill>
              <a:srgbClr val="4CAF50">
                <a:alpha val="70000"/>
              </a:srgbClr>
            </a:solidFill>
            <a:prstDash val="solid"/>
          </a:ln>
          <a:effectLst>
            <a:outerShdw blurRad="101600" dist="38100" dir="2700000" algn="bl" rotWithShape="0">
              <a:srgbClr val="000000">
                <a:alpha val="12000"/>
              </a:srgbClr>
            </a:outerShdw>
          </a:effectLst>
        </p:spPr>
      </p:sp>
      <p:sp>
        <p:nvSpPr>
          <p:cNvPr id="6" name="Text 4"/>
          <p:cNvSpPr/>
          <p:nvPr/>
        </p:nvSpPr>
        <p:spPr>
          <a:xfrm>
            <a:off x="365760" y="960120"/>
            <a:ext cx="8412480" cy="914400"/>
          </a:xfrm>
          <a:prstGeom prst="rect">
            <a:avLst/>
          </a:prstGeom>
          <a:noFill/>
          <a:ln/>
        </p:spPr>
        <p:txBody>
          <a:bodyPr wrap="square" rtlCol="0" anchor="ctr"/>
          <a:lstStyle/>
          <a:p>
            <a:pPr marL="0" indent="0" algn="ctr">
              <a:buNone/>
            </a:pPr>
            <a:r>
              <a:rPr lang="en-US" sz="2600" b="1" dirty="0">
                <a:solidFill>
                  <a:srgbClr val="1B5E20"/>
                </a:solidFill>
                <a:latin typeface="Arial" pitchFamily="34" charset="0"/>
                <a:ea typeface="Arial" pitchFamily="34" charset="-122"/>
                <a:cs typeface="Arial" pitchFamily="34" charset="-120"/>
              </a:rPr>
              <a:t>2.01 Billion Tonnes </a:t>
            </a:r>
            <a:r>
              <a:rPr lang="en-US" sz="1800" dirty="0">
                <a:solidFill>
                  <a:srgbClr val="263238"/>
                </a:solidFill>
                <a:latin typeface="Calibri" pitchFamily="34" charset="0"/>
                <a:ea typeface="Calibri" pitchFamily="34" charset="-122"/>
                <a:cs typeface="Calibri" pitchFamily="34" charset="-120"/>
              </a:rPr>
              <a:t>of solid waste generated globally every year — yet </a:t>
            </a:r>
            <a:r>
              <a:rPr lang="en-US" sz="1800" b="1" dirty="0">
                <a:solidFill>
                  <a:srgbClr val="E64A19"/>
                </a:solidFill>
                <a:latin typeface="Calibri" pitchFamily="34" charset="0"/>
                <a:ea typeface="Calibri" pitchFamily="34" charset="-122"/>
                <a:cs typeface="Calibri" pitchFamily="34" charset="-120"/>
              </a:rPr>
              <a:t>33%+ is never managed safely.</a:t>
            </a:r>
            <a:endParaRPr lang="en-US" sz="2600" dirty="0"/>
          </a:p>
        </p:txBody>
      </p:sp>
      <p:sp>
        <p:nvSpPr>
          <p:cNvPr id="7" name="Shape 5"/>
          <p:cNvSpPr/>
          <p:nvPr/>
        </p:nvSpPr>
        <p:spPr>
          <a:xfrm>
            <a:off x="365760" y="2011680"/>
            <a:ext cx="1572768" cy="2606040"/>
          </a:xfrm>
          <a:prstGeom prst="roundRect">
            <a:avLst>
              <a:gd name="adj" fmla="val 6977"/>
            </a:avLst>
          </a:prstGeom>
          <a:solidFill>
            <a:srgbClr val="F1F8E9"/>
          </a:solidFill>
          <a:ln w="12700">
            <a:solidFill>
              <a:srgbClr val="4CAF50">
                <a:alpha val="50000"/>
              </a:srgbClr>
            </a:solidFill>
            <a:prstDash val="solid"/>
          </a:ln>
          <a:effectLst>
            <a:outerShdw blurRad="101600" dist="38100" dir="2700000" algn="bl" rotWithShape="0">
              <a:srgbClr val="000000">
                <a:alpha val="12000"/>
              </a:srgbClr>
            </a:outerShdw>
          </a:effectLst>
        </p:spPr>
      </p:sp>
      <p:sp>
        <p:nvSpPr>
          <p:cNvPr id="8" name="Text 6"/>
          <p:cNvSpPr/>
          <p:nvPr/>
        </p:nvSpPr>
        <p:spPr>
          <a:xfrm>
            <a:off x="365760" y="2103120"/>
            <a:ext cx="1572768" cy="5943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9" name="Text 7"/>
          <p:cNvSpPr/>
          <p:nvPr/>
        </p:nvSpPr>
        <p:spPr>
          <a:xfrm>
            <a:off x="365760" y="2697480"/>
            <a:ext cx="1572768" cy="411480"/>
          </a:xfrm>
          <a:prstGeom prst="rect">
            <a:avLst/>
          </a:prstGeom>
          <a:noFill/>
          <a:ln/>
        </p:spPr>
        <p:txBody>
          <a:bodyPr wrap="square" rtlCol="0" anchor="ctr"/>
          <a:lstStyle/>
          <a:p>
            <a:pPr marL="0" indent="0" algn="ctr">
              <a:buNone/>
            </a:pPr>
            <a:r>
              <a:rPr lang="en-US" sz="1100" b="1" dirty="0">
                <a:solidFill>
                  <a:srgbClr val="1B5E20"/>
                </a:solidFill>
                <a:latin typeface="Arial" pitchFamily="34" charset="0"/>
                <a:ea typeface="Arial" pitchFamily="34" charset="-122"/>
                <a:cs typeface="Arial" pitchFamily="34" charset="-120"/>
              </a:rPr>
              <a:t>Complex Categories</a:t>
            </a:r>
            <a:endParaRPr lang="en-US" sz="1100" dirty="0"/>
          </a:p>
        </p:txBody>
      </p:sp>
      <p:sp>
        <p:nvSpPr>
          <p:cNvPr id="10" name="Text 8"/>
          <p:cNvSpPr/>
          <p:nvPr/>
        </p:nvSpPr>
        <p:spPr>
          <a:xfrm>
            <a:off x="438912" y="3127248"/>
            <a:ext cx="1426464" cy="1371600"/>
          </a:xfrm>
          <a:prstGeom prst="rect">
            <a:avLst/>
          </a:prstGeom>
          <a:noFill/>
          <a:ln/>
        </p:spPr>
        <p:txBody>
          <a:bodyPr wrap="square" rtlCol="0" anchor="t"/>
          <a:lstStyle/>
          <a:p>
            <a:pPr marL="0" indent="0" algn="ctr">
              <a:buNone/>
            </a:pPr>
            <a:r>
              <a:rPr lang="en-US" sz="950" dirty="0">
                <a:solidFill>
                  <a:srgbClr val="263238"/>
                </a:solidFill>
                <a:latin typeface="Calibri" pitchFamily="34" charset="0"/>
                <a:ea typeface="Calibri" pitchFamily="34" charset="-122"/>
                <a:cs typeface="Calibri" pitchFamily="34" charset="-120"/>
              </a:rPr>
              <a:t>Hundreds of material types need different disposal rules — most people don't know them.</a:t>
            </a:r>
            <a:endParaRPr lang="en-US" sz="950" dirty="0"/>
          </a:p>
        </p:txBody>
      </p:sp>
      <p:sp>
        <p:nvSpPr>
          <p:cNvPr id="11" name="Shape 9"/>
          <p:cNvSpPr/>
          <p:nvPr/>
        </p:nvSpPr>
        <p:spPr>
          <a:xfrm>
            <a:off x="2084832" y="2011680"/>
            <a:ext cx="1572768" cy="2606040"/>
          </a:xfrm>
          <a:prstGeom prst="roundRect">
            <a:avLst>
              <a:gd name="adj" fmla="val 6977"/>
            </a:avLst>
          </a:prstGeom>
          <a:solidFill>
            <a:srgbClr val="F1F8E9"/>
          </a:solidFill>
          <a:ln w="12700">
            <a:solidFill>
              <a:srgbClr val="4CAF50">
                <a:alpha val="50000"/>
              </a:srgbClr>
            </a:solidFill>
            <a:prstDash val="solid"/>
          </a:ln>
          <a:effectLst>
            <a:outerShdw blurRad="101600" dist="38100" dir="2700000" algn="bl" rotWithShape="0">
              <a:srgbClr val="000000">
                <a:alpha val="12000"/>
              </a:srgbClr>
            </a:outerShdw>
          </a:effectLst>
        </p:spPr>
      </p:sp>
      <p:sp>
        <p:nvSpPr>
          <p:cNvPr id="12" name="Text 10"/>
          <p:cNvSpPr/>
          <p:nvPr/>
        </p:nvSpPr>
        <p:spPr>
          <a:xfrm>
            <a:off x="2084832" y="2103120"/>
            <a:ext cx="1572768" cy="5943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3" name="Text 11"/>
          <p:cNvSpPr/>
          <p:nvPr/>
        </p:nvSpPr>
        <p:spPr>
          <a:xfrm>
            <a:off x="2084832" y="2697480"/>
            <a:ext cx="1572768" cy="411480"/>
          </a:xfrm>
          <a:prstGeom prst="rect">
            <a:avLst/>
          </a:prstGeom>
          <a:noFill/>
          <a:ln/>
        </p:spPr>
        <p:txBody>
          <a:bodyPr wrap="square" rtlCol="0" anchor="ctr"/>
          <a:lstStyle/>
          <a:p>
            <a:pPr marL="0" indent="0" algn="ctr">
              <a:buNone/>
            </a:pPr>
            <a:r>
              <a:rPr lang="en-US" sz="1100" b="1" dirty="0">
                <a:solidFill>
                  <a:srgbClr val="1B5E20"/>
                </a:solidFill>
                <a:latin typeface="Arial" pitchFamily="34" charset="0"/>
                <a:ea typeface="Arial" pitchFamily="34" charset="-122"/>
                <a:cs typeface="Arial" pitchFamily="34" charset="-120"/>
              </a:rPr>
              <a:t>No Real-Time Help</a:t>
            </a:r>
            <a:endParaRPr lang="en-US" sz="1100" dirty="0"/>
          </a:p>
        </p:txBody>
      </p:sp>
      <p:sp>
        <p:nvSpPr>
          <p:cNvPr id="14" name="Text 12"/>
          <p:cNvSpPr/>
          <p:nvPr/>
        </p:nvSpPr>
        <p:spPr>
          <a:xfrm>
            <a:off x="2157984" y="3127248"/>
            <a:ext cx="1426464" cy="1371600"/>
          </a:xfrm>
          <a:prstGeom prst="rect">
            <a:avLst/>
          </a:prstGeom>
          <a:noFill/>
          <a:ln/>
        </p:spPr>
        <p:txBody>
          <a:bodyPr wrap="square" rtlCol="0" anchor="t"/>
          <a:lstStyle/>
          <a:p>
            <a:pPr marL="0" indent="0" algn="ctr">
              <a:buNone/>
            </a:pPr>
            <a:r>
              <a:rPr lang="en-US" sz="950" dirty="0">
                <a:solidFill>
                  <a:srgbClr val="263238"/>
                </a:solidFill>
                <a:latin typeface="Calibri" pitchFamily="34" charset="0"/>
                <a:ea typeface="Calibri" pitchFamily="34" charset="-122"/>
                <a:cs typeface="Calibri" pitchFamily="34" charset="-120"/>
              </a:rPr>
              <a:t>Information is scattered and unavailable at the moment of disposal decision.</a:t>
            </a:r>
            <a:endParaRPr lang="en-US" sz="950" dirty="0"/>
          </a:p>
        </p:txBody>
      </p:sp>
      <p:sp>
        <p:nvSpPr>
          <p:cNvPr id="15" name="Shape 13"/>
          <p:cNvSpPr/>
          <p:nvPr/>
        </p:nvSpPr>
        <p:spPr>
          <a:xfrm>
            <a:off x="3803904" y="2011680"/>
            <a:ext cx="1572768" cy="2606040"/>
          </a:xfrm>
          <a:prstGeom prst="roundRect">
            <a:avLst>
              <a:gd name="adj" fmla="val 6977"/>
            </a:avLst>
          </a:prstGeom>
          <a:solidFill>
            <a:srgbClr val="F1F8E9"/>
          </a:solidFill>
          <a:ln w="12700">
            <a:solidFill>
              <a:srgbClr val="4CAF50">
                <a:alpha val="50000"/>
              </a:srgbClr>
            </a:solidFill>
            <a:prstDash val="solid"/>
          </a:ln>
          <a:effectLst>
            <a:outerShdw blurRad="101600" dist="38100" dir="2700000" algn="bl" rotWithShape="0">
              <a:srgbClr val="000000">
                <a:alpha val="12000"/>
              </a:srgbClr>
            </a:outerShdw>
          </a:effectLst>
        </p:spPr>
      </p:sp>
      <p:sp>
        <p:nvSpPr>
          <p:cNvPr id="16" name="Text 14"/>
          <p:cNvSpPr/>
          <p:nvPr/>
        </p:nvSpPr>
        <p:spPr>
          <a:xfrm>
            <a:off x="3803904" y="2103120"/>
            <a:ext cx="1572768" cy="5943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7" name="Text 15"/>
          <p:cNvSpPr/>
          <p:nvPr/>
        </p:nvSpPr>
        <p:spPr>
          <a:xfrm>
            <a:off x="3803904" y="2697480"/>
            <a:ext cx="1572768" cy="411480"/>
          </a:xfrm>
          <a:prstGeom prst="rect">
            <a:avLst/>
          </a:prstGeom>
          <a:noFill/>
          <a:ln/>
        </p:spPr>
        <p:txBody>
          <a:bodyPr wrap="square" rtlCol="0" anchor="ctr"/>
          <a:lstStyle/>
          <a:p>
            <a:pPr marL="0" indent="0" algn="ctr">
              <a:buNone/>
            </a:pPr>
            <a:r>
              <a:rPr lang="en-US" sz="1100" b="1" dirty="0">
                <a:solidFill>
                  <a:srgbClr val="1B5E20"/>
                </a:solidFill>
                <a:latin typeface="Arial" pitchFamily="34" charset="0"/>
                <a:ea typeface="Arial" pitchFamily="34" charset="-122"/>
                <a:cs typeface="Arial" pitchFamily="34" charset="-120"/>
              </a:rPr>
              <a:t>Language Barriers</a:t>
            </a:r>
            <a:endParaRPr lang="en-US" sz="1100" dirty="0"/>
          </a:p>
        </p:txBody>
      </p:sp>
      <p:sp>
        <p:nvSpPr>
          <p:cNvPr id="18" name="Text 16"/>
          <p:cNvSpPr/>
          <p:nvPr/>
        </p:nvSpPr>
        <p:spPr>
          <a:xfrm>
            <a:off x="3877056" y="3127248"/>
            <a:ext cx="1426464" cy="1371600"/>
          </a:xfrm>
          <a:prstGeom prst="rect">
            <a:avLst/>
          </a:prstGeom>
          <a:noFill/>
          <a:ln/>
        </p:spPr>
        <p:txBody>
          <a:bodyPr wrap="square" rtlCol="0" anchor="t"/>
          <a:lstStyle/>
          <a:p>
            <a:pPr marL="0" indent="0" algn="ctr">
              <a:buNone/>
            </a:pPr>
            <a:r>
              <a:rPr lang="en-US" sz="950" dirty="0">
                <a:solidFill>
                  <a:srgbClr val="263238"/>
                </a:solidFill>
                <a:latin typeface="Calibri" pitchFamily="34" charset="0"/>
                <a:ea typeface="Calibri" pitchFamily="34" charset="-122"/>
                <a:cs typeface="Calibri" pitchFamily="34" charset="-120"/>
              </a:rPr>
              <a:t>Guidance exists only in dominant languages, excluding millions of users.</a:t>
            </a:r>
            <a:endParaRPr lang="en-US" sz="950" dirty="0"/>
          </a:p>
        </p:txBody>
      </p:sp>
      <p:sp>
        <p:nvSpPr>
          <p:cNvPr id="19" name="Shape 17"/>
          <p:cNvSpPr/>
          <p:nvPr/>
        </p:nvSpPr>
        <p:spPr>
          <a:xfrm>
            <a:off x="5522976" y="2011680"/>
            <a:ext cx="1572768" cy="2606040"/>
          </a:xfrm>
          <a:prstGeom prst="roundRect">
            <a:avLst>
              <a:gd name="adj" fmla="val 6977"/>
            </a:avLst>
          </a:prstGeom>
          <a:solidFill>
            <a:srgbClr val="F1F8E9"/>
          </a:solidFill>
          <a:ln w="12700">
            <a:solidFill>
              <a:srgbClr val="4CAF50">
                <a:alpha val="50000"/>
              </a:srgbClr>
            </a:solidFill>
            <a:prstDash val="solid"/>
          </a:ln>
          <a:effectLst>
            <a:outerShdw blurRad="101600" dist="38100" dir="2700000" algn="bl" rotWithShape="0">
              <a:srgbClr val="000000">
                <a:alpha val="12000"/>
              </a:srgbClr>
            </a:outerShdw>
          </a:effectLst>
        </p:spPr>
      </p:sp>
      <p:sp>
        <p:nvSpPr>
          <p:cNvPr id="20" name="Text 18"/>
          <p:cNvSpPr/>
          <p:nvPr/>
        </p:nvSpPr>
        <p:spPr>
          <a:xfrm>
            <a:off x="5522976" y="2103120"/>
            <a:ext cx="1572768" cy="5943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1" name="Text 19"/>
          <p:cNvSpPr/>
          <p:nvPr/>
        </p:nvSpPr>
        <p:spPr>
          <a:xfrm>
            <a:off x="5522976" y="2697480"/>
            <a:ext cx="1572768" cy="411480"/>
          </a:xfrm>
          <a:prstGeom prst="rect">
            <a:avLst/>
          </a:prstGeom>
          <a:noFill/>
          <a:ln/>
        </p:spPr>
        <p:txBody>
          <a:bodyPr wrap="square" rtlCol="0" anchor="ctr"/>
          <a:lstStyle/>
          <a:p>
            <a:pPr marL="0" indent="0" algn="ctr">
              <a:buNone/>
            </a:pPr>
            <a:r>
              <a:rPr lang="en-US" sz="1100" b="1" dirty="0">
                <a:solidFill>
                  <a:srgbClr val="1B5E20"/>
                </a:solidFill>
                <a:latin typeface="Arial" pitchFamily="34" charset="0"/>
                <a:ea typeface="Arial" pitchFamily="34" charset="-122"/>
                <a:cs typeface="Arial" pitchFamily="34" charset="-120"/>
              </a:rPr>
              <a:t>Local Variation</a:t>
            </a:r>
            <a:endParaRPr lang="en-US" sz="1100" dirty="0"/>
          </a:p>
        </p:txBody>
      </p:sp>
      <p:sp>
        <p:nvSpPr>
          <p:cNvPr id="22" name="Text 20"/>
          <p:cNvSpPr/>
          <p:nvPr/>
        </p:nvSpPr>
        <p:spPr>
          <a:xfrm>
            <a:off x="5596128" y="3127248"/>
            <a:ext cx="1426464" cy="1371600"/>
          </a:xfrm>
          <a:prstGeom prst="rect">
            <a:avLst/>
          </a:prstGeom>
          <a:noFill/>
          <a:ln/>
        </p:spPr>
        <p:txBody>
          <a:bodyPr wrap="square" rtlCol="0" anchor="t"/>
          <a:lstStyle/>
          <a:p>
            <a:pPr marL="0" indent="0" algn="ctr">
              <a:buNone/>
            </a:pPr>
            <a:r>
              <a:rPr lang="en-US" sz="950" dirty="0">
                <a:solidFill>
                  <a:srgbClr val="263238"/>
                </a:solidFill>
                <a:latin typeface="Calibri" pitchFamily="34" charset="0"/>
                <a:ea typeface="Calibri" pitchFamily="34" charset="-122"/>
                <a:cs typeface="Calibri" pitchFamily="34" charset="-120"/>
              </a:rPr>
              <a:t>Disposal rules differ by city and municipality — no single guide fits all.</a:t>
            </a:r>
            <a:endParaRPr lang="en-US" sz="950" dirty="0"/>
          </a:p>
        </p:txBody>
      </p:sp>
      <p:sp>
        <p:nvSpPr>
          <p:cNvPr id="23" name="Shape 21"/>
          <p:cNvSpPr/>
          <p:nvPr/>
        </p:nvSpPr>
        <p:spPr>
          <a:xfrm>
            <a:off x="7242048" y="2011680"/>
            <a:ext cx="1572768" cy="2606040"/>
          </a:xfrm>
          <a:prstGeom prst="roundRect">
            <a:avLst>
              <a:gd name="adj" fmla="val 6977"/>
            </a:avLst>
          </a:prstGeom>
          <a:solidFill>
            <a:srgbClr val="F1F8E9"/>
          </a:solidFill>
          <a:ln w="12700">
            <a:solidFill>
              <a:srgbClr val="4CAF50">
                <a:alpha val="50000"/>
              </a:srgbClr>
            </a:solidFill>
            <a:prstDash val="solid"/>
          </a:ln>
          <a:effectLst>
            <a:outerShdw blurRad="101600" dist="38100" dir="2700000" algn="bl" rotWithShape="0">
              <a:srgbClr val="000000">
                <a:alpha val="12000"/>
              </a:srgbClr>
            </a:outerShdw>
          </a:effectLst>
        </p:spPr>
      </p:sp>
      <p:sp>
        <p:nvSpPr>
          <p:cNvPr id="24" name="Text 22"/>
          <p:cNvSpPr/>
          <p:nvPr/>
        </p:nvSpPr>
        <p:spPr>
          <a:xfrm>
            <a:off x="7242048" y="2103120"/>
            <a:ext cx="1572768" cy="5943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5" name="Text 23"/>
          <p:cNvSpPr/>
          <p:nvPr/>
        </p:nvSpPr>
        <p:spPr>
          <a:xfrm>
            <a:off x="7242048" y="2697480"/>
            <a:ext cx="1572768" cy="411480"/>
          </a:xfrm>
          <a:prstGeom prst="rect">
            <a:avLst/>
          </a:prstGeom>
          <a:noFill/>
          <a:ln/>
        </p:spPr>
        <p:txBody>
          <a:bodyPr wrap="square" rtlCol="0" anchor="ctr"/>
          <a:lstStyle/>
          <a:p>
            <a:pPr marL="0" indent="0" algn="ctr">
              <a:buNone/>
            </a:pPr>
            <a:r>
              <a:rPr lang="en-US" sz="1100" b="1" dirty="0">
                <a:solidFill>
                  <a:srgbClr val="1B5E20"/>
                </a:solidFill>
                <a:latin typeface="Arial" pitchFamily="34" charset="0"/>
                <a:ea typeface="Arial" pitchFamily="34" charset="-122"/>
                <a:cs typeface="Arial" pitchFamily="34" charset="-120"/>
              </a:rPr>
              <a:t>Low Recycling Rates</a:t>
            </a:r>
            <a:endParaRPr lang="en-US" sz="1100" dirty="0"/>
          </a:p>
        </p:txBody>
      </p:sp>
      <p:sp>
        <p:nvSpPr>
          <p:cNvPr id="26" name="Text 24"/>
          <p:cNvSpPr/>
          <p:nvPr/>
        </p:nvSpPr>
        <p:spPr>
          <a:xfrm>
            <a:off x="7315200" y="3127248"/>
            <a:ext cx="1426464" cy="1371600"/>
          </a:xfrm>
          <a:prstGeom prst="rect">
            <a:avLst/>
          </a:prstGeom>
          <a:noFill/>
          <a:ln/>
        </p:spPr>
        <p:txBody>
          <a:bodyPr wrap="square" rtlCol="0" anchor="t"/>
          <a:lstStyle/>
          <a:p>
            <a:pPr marL="0" indent="0" algn="ctr">
              <a:buNone/>
            </a:pPr>
            <a:r>
              <a:rPr lang="en-US" sz="950" dirty="0">
                <a:solidFill>
                  <a:srgbClr val="263238"/>
                </a:solidFill>
                <a:latin typeface="Calibri" pitchFamily="34" charset="0"/>
                <a:ea typeface="Calibri" pitchFamily="34" charset="-122"/>
                <a:cs typeface="Calibri" pitchFamily="34" charset="-120"/>
              </a:rPr>
              <a:t>India recycles less than 20% of waste due to poor source segregation.</a:t>
            </a:r>
            <a:endParaRPr lang="en-US" sz="950" dirty="0"/>
          </a:p>
        </p:txBody>
      </p:sp>
      <p:sp>
        <p:nvSpPr>
          <p:cNvPr id="27" name="Shape 25"/>
          <p:cNvSpPr/>
          <p:nvPr/>
        </p:nvSpPr>
        <p:spPr>
          <a:xfrm>
            <a:off x="365760" y="4709160"/>
            <a:ext cx="8412480" cy="347472"/>
          </a:xfrm>
          <a:prstGeom prst="roundRect">
            <a:avLst>
              <a:gd name="adj" fmla="val 21053"/>
            </a:avLst>
          </a:prstGeom>
          <a:solidFill>
            <a:srgbClr val="1B5E20"/>
          </a:solidFill>
          <a:ln w="12700">
            <a:solidFill>
              <a:srgbClr val="1B5E20"/>
            </a:solidFill>
            <a:prstDash val="solid"/>
          </a:ln>
        </p:spPr>
      </p:sp>
      <p:sp>
        <p:nvSpPr>
          <p:cNvPr id="28" name="Text 26"/>
          <p:cNvSpPr/>
          <p:nvPr/>
        </p:nvSpPr>
        <p:spPr>
          <a:xfrm>
            <a:off x="365760" y="4709160"/>
            <a:ext cx="8412480" cy="347472"/>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EcoSort AI Agent provides instant, personalized, multilingual waste guidance — where and when users need it.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63238"/>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388E3C"/>
          </a:solidFill>
          <a:ln w="12700">
            <a:solidFill>
              <a:srgbClr val="388E3C"/>
            </a:solidFill>
            <a:prstDash val="solid"/>
          </a:ln>
        </p:spPr>
      </p:sp>
      <p:sp>
        <p:nvSpPr>
          <p:cNvPr id="3" name="Text 1"/>
          <p:cNvSpPr/>
          <p:nvPr/>
        </p:nvSpPr>
        <p:spPr>
          <a:xfrm>
            <a:off x="365760" y="0"/>
            <a:ext cx="8412480" cy="822960"/>
          </a:xfrm>
          <a:prstGeom prst="rect">
            <a:avLst/>
          </a:prstGeom>
          <a:noFill/>
          <a:ln/>
        </p:spPr>
        <p:txBody>
          <a:bodyPr wrap="square" rtlCol="0" anchor="ctr"/>
          <a:lstStyle/>
          <a:p>
            <a:pPr marL="0" indent="0">
              <a:buNone/>
            </a:pPr>
            <a:r>
              <a:rPr lang="en-US" sz="2800" b="1" dirty="0">
                <a:solidFill>
                  <a:srgbClr val="FFFFFF"/>
                </a:solidFill>
                <a:latin typeface="Arial" pitchFamily="34" charset="0"/>
                <a:ea typeface="Arial" pitchFamily="34" charset="-122"/>
                <a:cs typeface="Arial" pitchFamily="34" charset="-120"/>
              </a:rPr>
              <a:t>SDG 12 Alignment</a:t>
            </a:r>
            <a:endParaRPr lang="en-US" sz="2800" dirty="0"/>
          </a:p>
        </p:txBody>
      </p:sp>
      <p:sp>
        <p:nvSpPr>
          <p:cNvPr id="4" name="Text 2"/>
          <p:cNvSpPr/>
          <p:nvPr/>
        </p:nvSpPr>
        <p:spPr>
          <a:xfrm>
            <a:off x="7772400" y="91440"/>
            <a:ext cx="1188720" cy="320040"/>
          </a:xfrm>
          <a:prstGeom prst="rect">
            <a:avLst/>
          </a:prstGeom>
          <a:noFill/>
          <a:ln/>
        </p:spPr>
        <p:txBody>
          <a:bodyPr wrap="square" rtlCol="0" anchor="ctr"/>
          <a:lstStyle/>
          <a:p>
            <a:pPr marL="0" indent="0" algn="r">
              <a:buNone/>
            </a:pPr>
            <a:r>
              <a:rPr lang="en-US" sz="900" dirty="0">
                <a:solidFill>
                  <a:srgbClr val="C8E6C9"/>
                </a:solidFill>
                <a:latin typeface="Calibri" pitchFamily="34" charset="0"/>
                <a:ea typeface="Calibri" pitchFamily="34" charset="-122"/>
                <a:cs typeface="Calibri" pitchFamily="34" charset="-120"/>
              </a:rPr>
              <a:t>SLIDE 3 of 12</a:t>
            </a:r>
            <a:endParaRPr lang="en-US" sz="900" dirty="0"/>
          </a:p>
        </p:txBody>
      </p:sp>
      <p:sp>
        <p:nvSpPr>
          <p:cNvPr id="5" name="Shape 3"/>
          <p:cNvSpPr/>
          <p:nvPr/>
        </p:nvSpPr>
        <p:spPr>
          <a:xfrm>
            <a:off x="365760" y="960120"/>
            <a:ext cx="2560320" cy="4023360"/>
          </a:xfrm>
          <a:prstGeom prst="roundRect">
            <a:avLst>
              <a:gd name="adj" fmla="val 5357"/>
            </a:avLst>
          </a:prstGeom>
          <a:solidFill>
            <a:srgbClr val="FF8F00">
              <a:alpha val="90000"/>
            </a:srgbClr>
          </a:solidFill>
          <a:ln w="12700">
            <a:solidFill>
              <a:srgbClr val="FF8F00"/>
            </a:solidFill>
            <a:prstDash val="solid"/>
          </a:ln>
          <a:effectLst>
            <a:outerShdw blurRad="101600" dist="38100" dir="2700000" algn="bl" rotWithShape="0">
              <a:srgbClr val="000000">
                <a:alpha val="12000"/>
              </a:srgbClr>
            </a:outerShdw>
          </a:effectLst>
        </p:spPr>
      </p:sp>
      <p:sp>
        <p:nvSpPr>
          <p:cNvPr id="6" name="Text 4"/>
          <p:cNvSpPr/>
          <p:nvPr/>
        </p:nvSpPr>
        <p:spPr>
          <a:xfrm>
            <a:off x="365760" y="1143000"/>
            <a:ext cx="2560320" cy="502920"/>
          </a:xfrm>
          <a:prstGeom prst="rect">
            <a:avLst/>
          </a:prstGeom>
          <a:noFill/>
          <a:ln/>
        </p:spPr>
        <p:txBody>
          <a:bodyPr wrap="square"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SDG</a:t>
            </a:r>
            <a:endParaRPr lang="en-US" sz="2400" dirty="0"/>
          </a:p>
        </p:txBody>
      </p:sp>
      <p:sp>
        <p:nvSpPr>
          <p:cNvPr id="7" name="Text 5"/>
          <p:cNvSpPr/>
          <p:nvPr/>
        </p:nvSpPr>
        <p:spPr>
          <a:xfrm>
            <a:off x="365760" y="1600200"/>
            <a:ext cx="2560320" cy="1371600"/>
          </a:xfrm>
          <a:prstGeom prst="rect">
            <a:avLst/>
          </a:prstGeom>
          <a:noFill/>
          <a:ln/>
        </p:spPr>
        <p:txBody>
          <a:bodyPr wrap="square" rtlCol="0" anchor="ctr"/>
          <a:lstStyle/>
          <a:p>
            <a:pPr marL="0" indent="0" algn="ctr">
              <a:buNone/>
            </a:pPr>
            <a:r>
              <a:rPr lang="en-US" sz="9600" b="1" dirty="0">
                <a:solidFill>
                  <a:srgbClr val="FFFFFF"/>
                </a:solidFill>
                <a:latin typeface="Arial" pitchFamily="34" charset="0"/>
                <a:ea typeface="Arial" pitchFamily="34" charset="-122"/>
                <a:cs typeface="Arial" pitchFamily="34" charset="-120"/>
              </a:rPr>
              <a:t>12</a:t>
            </a:r>
            <a:endParaRPr lang="en-US" sz="9600" dirty="0"/>
          </a:p>
        </p:txBody>
      </p:sp>
      <p:sp>
        <p:nvSpPr>
          <p:cNvPr id="8" name="Text 6"/>
          <p:cNvSpPr/>
          <p:nvPr/>
        </p:nvSpPr>
        <p:spPr>
          <a:xfrm>
            <a:off x="365760" y="2926080"/>
            <a:ext cx="2560320" cy="9144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Responsible</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Consumption &amp;</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Production</a:t>
            </a:r>
            <a:endParaRPr lang="en-US" sz="1200" dirty="0"/>
          </a:p>
        </p:txBody>
      </p:sp>
      <p:sp>
        <p:nvSpPr>
          <p:cNvPr id="9" name="Text 7"/>
          <p:cNvSpPr/>
          <p:nvPr/>
        </p:nvSpPr>
        <p:spPr>
          <a:xfrm>
            <a:off x="365760" y="3794760"/>
            <a:ext cx="2560320" cy="548640"/>
          </a:xfrm>
          <a:prstGeom prst="rect">
            <a:avLst/>
          </a:prstGeom>
          <a:noFill/>
          <a:ln/>
        </p:spPr>
        <p:txBody>
          <a:bodyPr wrap="square" rtlCol="0" anchor="ctr"/>
          <a:lstStyle/>
          <a:p>
            <a:pPr marL="0" indent="0" algn="ctr">
              <a:buNone/>
            </a:pPr>
            <a:r>
              <a:rPr lang="en-US" sz="1000" i="1" dirty="0">
                <a:solidFill>
                  <a:srgbClr val="FFECB3"/>
                </a:solidFill>
                <a:latin typeface="Calibri" pitchFamily="34" charset="0"/>
                <a:ea typeface="Calibri" pitchFamily="34" charset="-122"/>
                <a:cs typeface="Calibri" pitchFamily="34" charset="-120"/>
              </a:rPr>
              <a:t>United Nations</a:t>
            </a:r>
            <a:endParaRPr lang="en-US" sz="1000" dirty="0"/>
          </a:p>
          <a:p>
            <a:pPr marL="0" indent="0" algn="ctr">
              <a:buNone/>
            </a:pPr>
            <a:r>
              <a:rPr lang="en-US" sz="1000" i="1" dirty="0">
                <a:solidFill>
                  <a:srgbClr val="FFECB3"/>
                </a:solidFill>
                <a:latin typeface="Calibri" pitchFamily="34" charset="0"/>
                <a:ea typeface="Calibri" pitchFamily="34" charset="-122"/>
                <a:cs typeface="Calibri" pitchFamily="34" charset="-120"/>
              </a:rPr>
              <a:t>Sustainable Development Goal</a:t>
            </a:r>
            <a:endParaRPr lang="en-US" sz="1000" dirty="0"/>
          </a:p>
        </p:txBody>
      </p:sp>
      <p:sp>
        <p:nvSpPr>
          <p:cNvPr id="10" name="Shape 8"/>
          <p:cNvSpPr/>
          <p:nvPr/>
        </p:nvSpPr>
        <p:spPr>
          <a:xfrm>
            <a:off x="3108960" y="960120"/>
            <a:ext cx="5669280" cy="713232"/>
          </a:xfrm>
          <a:prstGeom prst="roundRect">
            <a:avLst>
              <a:gd name="adj" fmla="val 12821"/>
            </a:avLst>
          </a:prstGeom>
          <a:solidFill>
            <a:srgbClr val="263238"/>
          </a:solidFill>
          <a:ln w="12700">
            <a:solidFill>
              <a:srgbClr val="4CAF50">
                <a:alpha val="40000"/>
              </a:srgbClr>
            </a:solidFill>
            <a:prstDash val="solid"/>
          </a:ln>
          <a:effectLst>
            <a:outerShdw blurRad="101600" dist="38100" dir="2700000" algn="bl" rotWithShape="0">
              <a:srgbClr val="000000">
                <a:alpha val="12000"/>
              </a:srgbClr>
            </a:outerShdw>
          </a:effectLst>
        </p:spPr>
      </p:sp>
      <p:sp>
        <p:nvSpPr>
          <p:cNvPr id="11" name="Shape 9"/>
          <p:cNvSpPr/>
          <p:nvPr/>
        </p:nvSpPr>
        <p:spPr>
          <a:xfrm>
            <a:off x="3108960" y="960120"/>
            <a:ext cx="777240" cy="713232"/>
          </a:xfrm>
          <a:prstGeom prst="roundRect">
            <a:avLst>
              <a:gd name="adj" fmla="val 12821"/>
            </a:avLst>
          </a:prstGeom>
          <a:solidFill>
            <a:srgbClr val="4CAF50">
              <a:alpha val="90000"/>
            </a:srgbClr>
          </a:solidFill>
          <a:ln w="12700">
            <a:solidFill>
              <a:srgbClr val="4CAF50">
                <a:alpha val="90000"/>
              </a:srgbClr>
            </a:solidFill>
            <a:prstDash val="solid"/>
          </a:ln>
        </p:spPr>
      </p:sp>
      <p:sp>
        <p:nvSpPr>
          <p:cNvPr id="12" name="Text 10"/>
          <p:cNvSpPr/>
          <p:nvPr/>
        </p:nvSpPr>
        <p:spPr>
          <a:xfrm>
            <a:off x="3108960" y="960120"/>
            <a:ext cx="777240" cy="713232"/>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12.2</a:t>
            </a:r>
            <a:endParaRPr lang="en-US" sz="1400" dirty="0"/>
          </a:p>
        </p:txBody>
      </p:sp>
      <p:sp>
        <p:nvSpPr>
          <p:cNvPr id="13" name="Text 11"/>
          <p:cNvSpPr/>
          <p:nvPr/>
        </p:nvSpPr>
        <p:spPr>
          <a:xfrm>
            <a:off x="3977640" y="978408"/>
            <a:ext cx="4709160" cy="347472"/>
          </a:xfrm>
          <a:prstGeom prst="rect">
            <a:avLst/>
          </a:prstGeom>
          <a:noFill/>
          <a:ln/>
        </p:spPr>
        <p:txBody>
          <a:bodyPr wrap="square" rtlCol="0" anchor="b"/>
          <a:lstStyle/>
          <a:p>
            <a:pPr marL="0" indent="0">
              <a:buNone/>
            </a:pPr>
            <a:r>
              <a:rPr lang="en-US" sz="1100" b="1" dirty="0">
                <a:solidFill>
                  <a:srgbClr val="C8E6C9"/>
                </a:solidFill>
                <a:latin typeface="Calibri" pitchFamily="34" charset="0"/>
                <a:ea typeface="Calibri" pitchFamily="34" charset="-122"/>
                <a:cs typeface="Calibri" pitchFamily="34" charset="-120"/>
              </a:rPr>
              <a:t>Sustainable management of natural resources</a:t>
            </a:r>
            <a:endParaRPr lang="en-US" sz="1100" dirty="0"/>
          </a:p>
        </p:txBody>
      </p:sp>
      <p:sp>
        <p:nvSpPr>
          <p:cNvPr id="14" name="Text 12"/>
          <p:cNvSpPr/>
          <p:nvPr/>
        </p:nvSpPr>
        <p:spPr>
          <a:xfrm>
            <a:off x="3977640" y="1307592"/>
            <a:ext cx="4709160" cy="320040"/>
          </a:xfrm>
          <a:prstGeom prst="rect">
            <a:avLst/>
          </a:prstGeom>
          <a:noFill/>
          <a:ln/>
        </p:spPr>
        <p:txBody>
          <a:bodyPr wrap="square" rtlCol="0" anchor="t"/>
          <a:lstStyle/>
          <a:p>
            <a:pPr marL="0" indent="0">
              <a:buNone/>
            </a:pPr>
            <a:r>
              <a:rPr lang="en-US" sz="1000" i="1" dirty="0">
                <a:solidFill>
                  <a:srgbClr val="00BCD4"/>
                </a:solidFill>
                <a:latin typeface="Calibri" pitchFamily="34" charset="0"/>
                <a:ea typeface="Calibri" pitchFamily="34" charset="-122"/>
                <a:cs typeface="Calibri" pitchFamily="34" charset="-120"/>
              </a:rPr>
              <a:t>→ Promotes recycling, reducing raw material extraction</a:t>
            </a:r>
            <a:endParaRPr lang="en-US" sz="1000" dirty="0"/>
          </a:p>
        </p:txBody>
      </p:sp>
      <p:sp>
        <p:nvSpPr>
          <p:cNvPr id="15" name="Shape 13"/>
          <p:cNvSpPr/>
          <p:nvPr/>
        </p:nvSpPr>
        <p:spPr>
          <a:xfrm>
            <a:off x="3108960" y="1764792"/>
            <a:ext cx="5669280" cy="713232"/>
          </a:xfrm>
          <a:prstGeom prst="roundRect">
            <a:avLst>
              <a:gd name="adj" fmla="val 12821"/>
            </a:avLst>
          </a:prstGeom>
          <a:solidFill>
            <a:srgbClr val="263238"/>
          </a:solidFill>
          <a:ln w="12700">
            <a:solidFill>
              <a:srgbClr val="4CAF50">
                <a:alpha val="40000"/>
              </a:srgbClr>
            </a:solidFill>
            <a:prstDash val="solid"/>
          </a:ln>
          <a:effectLst>
            <a:outerShdw blurRad="101600" dist="38100" dir="2700000" algn="bl" rotWithShape="0">
              <a:srgbClr val="000000">
                <a:alpha val="12000"/>
              </a:srgbClr>
            </a:outerShdw>
          </a:effectLst>
        </p:spPr>
      </p:sp>
      <p:sp>
        <p:nvSpPr>
          <p:cNvPr id="16" name="Shape 14"/>
          <p:cNvSpPr/>
          <p:nvPr/>
        </p:nvSpPr>
        <p:spPr>
          <a:xfrm>
            <a:off x="3108960" y="1764792"/>
            <a:ext cx="777240" cy="713232"/>
          </a:xfrm>
          <a:prstGeom prst="roundRect">
            <a:avLst>
              <a:gd name="adj" fmla="val 12821"/>
            </a:avLst>
          </a:prstGeom>
          <a:solidFill>
            <a:srgbClr val="4CAF50">
              <a:alpha val="90000"/>
            </a:srgbClr>
          </a:solidFill>
          <a:ln w="12700">
            <a:solidFill>
              <a:srgbClr val="4CAF50">
                <a:alpha val="90000"/>
              </a:srgbClr>
            </a:solidFill>
            <a:prstDash val="solid"/>
          </a:ln>
        </p:spPr>
      </p:sp>
      <p:sp>
        <p:nvSpPr>
          <p:cNvPr id="17" name="Text 15"/>
          <p:cNvSpPr/>
          <p:nvPr/>
        </p:nvSpPr>
        <p:spPr>
          <a:xfrm>
            <a:off x="3108960" y="1764792"/>
            <a:ext cx="777240" cy="713232"/>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12.3</a:t>
            </a:r>
            <a:endParaRPr lang="en-US" sz="1400" dirty="0"/>
          </a:p>
        </p:txBody>
      </p:sp>
      <p:sp>
        <p:nvSpPr>
          <p:cNvPr id="18" name="Text 16"/>
          <p:cNvSpPr/>
          <p:nvPr/>
        </p:nvSpPr>
        <p:spPr>
          <a:xfrm>
            <a:off x="3977640" y="1783080"/>
            <a:ext cx="4709160" cy="347472"/>
          </a:xfrm>
          <a:prstGeom prst="rect">
            <a:avLst/>
          </a:prstGeom>
          <a:noFill/>
          <a:ln/>
        </p:spPr>
        <p:txBody>
          <a:bodyPr wrap="square" rtlCol="0" anchor="b"/>
          <a:lstStyle/>
          <a:p>
            <a:pPr marL="0" indent="0">
              <a:buNone/>
            </a:pPr>
            <a:r>
              <a:rPr lang="en-US" sz="1100" b="1" dirty="0">
                <a:solidFill>
                  <a:srgbClr val="C8E6C9"/>
                </a:solidFill>
                <a:latin typeface="Calibri" pitchFamily="34" charset="0"/>
                <a:ea typeface="Calibri" pitchFamily="34" charset="-122"/>
                <a:cs typeface="Calibri" pitchFamily="34" charset="-120"/>
              </a:rPr>
              <a:t>Reduce food waste across supply chains</a:t>
            </a:r>
            <a:endParaRPr lang="en-US" sz="1100" dirty="0"/>
          </a:p>
        </p:txBody>
      </p:sp>
      <p:sp>
        <p:nvSpPr>
          <p:cNvPr id="19" name="Text 17"/>
          <p:cNvSpPr/>
          <p:nvPr/>
        </p:nvSpPr>
        <p:spPr>
          <a:xfrm>
            <a:off x="3977640" y="2112264"/>
            <a:ext cx="4709160" cy="320040"/>
          </a:xfrm>
          <a:prstGeom prst="rect">
            <a:avLst/>
          </a:prstGeom>
          <a:noFill/>
          <a:ln/>
        </p:spPr>
        <p:txBody>
          <a:bodyPr wrap="square" rtlCol="0" anchor="t"/>
          <a:lstStyle/>
          <a:p>
            <a:pPr marL="0" indent="0">
              <a:buNone/>
            </a:pPr>
            <a:r>
              <a:rPr lang="en-US" sz="1000" i="1" dirty="0">
                <a:solidFill>
                  <a:srgbClr val="00BCD4"/>
                </a:solidFill>
                <a:latin typeface="Calibri" pitchFamily="34" charset="0"/>
                <a:ea typeface="Calibri" pitchFamily="34" charset="-122"/>
                <a:cs typeface="Calibri" pitchFamily="34" charset="-120"/>
              </a:rPr>
              <a:t>→ Guides organic waste composting and food disposal</a:t>
            </a:r>
            <a:endParaRPr lang="en-US" sz="1000" dirty="0"/>
          </a:p>
        </p:txBody>
      </p:sp>
      <p:sp>
        <p:nvSpPr>
          <p:cNvPr id="20" name="Shape 18"/>
          <p:cNvSpPr/>
          <p:nvPr/>
        </p:nvSpPr>
        <p:spPr>
          <a:xfrm>
            <a:off x="3108960" y="2569464"/>
            <a:ext cx="5669280" cy="713232"/>
          </a:xfrm>
          <a:prstGeom prst="roundRect">
            <a:avLst>
              <a:gd name="adj" fmla="val 12821"/>
            </a:avLst>
          </a:prstGeom>
          <a:solidFill>
            <a:srgbClr val="263238"/>
          </a:solidFill>
          <a:ln w="12700">
            <a:solidFill>
              <a:srgbClr val="4CAF50">
                <a:alpha val="40000"/>
              </a:srgbClr>
            </a:solidFill>
            <a:prstDash val="solid"/>
          </a:ln>
          <a:effectLst>
            <a:outerShdw blurRad="101600" dist="38100" dir="2700000" algn="bl" rotWithShape="0">
              <a:srgbClr val="000000">
                <a:alpha val="12000"/>
              </a:srgbClr>
            </a:outerShdw>
          </a:effectLst>
        </p:spPr>
      </p:sp>
      <p:sp>
        <p:nvSpPr>
          <p:cNvPr id="21" name="Shape 19"/>
          <p:cNvSpPr/>
          <p:nvPr/>
        </p:nvSpPr>
        <p:spPr>
          <a:xfrm>
            <a:off x="3108960" y="2569464"/>
            <a:ext cx="777240" cy="713232"/>
          </a:xfrm>
          <a:prstGeom prst="roundRect">
            <a:avLst>
              <a:gd name="adj" fmla="val 12821"/>
            </a:avLst>
          </a:prstGeom>
          <a:solidFill>
            <a:srgbClr val="4CAF50">
              <a:alpha val="90000"/>
            </a:srgbClr>
          </a:solidFill>
          <a:ln w="12700">
            <a:solidFill>
              <a:srgbClr val="4CAF50">
                <a:alpha val="90000"/>
              </a:srgbClr>
            </a:solidFill>
            <a:prstDash val="solid"/>
          </a:ln>
        </p:spPr>
      </p:sp>
      <p:sp>
        <p:nvSpPr>
          <p:cNvPr id="22" name="Text 20"/>
          <p:cNvSpPr/>
          <p:nvPr/>
        </p:nvSpPr>
        <p:spPr>
          <a:xfrm>
            <a:off x="3108960" y="2569464"/>
            <a:ext cx="777240" cy="713232"/>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12.4</a:t>
            </a:r>
            <a:endParaRPr lang="en-US" sz="1400" dirty="0"/>
          </a:p>
        </p:txBody>
      </p:sp>
      <p:sp>
        <p:nvSpPr>
          <p:cNvPr id="23" name="Text 21"/>
          <p:cNvSpPr/>
          <p:nvPr/>
        </p:nvSpPr>
        <p:spPr>
          <a:xfrm>
            <a:off x="3977640" y="2587752"/>
            <a:ext cx="4709160" cy="347472"/>
          </a:xfrm>
          <a:prstGeom prst="rect">
            <a:avLst/>
          </a:prstGeom>
          <a:noFill/>
          <a:ln/>
        </p:spPr>
        <p:txBody>
          <a:bodyPr wrap="square" rtlCol="0" anchor="b"/>
          <a:lstStyle/>
          <a:p>
            <a:pPr marL="0" indent="0">
              <a:buNone/>
            </a:pPr>
            <a:r>
              <a:rPr lang="en-US" sz="1100" b="1" dirty="0">
                <a:solidFill>
                  <a:srgbClr val="C8E6C9"/>
                </a:solidFill>
                <a:latin typeface="Calibri" pitchFamily="34" charset="0"/>
                <a:ea typeface="Calibri" pitchFamily="34" charset="-122"/>
                <a:cs typeface="Calibri" pitchFamily="34" charset="-120"/>
              </a:rPr>
              <a:t>Responsible chemical and hazardous waste management</a:t>
            </a:r>
            <a:endParaRPr lang="en-US" sz="1100" dirty="0"/>
          </a:p>
        </p:txBody>
      </p:sp>
      <p:sp>
        <p:nvSpPr>
          <p:cNvPr id="24" name="Text 22"/>
          <p:cNvSpPr/>
          <p:nvPr/>
        </p:nvSpPr>
        <p:spPr>
          <a:xfrm>
            <a:off x="3977640" y="2916936"/>
            <a:ext cx="4709160" cy="320040"/>
          </a:xfrm>
          <a:prstGeom prst="rect">
            <a:avLst/>
          </a:prstGeom>
          <a:noFill/>
          <a:ln/>
        </p:spPr>
        <p:txBody>
          <a:bodyPr wrap="square" rtlCol="0" anchor="t"/>
          <a:lstStyle/>
          <a:p>
            <a:pPr marL="0" indent="0">
              <a:buNone/>
            </a:pPr>
            <a:r>
              <a:rPr lang="en-US" sz="1000" i="1" dirty="0">
                <a:solidFill>
                  <a:srgbClr val="00BCD4"/>
                </a:solidFill>
                <a:latin typeface="Calibri" pitchFamily="34" charset="0"/>
                <a:ea typeface="Calibri" pitchFamily="34" charset="-122"/>
                <a:cs typeface="Calibri" pitchFamily="34" charset="-120"/>
              </a:rPr>
              <a:t>→ Specific guidance on safe disposal of toxic materials</a:t>
            </a:r>
            <a:endParaRPr lang="en-US" sz="1000" dirty="0"/>
          </a:p>
        </p:txBody>
      </p:sp>
      <p:sp>
        <p:nvSpPr>
          <p:cNvPr id="25" name="Shape 23"/>
          <p:cNvSpPr/>
          <p:nvPr/>
        </p:nvSpPr>
        <p:spPr>
          <a:xfrm>
            <a:off x="3108960" y="3374136"/>
            <a:ext cx="5669280" cy="713232"/>
          </a:xfrm>
          <a:prstGeom prst="roundRect">
            <a:avLst>
              <a:gd name="adj" fmla="val 12821"/>
            </a:avLst>
          </a:prstGeom>
          <a:solidFill>
            <a:srgbClr val="263238"/>
          </a:solidFill>
          <a:ln w="12700">
            <a:solidFill>
              <a:srgbClr val="4CAF50">
                <a:alpha val="40000"/>
              </a:srgbClr>
            </a:solidFill>
            <a:prstDash val="solid"/>
          </a:ln>
          <a:effectLst>
            <a:outerShdw blurRad="101600" dist="38100" dir="2700000" algn="bl" rotWithShape="0">
              <a:srgbClr val="000000">
                <a:alpha val="12000"/>
              </a:srgbClr>
            </a:outerShdw>
          </a:effectLst>
        </p:spPr>
      </p:sp>
      <p:sp>
        <p:nvSpPr>
          <p:cNvPr id="26" name="Shape 24"/>
          <p:cNvSpPr/>
          <p:nvPr/>
        </p:nvSpPr>
        <p:spPr>
          <a:xfrm>
            <a:off x="3108960" y="3374136"/>
            <a:ext cx="777240" cy="713232"/>
          </a:xfrm>
          <a:prstGeom prst="roundRect">
            <a:avLst>
              <a:gd name="adj" fmla="val 12821"/>
            </a:avLst>
          </a:prstGeom>
          <a:solidFill>
            <a:srgbClr val="4CAF50">
              <a:alpha val="90000"/>
            </a:srgbClr>
          </a:solidFill>
          <a:ln w="12700">
            <a:solidFill>
              <a:srgbClr val="4CAF50">
                <a:alpha val="90000"/>
              </a:srgbClr>
            </a:solidFill>
            <a:prstDash val="solid"/>
          </a:ln>
        </p:spPr>
      </p:sp>
      <p:sp>
        <p:nvSpPr>
          <p:cNvPr id="27" name="Text 25"/>
          <p:cNvSpPr/>
          <p:nvPr/>
        </p:nvSpPr>
        <p:spPr>
          <a:xfrm>
            <a:off x="3108960" y="3374136"/>
            <a:ext cx="777240" cy="713232"/>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12.5</a:t>
            </a:r>
            <a:endParaRPr lang="en-US" sz="1400" dirty="0"/>
          </a:p>
        </p:txBody>
      </p:sp>
      <p:sp>
        <p:nvSpPr>
          <p:cNvPr id="28" name="Text 26"/>
          <p:cNvSpPr/>
          <p:nvPr/>
        </p:nvSpPr>
        <p:spPr>
          <a:xfrm>
            <a:off x="3977640" y="3392424"/>
            <a:ext cx="4709160" cy="347472"/>
          </a:xfrm>
          <a:prstGeom prst="rect">
            <a:avLst/>
          </a:prstGeom>
          <a:noFill/>
          <a:ln/>
        </p:spPr>
        <p:txBody>
          <a:bodyPr wrap="square" rtlCol="0" anchor="b"/>
          <a:lstStyle/>
          <a:p>
            <a:pPr marL="0" indent="0">
              <a:buNone/>
            </a:pPr>
            <a:r>
              <a:rPr lang="en-US" sz="1100" b="1" dirty="0">
                <a:solidFill>
                  <a:srgbClr val="C8E6C9"/>
                </a:solidFill>
                <a:latin typeface="Calibri" pitchFamily="34" charset="0"/>
                <a:ea typeface="Calibri" pitchFamily="34" charset="-122"/>
                <a:cs typeface="Calibri" pitchFamily="34" charset="-120"/>
              </a:rPr>
              <a:t>Substantially reduce waste generation</a:t>
            </a:r>
            <a:endParaRPr lang="en-US" sz="1100" dirty="0"/>
          </a:p>
        </p:txBody>
      </p:sp>
      <p:sp>
        <p:nvSpPr>
          <p:cNvPr id="29" name="Text 27"/>
          <p:cNvSpPr/>
          <p:nvPr/>
        </p:nvSpPr>
        <p:spPr>
          <a:xfrm>
            <a:off x="3977640" y="3721608"/>
            <a:ext cx="4709160" cy="320040"/>
          </a:xfrm>
          <a:prstGeom prst="rect">
            <a:avLst/>
          </a:prstGeom>
          <a:noFill/>
          <a:ln/>
        </p:spPr>
        <p:txBody>
          <a:bodyPr wrap="square" rtlCol="0" anchor="t"/>
          <a:lstStyle/>
          <a:p>
            <a:pPr marL="0" indent="0">
              <a:buNone/>
            </a:pPr>
            <a:r>
              <a:rPr lang="en-US" sz="1000" i="1" dirty="0">
                <a:solidFill>
                  <a:srgbClr val="00BCD4"/>
                </a:solidFill>
                <a:latin typeface="Calibri" pitchFamily="34" charset="0"/>
                <a:ea typeface="Calibri" pitchFamily="34" charset="-122"/>
                <a:cs typeface="Calibri" pitchFamily="34" charset="-120"/>
              </a:rPr>
              <a:t>→ Educates users on Reduce → Reuse → Recycle hierarchy</a:t>
            </a:r>
            <a:endParaRPr lang="en-US" sz="1000" dirty="0"/>
          </a:p>
        </p:txBody>
      </p:sp>
      <p:sp>
        <p:nvSpPr>
          <p:cNvPr id="30" name="Shape 28"/>
          <p:cNvSpPr/>
          <p:nvPr/>
        </p:nvSpPr>
        <p:spPr>
          <a:xfrm>
            <a:off x="3108960" y="4178808"/>
            <a:ext cx="5669280" cy="713232"/>
          </a:xfrm>
          <a:prstGeom prst="roundRect">
            <a:avLst>
              <a:gd name="adj" fmla="val 12821"/>
            </a:avLst>
          </a:prstGeom>
          <a:solidFill>
            <a:srgbClr val="263238"/>
          </a:solidFill>
          <a:ln w="12700">
            <a:solidFill>
              <a:srgbClr val="4CAF50">
                <a:alpha val="40000"/>
              </a:srgbClr>
            </a:solidFill>
            <a:prstDash val="solid"/>
          </a:ln>
          <a:effectLst>
            <a:outerShdw blurRad="101600" dist="38100" dir="2700000" algn="bl" rotWithShape="0">
              <a:srgbClr val="000000">
                <a:alpha val="12000"/>
              </a:srgbClr>
            </a:outerShdw>
          </a:effectLst>
        </p:spPr>
      </p:sp>
      <p:sp>
        <p:nvSpPr>
          <p:cNvPr id="31" name="Shape 29"/>
          <p:cNvSpPr/>
          <p:nvPr/>
        </p:nvSpPr>
        <p:spPr>
          <a:xfrm>
            <a:off x="3108960" y="4178808"/>
            <a:ext cx="777240" cy="713232"/>
          </a:xfrm>
          <a:prstGeom prst="roundRect">
            <a:avLst>
              <a:gd name="adj" fmla="val 12821"/>
            </a:avLst>
          </a:prstGeom>
          <a:solidFill>
            <a:srgbClr val="4CAF50">
              <a:alpha val="90000"/>
            </a:srgbClr>
          </a:solidFill>
          <a:ln w="12700">
            <a:solidFill>
              <a:srgbClr val="4CAF50">
                <a:alpha val="90000"/>
              </a:srgbClr>
            </a:solidFill>
            <a:prstDash val="solid"/>
          </a:ln>
        </p:spPr>
      </p:sp>
      <p:sp>
        <p:nvSpPr>
          <p:cNvPr id="32" name="Text 30"/>
          <p:cNvSpPr/>
          <p:nvPr/>
        </p:nvSpPr>
        <p:spPr>
          <a:xfrm>
            <a:off x="3108960" y="4178808"/>
            <a:ext cx="777240" cy="713232"/>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12.8</a:t>
            </a:r>
            <a:endParaRPr lang="en-US" sz="1400" dirty="0"/>
          </a:p>
        </p:txBody>
      </p:sp>
      <p:sp>
        <p:nvSpPr>
          <p:cNvPr id="33" name="Text 31"/>
          <p:cNvSpPr/>
          <p:nvPr/>
        </p:nvSpPr>
        <p:spPr>
          <a:xfrm>
            <a:off x="3977640" y="4197096"/>
            <a:ext cx="4709160" cy="347472"/>
          </a:xfrm>
          <a:prstGeom prst="rect">
            <a:avLst/>
          </a:prstGeom>
          <a:noFill/>
          <a:ln/>
        </p:spPr>
        <p:txBody>
          <a:bodyPr wrap="square" rtlCol="0" anchor="b"/>
          <a:lstStyle/>
          <a:p>
            <a:pPr marL="0" indent="0">
              <a:buNone/>
            </a:pPr>
            <a:r>
              <a:rPr lang="en-US" sz="1100" b="1" dirty="0">
                <a:solidFill>
                  <a:srgbClr val="C8E6C9"/>
                </a:solidFill>
                <a:latin typeface="Calibri" pitchFamily="34" charset="0"/>
                <a:ea typeface="Calibri" pitchFamily="34" charset="-122"/>
                <a:cs typeface="Calibri" pitchFamily="34" charset="-120"/>
              </a:rPr>
              <a:t>Universal awareness for sustainable lifestyles</a:t>
            </a:r>
            <a:endParaRPr lang="en-US" sz="1100" dirty="0"/>
          </a:p>
        </p:txBody>
      </p:sp>
      <p:sp>
        <p:nvSpPr>
          <p:cNvPr id="34" name="Text 32"/>
          <p:cNvSpPr/>
          <p:nvPr/>
        </p:nvSpPr>
        <p:spPr>
          <a:xfrm>
            <a:off x="3977640" y="4526280"/>
            <a:ext cx="4709160" cy="320040"/>
          </a:xfrm>
          <a:prstGeom prst="rect">
            <a:avLst/>
          </a:prstGeom>
          <a:noFill/>
          <a:ln/>
        </p:spPr>
        <p:txBody>
          <a:bodyPr wrap="square" rtlCol="0" anchor="t"/>
          <a:lstStyle/>
          <a:p>
            <a:pPr marL="0" indent="0">
              <a:buNone/>
            </a:pPr>
            <a:r>
              <a:rPr lang="en-US" sz="1000" i="1" dirty="0">
                <a:solidFill>
                  <a:srgbClr val="00BCD4"/>
                </a:solidFill>
                <a:latin typeface="Calibri" pitchFamily="34" charset="0"/>
                <a:ea typeface="Calibri" pitchFamily="34" charset="-122"/>
                <a:cs typeface="Calibri" pitchFamily="34" charset="-120"/>
              </a:rPr>
              <a:t>→ AI-powered education accessible to all, in any language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5E20"/>
          </a:solidFill>
          <a:ln w="12700">
            <a:solidFill>
              <a:srgbClr val="1B5E20"/>
            </a:solidFill>
            <a:prstDash val="solid"/>
          </a:ln>
        </p:spPr>
      </p:sp>
      <p:sp>
        <p:nvSpPr>
          <p:cNvPr id="3" name="Text 1"/>
          <p:cNvSpPr/>
          <p:nvPr/>
        </p:nvSpPr>
        <p:spPr>
          <a:xfrm>
            <a:off x="365760" y="0"/>
            <a:ext cx="8412480" cy="822960"/>
          </a:xfrm>
          <a:prstGeom prst="rect">
            <a:avLst/>
          </a:prstGeom>
          <a:noFill/>
          <a:ln/>
        </p:spPr>
        <p:txBody>
          <a:bodyPr wrap="square" rtlCol="0" anchor="ctr"/>
          <a:lstStyle/>
          <a:p>
            <a:pPr marL="0" indent="0">
              <a:buNone/>
            </a:pPr>
            <a:r>
              <a:rPr lang="en-US" sz="2800" b="1" dirty="0">
                <a:solidFill>
                  <a:srgbClr val="FFFFFF"/>
                </a:solidFill>
                <a:latin typeface="Arial" pitchFamily="34" charset="0"/>
                <a:ea typeface="Arial" pitchFamily="34" charset="-122"/>
                <a:cs typeface="Arial" pitchFamily="34" charset="-120"/>
              </a:rPr>
              <a:t>Objectives &amp; Scope</a:t>
            </a:r>
            <a:endParaRPr lang="en-US" sz="2800" dirty="0"/>
          </a:p>
        </p:txBody>
      </p:sp>
      <p:sp>
        <p:nvSpPr>
          <p:cNvPr id="4" name="Text 2"/>
          <p:cNvSpPr/>
          <p:nvPr/>
        </p:nvSpPr>
        <p:spPr>
          <a:xfrm>
            <a:off x="7772400" y="91440"/>
            <a:ext cx="1188720" cy="320040"/>
          </a:xfrm>
          <a:prstGeom prst="rect">
            <a:avLst/>
          </a:prstGeom>
          <a:noFill/>
          <a:ln/>
        </p:spPr>
        <p:txBody>
          <a:bodyPr wrap="square" rtlCol="0" anchor="ctr"/>
          <a:lstStyle/>
          <a:p>
            <a:pPr marL="0" indent="0" algn="r">
              <a:buNone/>
            </a:pPr>
            <a:r>
              <a:rPr lang="en-US" sz="900" dirty="0">
                <a:solidFill>
                  <a:srgbClr val="C8E6C9"/>
                </a:solidFill>
                <a:latin typeface="Calibri" pitchFamily="34" charset="0"/>
                <a:ea typeface="Calibri" pitchFamily="34" charset="-122"/>
                <a:cs typeface="Calibri" pitchFamily="34" charset="-120"/>
              </a:rPr>
              <a:t>SLIDE 4 of 12</a:t>
            </a:r>
            <a:endParaRPr lang="en-US" sz="900" dirty="0"/>
          </a:p>
        </p:txBody>
      </p:sp>
      <p:sp>
        <p:nvSpPr>
          <p:cNvPr id="5" name="Shape 3"/>
          <p:cNvSpPr/>
          <p:nvPr/>
        </p:nvSpPr>
        <p:spPr>
          <a:xfrm>
            <a:off x="365760" y="960120"/>
            <a:ext cx="4114800" cy="384048"/>
          </a:xfrm>
          <a:prstGeom prst="roundRect">
            <a:avLst>
              <a:gd name="adj" fmla="val 19048"/>
            </a:avLst>
          </a:prstGeom>
          <a:solidFill>
            <a:srgbClr val="1B5E20"/>
          </a:solidFill>
          <a:ln w="12700">
            <a:solidFill>
              <a:srgbClr val="1B5E20"/>
            </a:solidFill>
            <a:prstDash val="solid"/>
          </a:ln>
        </p:spPr>
      </p:sp>
      <p:sp>
        <p:nvSpPr>
          <p:cNvPr id="6" name="Text 4"/>
          <p:cNvSpPr/>
          <p:nvPr/>
        </p:nvSpPr>
        <p:spPr>
          <a:xfrm>
            <a:off x="365760" y="960120"/>
            <a:ext cx="4114800" cy="38404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Primary Objectives</a:t>
            </a:r>
            <a:endParaRPr lang="en-US" sz="1400" dirty="0"/>
          </a:p>
        </p:txBody>
      </p:sp>
      <p:sp>
        <p:nvSpPr>
          <p:cNvPr id="7" name="Shape 5"/>
          <p:cNvSpPr/>
          <p:nvPr/>
        </p:nvSpPr>
        <p:spPr>
          <a:xfrm>
            <a:off x="365760" y="1435608"/>
            <a:ext cx="4114800" cy="594360"/>
          </a:xfrm>
          <a:prstGeom prst="roundRect">
            <a:avLst>
              <a:gd name="adj" fmla="val 12308"/>
            </a:avLst>
          </a:prstGeom>
          <a:solidFill>
            <a:srgbClr val="F1F8E9"/>
          </a:solidFill>
          <a:ln w="12700">
            <a:solidFill>
              <a:srgbClr val="4CAF50">
                <a:alpha val="50000"/>
              </a:srgbClr>
            </a:solidFill>
            <a:prstDash val="solid"/>
          </a:ln>
          <a:effectLst>
            <a:outerShdw blurRad="101600" dist="38100" dir="2700000" algn="bl" rotWithShape="0">
              <a:srgbClr val="000000">
                <a:alpha val="12000"/>
              </a:srgbClr>
            </a:outerShdw>
          </a:effectLst>
        </p:spPr>
      </p:sp>
      <p:sp>
        <p:nvSpPr>
          <p:cNvPr id="8" name="Text 6"/>
          <p:cNvSpPr/>
          <p:nvPr/>
        </p:nvSpPr>
        <p:spPr>
          <a:xfrm>
            <a:off x="457200" y="1435608"/>
            <a:ext cx="3931920" cy="594360"/>
          </a:xfrm>
          <a:prstGeom prst="rect">
            <a:avLst/>
          </a:prstGeom>
          <a:noFill/>
          <a:ln/>
        </p:spPr>
        <p:txBody>
          <a:bodyPr wrap="square" rtlCol="0" anchor="ctr"/>
          <a:lstStyle/>
          <a:p>
            <a:pPr marL="0" indent="0">
              <a:buNone/>
            </a:pPr>
            <a:r>
              <a:rPr lang="en-US" sz="1300" b="1" dirty="0">
                <a:solidFill>
                  <a:srgbClr val="1B5E20"/>
                </a:solidFill>
                <a:latin typeface="Arial" pitchFamily="34" charset="0"/>
                <a:ea typeface="Arial" pitchFamily="34" charset="-122"/>
                <a:cs typeface="Arial" pitchFamily="34" charset="-120"/>
              </a:rPr>
              <a:t>1  </a:t>
            </a:r>
            <a:r>
              <a:rPr lang="en-US" sz="1100" dirty="0">
                <a:solidFill>
                  <a:srgbClr val="263238"/>
                </a:solidFill>
                <a:latin typeface="Calibri" pitchFamily="34" charset="0"/>
                <a:ea typeface="Calibri" pitchFamily="34" charset="-122"/>
                <a:cs typeface="Calibri" pitchFamily="34" charset="-120"/>
              </a:rPr>
              <a:t>Classify any waste material via text or image input</a:t>
            </a:r>
            <a:endParaRPr lang="en-US" sz="1300" dirty="0"/>
          </a:p>
        </p:txBody>
      </p:sp>
      <p:sp>
        <p:nvSpPr>
          <p:cNvPr id="9" name="Shape 7"/>
          <p:cNvSpPr/>
          <p:nvPr/>
        </p:nvSpPr>
        <p:spPr>
          <a:xfrm>
            <a:off x="365760" y="2121408"/>
            <a:ext cx="4114800" cy="594360"/>
          </a:xfrm>
          <a:prstGeom prst="roundRect">
            <a:avLst>
              <a:gd name="adj" fmla="val 12308"/>
            </a:avLst>
          </a:prstGeom>
          <a:solidFill>
            <a:srgbClr val="F1F8E9"/>
          </a:solidFill>
          <a:ln w="12700">
            <a:solidFill>
              <a:srgbClr val="4CAF50">
                <a:alpha val="50000"/>
              </a:srgbClr>
            </a:solidFill>
            <a:prstDash val="solid"/>
          </a:ln>
          <a:effectLst>
            <a:outerShdw blurRad="101600" dist="38100" dir="2700000" algn="bl" rotWithShape="0">
              <a:srgbClr val="000000">
                <a:alpha val="12000"/>
              </a:srgbClr>
            </a:outerShdw>
          </a:effectLst>
        </p:spPr>
      </p:sp>
      <p:sp>
        <p:nvSpPr>
          <p:cNvPr id="10" name="Text 8"/>
          <p:cNvSpPr/>
          <p:nvPr/>
        </p:nvSpPr>
        <p:spPr>
          <a:xfrm>
            <a:off x="457200" y="2121408"/>
            <a:ext cx="3931920" cy="594360"/>
          </a:xfrm>
          <a:prstGeom prst="rect">
            <a:avLst/>
          </a:prstGeom>
          <a:noFill/>
          <a:ln/>
        </p:spPr>
        <p:txBody>
          <a:bodyPr wrap="square" rtlCol="0" anchor="ctr"/>
          <a:lstStyle/>
          <a:p>
            <a:pPr marL="0" indent="0">
              <a:buNone/>
            </a:pPr>
            <a:r>
              <a:rPr lang="en-US" sz="1300" b="1" dirty="0">
                <a:solidFill>
                  <a:srgbClr val="1B5E20"/>
                </a:solidFill>
                <a:latin typeface="Arial" pitchFamily="34" charset="0"/>
                <a:ea typeface="Arial" pitchFamily="34" charset="-122"/>
                <a:cs typeface="Arial" pitchFamily="34" charset="-120"/>
              </a:rPr>
              <a:t>2  </a:t>
            </a:r>
            <a:r>
              <a:rPr lang="en-US" sz="1100" dirty="0">
                <a:solidFill>
                  <a:srgbClr val="263238"/>
                </a:solidFill>
                <a:latin typeface="Calibri" pitchFamily="34" charset="0"/>
                <a:ea typeface="Calibri" pitchFamily="34" charset="-122"/>
                <a:cs typeface="Calibri" pitchFamily="34" charset="-120"/>
              </a:rPr>
              <a:t>Provide step-by-step, location-specific disposal guidance</a:t>
            </a:r>
            <a:endParaRPr lang="en-US" sz="1300" dirty="0"/>
          </a:p>
        </p:txBody>
      </p:sp>
      <p:sp>
        <p:nvSpPr>
          <p:cNvPr id="11" name="Shape 9"/>
          <p:cNvSpPr/>
          <p:nvPr/>
        </p:nvSpPr>
        <p:spPr>
          <a:xfrm>
            <a:off x="365760" y="2807208"/>
            <a:ext cx="4114800" cy="594360"/>
          </a:xfrm>
          <a:prstGeom prst="roundRect">
            <a:avLst>
              <a:gd name="adj" fmla="val 12308"/>
            </a:avLst>
          </a:prstGeom>
          <a:solidFill>
            <a:srgbClr val="F1F8E9"/>
          </a:solidFill>
          <a:ln w="12700">
            <a:solidFill>
              <a:srgbClr val="4CAF50">
                <a:alpha val="50000"/>
              </a:srgbClr>
            </a:solidFill>
            <a:prstDash val="solid"/>
          </a:ln>
          <a:effectLst>
            <a:outerShdw blurRad="101600" dist="38100" dir="2700000" algn="bl" rotWithShape="0">
              <a:srgbClr val="000000">
                <a:alpha val="12000"/>
              </a:srgbClr>
            </a:outerShdw>
          </a:effectLst>
        </p:spPr>
      </p:sp>
      <p:sp>
        <p:nvSpPr>
          <p:cNvPr id="12" name="Text 10"/>
          <p:cNvSpPr/>
          <p:nvPr/>
        </p:nvSpPr>
        <p:spPr>
          <a:xfrm>
            <a:off x="457200" y="2807208"/>
            <a:ext cx="3931920" cy="594360"/>
          </a:xfrm>
          <a:prstGeom prst="rect">
            <a:avLst/>
          </a:prstGeom>
          <a:noFill/>
          <a:ln/>
        </p:spPr>
        <p:txBody>
          <a:bodyPr wrap="square" rtlCol="0" anchor="ctr"/>
          <a:lstStyle/>
          <a:p>
            <a:pPr marL="0" indent="0">
              <a:buNone/>
            </a:pPr>
            <a:r>
              <a:rPr lang="en-US" sz="1300" b="1" dirty="0">
                <a:solidFill>
                  <a:srgbClr val="1B5E20"/>
                </a:solidFill>
                <a:latin typeface="Arial" pitchFamily="34" charset="0"/>
                <a:ea typeface="Arial" pitchFamily="34" charset="-122"/>
                <a:cs typeface="Arial" pitchFamily="34" charset="-120"/>
              </a:rPr>
              <a:t>3  </a:t>
            </a:r>
            <a:r>
              <a:rPr lang="en-US" sz="1100" dirty="0">
                <a:solidFill>
                  <a:srgbClr val="263238"/>
                </a:solidFill>
                <a:latin typeface="Calibri" pitchFamily="34" charset="0"/>
                <a:ea typeface="Calibri" pitchFamily="34" charset="-122"/>
                <a:cs typeface="Calibri" pitchFamily="34" charset="-120"/>
              </a:rPr>
              <a:t>Support 8 waste categories: organic, recyclable, hazardous, e-waste, biomedical, construction, sanitary, inert</a:t>
            </a:r>
            <a:endParaRPr lang="en-US" sz="1300" dirty="0"/>
          </a:p>
        </p:txBody>
      </p:sp>
      <p:sp>
        <p:nvSpPr>
          <p:cNvPr id="13" name="Shape 11"/>
          <p:cNvSpPr/>
          <p:nvPr/>
        </p:nvSpPr>
        <p:spPr>
          <a:xfrm>
            <a:off x="365760" y="3493008"/>
            <a:ext cx="4114800" cy="594360"/>
          </a:xfrm>
          <a:prstGeom prst="roundRect">
            <a:avLst>
              <a:gd name="adj" fmla="val 12308"/>
            </a:avLst>
          </a:prstGeom>
          <a:solidFill>
            <a:srgbClr val="F1F8E9"/>
          </a:solidFill>
          <a:ln w="12700">
            <a:solidFill>
              <a:srgbClr val="4CAF50">
                <a:alpha val="50000"/>
              </a:srgbClr>
            </a:solidFill>
            <a:prstDash val="solid"/>
          </a:ln>
          <a:effectLst>
            <a:outerShdw blurRad="101600" dist="38100" dir="2700000" algn="bl" rotWithShape="0">
              <a:srgbClr val="000000">
                <a:alpha val="12000"/>
              </a:srgbClr>
            </a:outerShdw>
          </a:effectLst>
        </p:spPr>
      </p:sp>
      <p:sp>
        <p:nvSpPr>
          <p:cNvPr id="14" name="Text 12"/>
          <p:cNvSpPr/>
          <p:nvPr/>
        </p:nvSpPr>
        <p:spPr>
          <a:xfrm>
            <a:off x="457200" y="3493008"/>
            <a:ext cx="3931920" cy="594360"/>
          </a:xfrm>
          <a:prstGeom prst="rect">
            <a:avLst/>
          </a:prstGeom>
          <a:noFill/>
          <a:ln/>
        </p:spPr>
        <p:txBody>
          <a:bodyPr wrap="square" rtlCol="0" anchor="ctr"/>
          <a:lstStyle/>
          <a:p>
            <a:pPr marL="0" indent="0">
              <a:buNone/>
            </a:pPr>
            <a:r>
              <a:rPr lang="en-US" sz="1300" b="1" dirty="0">
                <a:solidFill>
                  <a:srgbClr val="1B5E20"/>
                </a:solidFill>
                <a:latin typeface="Arial" pitchFamily="34" charset="0"/>
                <a:ea typeface="Arial" pitchFamily="34" charset="-122"/>
                <a:cs typeface="Arial" pitchFamily="34" charset="-120"/>
              </a:rPr>
              <a:t>4  </a:t>
            </a:r>
            <a:r>
              <a:rPr lang="en-US" sz="1100" dirty="0">
                <a:solidFill>
                  <a:srgbClr val="263238"/>
                </a:solidFill>
                <a:latin typeface="Calibri" pitchFamily="34" charset="0"/>
                <a:ea typeface="Calibri" pitchFamily="34" charset="-122"/>
                <a:cs typeface="Calibri" pitchFamily="34" charset="-120"/>
              </a:rPr>
              <a:t>Deliver multilingual support in 10+ Indian languages</a:t>
            </a:r>
            <a:endParaRPr lang="en-US" sz="1300" dirty="0"/>
          </a:p>
        </p:txBody>
      </p:sp>
      <p:sp>
        <p:nvSpPr>
          <p:cNvPr id="15" name="Shape 13"/>
          <p:cNvSpPr/>
          <p:nvPr/>
        </p:nvSpPr>
        <p:spPr>
          <a:xfrm>
            <a:off x="365760" y="4178808"/>
            <a:ext cx="4114800" cy="594360"/>
          </a:xfrm>
          <a:prstGeom prst="roundRect">
            <a:avLst>
              <a:gd name="adj" fmla="val 12308"/>
            </a:avLst>
          </a:prstGeom>
          <a:solidFill>
            <a:srgbClr val="F1F8E9"/>
          </a:solidFill>
          <a:ln w="12700">
            <a:solidFill>
              <a:srgbClr val="4CAF50">
                <a:alpha val="50000"/>
              </a:srgbClr>
            </a:solidFill>
            <a:prstDash val="solid"/>
          </a:ln>
          <a:effectLst>
            <a:outerShdw blurRad="101600" dist="38100" dir="2700000" algn="bl" rotWithShape="0">
              <a:srgbClr val="000000">
                <a:alpha val="12000"/>
              </a:srgbClr>
            </a:outerShdw>
          </a:effectLst>
        </p:spPr>
      </p:sp>
      <p:sp>
        <p:nvSpPr>
          <p:cNvPr id="16" name="Text 14"/>
          <p:cNvSpPr/>
          <p:nvPr/>
        </p:nvSpPr>
        <p:spPr>
          <a:xfrm>
            <a:off x="457200" y="4178808"/>
            <a:ext cx="3931920" cy="594360"/>
          </a:xfrm>
          <a:prstGeom prst="rect">
            <a:avLst/>
          </a:prstGeom>
          <a:noFill/>
          <a:ln/>
        </p:spPr>
        <p:txBody>
          <a:bodyPr wrap="square" rtlCol="0" anchor="ctr"/>
          <a:lstStyle/>
          <a:p>
            <a:pPr marL="0" indent="0">
              <a:buNone/>
            </a:pPr>
            <a:r>
              <a:rPr lang="en-US" sz="1300" b="1" dirty="0">
                <a:solidFill>
                  <a:srgbClr val="1B5E20"/>
                </a:solidFill>
                <a:latin typeface="Arial" pitchFamily="34" charset="0"/>
                <a:ea typeface="Arial" pitchFamily="34" charset="-122"/>
                <a:cs typeface="Arial" pitchFamily="34" charset="-120"/>
              </a:rPr>
              <a:t>5  </a:t>
            </a:r>
            <a:r>
              <a:rPr lang="en-US" sz="1100" dirty="0">
                <a:solidFill>
                  <a:srgbClr val="263238"/>
                </a:solidFill>
                <a:latin typeface="Calibri" pitchFamily="34" charset="0"/>
                <a:ea typeface="Calibri" pitchFamily="34" charset="-122"/>
                <a:cs typeface="Calibri" pitchFamily="34" charset="-120"/>
              </a:rPr>
              <a:t>Educate users on environmental impact of waste choices</a:t>
            </a:r>
            <a:endParaRPr lang="en-US" sz="1300" dirty="0"/>
          </a:p>
        </p:txBody>
      </p:sp>
      <p:sp>
        <p:nvSpPr>
          <p:cNvPr id="17" name="Shape 15"/>
          <p:cNvSpPr/>
          <p:nvPr/>
        </p:nvSpPr>
        <p:spPr>
          <a:xfrm>
            <a:off x="4663440" y="960120"/>
            <a:ext cx="4114800" cy="384048"/>
          </a:xfrm>
          <a:prstGeom prst="roundRect">
            <a:avLst>
              <a:gd name="adj" fmla="val 19048"/>
            </a:avLst>
          </a:prstGeom>
          <a:solidFill>
            <a:srgbClr val="388E3C"/>
          </a:solidFill>
          <a:ln w="12700">
            <a:solidFill>
              <a:srgbClr val="388E3C"/>
            </a:solidFill>
            <a:prstDash val="solid"/>
          </a:ln>
        </p:spPr>
      </p:sp>
      <p:sp>
        <p:nvSpPr>
          <p:cNvPr id="18" name="Text 16"/>
          <p:cNvSpPr/>
          <p:nvPr/>
        </p:nvSpPr>
        <p:spPr>
          <a:xfrm>
            <a:off x="4663440" y="960120"/>
            <a:ext cx="4114800" cy="38404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Target Users</a:t>
            </a:r>
            <a:endParaRPr lang="en-US" sz="1400" dirty="0"/>
          </a:p>
        </p:txBody>
      </p:sp>
      <p:sp>
        <p:nvSpPr>
          <p:cNvPr id="19" name="Shape 17"/>
          <p:cNvSpPr/>
          <p:nvPr/>
        </p:nvSpPr>
        <p:spPr>
          <a:xfrm>
            <a:off x="4663440" y="1435608"/>
            <a:ext cx="4114800" cy="594360"/>
          </a:xfrm>
          <a:prstGeom prst="roundRect">
            <a:avLst>
              <a:gd name="adj" fmla="val 12308"/>
            </a:avLst>
          </a:prstGeom>
          <a:solidFill>
            <a:srgbClr val="F0FFF4"/>
          </a:solidFill>
          <a:ln w="12700">
            <a:solidFill>
              <a:srgbClr val="388E3C">
                <a:alpha val="50000"/>
              </a:srgbClr>
            </a:solidFill>
            <a:prstDash val="solid"/>
          </a:ln>
          <a:effectLst>
            <a:outerShdw blurRad="101600" dist="38100" dir="2700000" algn="bl" rotWithShape="0">
              <a:srgbClr val="000000">
                <a:alpha val="12000"/>
              </a:srgbClr>
            </a:outerShdw>
          </a:effectLst>
        </p:spPr>
      </p:sp>
      <p:sp>
        <p:nvSpPr>
          <p:cNvPr id="20" name="Text 18"/>
          <p:cNvSpPr/>
          <p:nvPr/>
        </p:nvSpPr>
        <p:spPr>
          <a:xfrm>
            <a:off x="4663440" y="1435608"/>
            <a:ext cx="594360" cy="59436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1" name="Text 19"/>
          <p:cNvSpPr/>
          <p:nvPr/>
        </p:nvSpPr>
        <p:spPr>
          <a:xfrm>
            <a:off x="5257800" y="1435608"/>
            <a:ext cx="3429000" cy="292608"/>
          </a:xfrm>
          <a:prstGeom prst="rect">
            <a:avLst/>
          </a:prstGeom>
          <a:noFill/>
          <a:ln/>
        </p:spPr>
        <p:txBody>
          <a:bodyPr wrap="square" rtlCol="0" anchor="b"/>
          <a:lstStyle/>
          <a:p>
            <a:pPr marL="0" indent="0">
              <a:buNone/>
            </a:pPr>
            <a:r>
              <a:rPr lang="en-US" sz="1200" b="1" dirty="0">
                <a:solidFill>
                  <a:srgbClr val="1B5E20"/>
                </a:solidFill>
                <a:latin typeface="Arial" pitchFamily="34" charset="0"/>
                <a:ea typeface="Arial" pitchFamily="34" charset="-122"/>
                <a:cs typeface="Arial" pitchFamily="34" charset="-120"/>
              </a:rPr>
              <a:t>Urban Households</a:t>
            </a:r>
            <a:endParaRPr lang="en-US" sz="1200" dirty="0"/>
          </a:p>
        </p:txBody>
      </p:sp>
      <p:sp>
        <p:nvSpPr>
          <p:cNvPr id="22" name="Text 20"/>
          <p:cNvSpPr/>
          <p:nvPr/>
        </p:nvSpPr>
        <p:spPr>
          <a:xfrm>
            <a:off x="5257800" y="1728216"/>
            <a:ext cx="3429000" cy="274320"/>
          </a:xfrm>
          <a:prstGeom prst="rect">
            <a:avLst/>
          </a:prstGeom>
          <a:noFill/>
          <a:ln/>
        </p:spPr>
        <p:txBody>
          <a:bodyPr wrap="square" rtlCol="0" anchor="t"/>
          <a:lstStyle/>
          <a:p>
            <a:pPr marL="0" indent="0">
              <a:buNone/>
            </a:pPr>
            <a:r>
              <a:rPr lang="en-US" sz="1000" i="1" dirty="0">
                <a:solidFill>
                  <a:srgbClr val="546E7A"/>
                </a:solidFill>
                <a:latin typeface="Calibri" pitchFamily="34" charset="0"/>
                <a:ea typeface="Calibri" pitchFamily="34" charset="-122"/>
                <a:cs typeface="Calibri" pitchFamily="34" charset="-120"/>
              </a:rPr>
              <a:t>Daily disposal guidance</a:t>
            </a:r>
            <a:endParaRPr lang="en-US" sz="1000" dirty="0"/>
          </a:p>
        </p:txBody>
      </p:sp>
      <p:sp>
        <p:nvSpPr>
          <p:cNvPr id="23" name="Shape 21"/>
          <p:cNvSpPr/>
          <p:nvPr/>
        </p:nvSpPr>
        <p:spPr>
          <a:xfrm>
            <a:off x="4663440" y="2121408"/>
            <a:ext cx="4114800" cy="594360"/>
          </a:xfrm>
          <a:prstGeom prst="roundRect">
            <a:avLst>
              <a:gd name="adj" fmla="val 12308"/>
            </a:avLst>
          </a:prstGeom>
          <a:solidFill>
            <a:srgbClr val="F0FFF4"/>
          </a:solidFill>
          <a:ln w="12700">
            <a:solidFill>
              <a:srgbClr val="388E3C">
                <a:alpha val="50000"/>
              </a:srgbClr>
            </a:solidFill>
            <a:prstDash val="solid"/>
          </a:ln>
          <a:effectLst>
            <a:outerShdw blurRad="101600" dist="38100" dir="2700000" algn="bl" rotWithShape="0">
              <a:srgbClr val="000000">
                <a:alpha val="12000"/>
              </a:srgbClr>
            </a:outerShdw>
          </a:effectLst>
        </p:spPr>
      </p:sp>
      <p:sp>
        <p:nvSpPr>
          <p:cNvPr id="24" name="Text 22"/>
          <p:cNvSpPr/>
          <p:nvPr/>
        </p:nvSpPr>
        <p:spPr>
          <a:xfrm>
            <a:off x="4663440" y="2121408"/>
            <a:ext cx="594360" cy="59436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5" name="Text 23"/>
          <p:cNvSpPr/>
          <p:nvPr/>
        </p:nvSpPr>
        <p:spPr>
          <a:xfrm>
            <a:off x="5257800" y="2121408"/>
            <a:ext cx="3429000" cy="292608"/>
          </a:xfrm>
          <a:prstGeom prst="rect">
            <a:avLst/>
          </a:prstGeom>
          <a:noFill/>
          <a:ln/>
        </p:spPr>
        <p:txBody>
          <a:bodyPr wrap="square" rtlCol="0" anchor="b"/>
          <a:lstStyle/>
          <a:p>
            <a:pPr marL="0" indent="0">
              <a:buNone/>
            </a:pPr>
            <a:r>
              <a:rPr lang="en-US" sz="1200" b="1" dirty="0">
                <a:solidFill>
                  <a:srgbClr val="1B5E20"/>
                </a:solidFill>
                <a:latin typeface="Arial" pitchFamily="34" charset="0"/>
                <a:ea typeface="Arial" pitchFamily="34" charset="-122"/>
                <a:cs typeface="Arial" pitchFamily="34" charset="-120"/>
              </a:rPr>
              <a:t>Students &amp; Youth</a:t>
            </a:r>
            <a:endParaRPr lang="en-US" sz="1200" dirty="0"/>
          </a:p>
        </p:txBody>
      </p:sp>
      <p:sp>
        <p:nvSpPr>
          <p:cNvPr id="26" name="Text 24"/>
          <p:cNvSpPr/>
          <p:nvPr/>
        </p:nvSpPr>
        <p:spPr>
          <a:xfrm>
            <a:off x="5257800" y="2414016"/>
            <a:ext cx="3429000" cy="274320"/>
          </a:xfrm>
          <a:prstGeom prst="rect">
            <a:avLst/>
          </a:prstGeom>
          <a:noFill/>
          <a:ln/>
        </p:spPr>
        <p:txBody>
          <a:bodyPr wrap="square" rtlCol="0" anchor="t"/>
          <a:lstStyle/>
          <a:p>
            <a:pPr marL="0" indent="0">
              <a:buNone/>
            </a:pPr>
            <a:r>
              <a:rPr lang="en-US" sz="1000" i="1" dirty="0">
                <a:solidFill>
                  <a:srgbClr val="546E7A"/>
                </a:solidFill>
                <a:latin typeface="Calibri" pitchFamily="34" charset="0"/>
                <a:ea typeface="Calibri" pitchFamily="34" charset="-122"/>
                <a:cs typeface="Calibri" pitchFamily="34" charset="-120"/>
              </a:rPr>
              <a:t>Eco-education &amp; challenges</a:t>
            </a:r>
            <a:endParaRPr lang="en-US" sz="1000" dirty="0"/>
          </a:p>
        </p:txBody>
      </p:sp>
      <p:sp>
        <p:nvSpPr>
          <p:cNvPr id="27" name="Shape 25"/>
          <p:cNvSpPr/>
          <p:nvPr/>
        </p:nvSpPr>
        <p:spPr>
          <a:xfrm>
            <a:off x="4663440" y="2807208"/>
            <a:ext cx="4114800" cy="594360"/>
          </a:xfrm>
          <a:prstGeom prst="roundRect">
            <a:avLst>
              <a:gd name="adj" fmla="val 12308"/>
            </a:avLst>
          </a:prstGeom>
          <a:solidFill>
            <a:srgbClr val="F0FFF4"/>
          </a:solidFill>
          <a:ln w="12700">
            <a:solidFill>
              <a:srgbClr val="388E3C">
                <a:alpha val="50000"/>
              </a:srgbClr>
            </a:solidFill>
            <a:prstDash val="solid"/>
          </a:ln>
          <a:effectLst>
            <a:outerShdw blurRad="101600" dist="38100" dir="2700000" algn="bl" rotWithShape="0">
              <a:srgbClr val="000000">
                <a:alpha val="12000"/>
              </a:srgbClr>
            </a:outerShdw>
          </a:effectLst>
        </p:spPr>
      </p:sp>
      <p:sp>
        <p:nvSpPr>
          <p:cNvPr id="28" name="Text 26"/>
          <p:cNvSpPr/>
          <p:nvPr/>
        </p:nvSpPr>
        <p:spPr>
          <a:xfrm>
            <a:off x="4663440" y="2807208"/>
            <a:ext cx="594360" cy="59436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9" name="Text 27"/>
          <p:cNvSpPr/>
          <p:nvPr/>
        </p:nvSpPr>
        <p:spPr>
          <a:xfrm>
            <a:off x="5257800" y="2807208"/>
            <a:ext cx="3429000" cy="292608"/>
          </a:xfrm>
          <a:prstGeom prst="rect">
            <a:avLst/>
          </a:prstGeom>
          <a:noFill/>
          <a:ln/>
        </p:spPr>
        <p:txBody>
          <a:bodyPr wrap="square" rtlCol="0" anchor="b"/>
          <a:lstStyle/>
          <a:p>
            <a:pPr marL="0" indent="0">
              <a:buNone/>
            </a:pPr>
            <a:r>
              <a:rPr lang="en-US" sz="1200" b="1" dirty="0">
                <a:solidFill>
                  <a:srgbClr val="1B5E20"/>
                </a:solidFill>
                <a:latin typeface="Arial" pitchFamily="34" charset="0"/>
                <a:ea typeface="Arial" pitchFamily="34" charset="-122"/>
                <a:cs typeface="Arial" pitchFamily="34" charset="-120"/>
              </a:rPr>
              <a:t>Small Businesses</a:t>
            </a:r>
            <a:endParaRPr lang="en-US" sz="1200" dirty="0"/>
          </a:p>
        </p:txBody>
      </p:sp>
      <p:sp>
        <p:nvSpPr>
          <p:cNvPr id="30" name="Text 28"/>
          <p:cNvSpPr/>
          <p:nvPr/>
        </p:nvSpPr>
        <p:spPr>
          <a:xfrm>
            <a:off x="5257800" y="3099816"/>
            <a:ext cx="3429000" cy="274320"/>
          </a:xfrm>
          <a:prstGeom prst="rect">
            <a:avLst/>
          </a:prstGeom>
          <a:noFill/>
          <a:ln/>
        </p:spPr>
        <p:txBody>
          <a:bodyPr wrap="square" rtlCol="0" anchor="t"/>
          <a:lstStyle/>
          <a:p>
            <a:pPr marL="0" indent="0">
              <a:buNone/>
            </a:pPr>
            <a:r>
              <a:rPr lang="en-US" sz="1000" i="1" dirty="0">
                <a:solidFill>
                  <a:srgbClr val="546E7A"/>
                </a:solidFill>
                <a:latin typeface="Calibri" pitchFamily="34" charset="0"/>
                <a:ea typeface="Calibri" pitchFamily="34" charset="-122"/>
                <a:cs typeface="Calibri" pitchFamily="34" charset="-120"/>
              </a:rPr>
              <a:t>Regulatory compliance</a:t>
            </a:r>
            <a:endParaRPr lang="en-US" sz="1000" dirty="0"/>
          </a:p>
        </p:txBody>
      </p:sp>
      <p:sp>
        <p:nvSpPr>
          <p:cNvPr id="31" name="Shape 29"/>
          <p:cNvSpPr/>
          <p:nvPr/>
        </p:nvSpPr>
        <p:spPr>
          <a:xfrm>
            <a:off x="4663440" y="3493008"/>
            <a:ext cx="4114800" cy="594360"/>
          </a:xfrm>
          <a:prstGeom prst="roundRect">
            <a:avLst>
              <a:gd name="adj" fmla="val 12308"/>
            </a:avLst>
          </a:prstGeom>
          <a:solidFill>
            <a:srgbClr val="F0FFF4"/>
          </a:solidFill>
          <a:ln w="12700">
            <a:solidFill>
              <a:srgbClr val="388E3C">
                <a:alpha val="50000"/>
              </a:srgbClr>
            </a:solidFill>
            <a:prstDash val="solid"/>
          </a:ln>
          <a:effectLst>
            <a:outerShdw blurRad="101600" dist="38100" dir="2700000" algn="bl" rotWithShape="0">
              <a:srgbClr val="000000">
                <a:alpha val="12000"/>
              </a:srgbClr>
            </a:outerShdw>
          </a:effectLst>
        </p:spPr>
      </p:sp>
      <p:sp>
        <p:nvSpPr>
          <p:cNvPr id="32" name="Text 30"/>
          <p:cNvSpPr/>
          <p:nvPr/>
        </p:nvSpPr>
        <p:spPr>
          <a:xfrm>
            <a:off x="4663440" y="3493008"/>
            <a:ext cx="594360" cy="59436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33" name="Text 31"/>
          <p:cNvSpPr/>
          <p:nvPr/>
        </p:nvSpPr>
        <p:spPr>
          <a:xfrm>
            <a:off x="5257800" y="3493008"/>
            <a:ext cx="3429000" cy="292608"/>
          </a:xfrm>
          <a:prstGeom prst="rect">
            <a:avLst/>
          </a:prstGeom>
          <a:noFill/>
          <a:ln/>
        </p:spPr>
        <p:txBody>
          <a:bodyPr wrap="square" rtlCol="0" anchor="b"/>
          <a:lstStyle/>
          <a:p>
            <a:pPr marL="0" indent="0">
              <a:buNone/>
            </a:pPr>
            <a:r>
              <a:rPr lang="en-US" sz="1200" b="1" dirty="0">
                <a:solidFill>
                  <a:srgbClr val="1B5E20"/>
                </a:solidFill>
                <a:latin typeface="Arial" pitchFamily="34" charset="0"/>
                <a:ea typeface="Arial" pitchFamily="34" charset="-122"/>
                <a:cs typeface="Arial" pitchFamily="34" charset="-120"/>
              </a:rPr>
              <a:t>Housing Societies</a:t>
            </a:r>
            <a:endParaRPr lang="en-US" sz="1200" dirty="0"/>
          </a:p>
        </p:txBody>
      </p:sp>
      <p:sp>
        <p:nvSpPr>
          <p:cNvPr id="34" name="Text 32"/>
          <p:cNvSpPr/>
          <p:nvPr/>
        </p:nvSpPr>
        <p:spPr>
          <a:xfrm>
            <a:off x="5257800" y="3785616"/>
            <a:ext cx="3429000" cy="274320"/>
          </a:xfrm>
          <a:prstGeom prst="rect">
            <a:avLst/>
          </a:prstGeom>
          <a:noFill/>
          <a:ln/>
        </p:spPr>
        <p:txBody>
          <a:bodyPr wrap="square" rtlCol="0" anchor="t"/>
          <a:lstStyle/>
          <a:p>
            <a:pPr marL="0" indent="0">
              <a:buNone/>
            </a:pPr>
            <a:r>
              <a:rPr lang="en-US" sz="1000" i="1" dirty="0">
                <a:solidFill>
                  <a:srgbClr val="546E7A"/>
                </a:solidFill>
                <a:latin typeface="Calibri" pitchFamily="34" charset="0"/>
                <a:ea typeface="Calibri" pitchFamily="34" charset="-122"/>
                <a:cs typeface="Calibri" pitchFamily="34" charset="-120"/>
              </a:rPr>
              <a:t>Community waste management</a:t>
            </a:r>
            <a:endParaRPr lang="en-US" sz="1000" dirty="0"/>
          </a:p>
        </p:txBody>
      </p:sp>
      <p:sp>
        <p:nvSpPr>
          <p:cNvPr id="35" name="Shape 33"/>
          <p:cNvSpPr/>
          <p:nvPr/>
        </p:nvSpPr>
        <p:spPr>
          <a:xfrm>
            <a:off x="4663440" y="4178808"/>
            <a:ext cx="4114800" cy="594360"/>
          </a:xfrm>
          <a:prstGeom prst="roundRect">
            <a:avLst>
              <a:gd name="adj" fmla="val 12308"/>
            </a:avLst>
          </a:prstGeom>
          <a:solidFill>
            <a:srgbClr val="F0FFF4"/>
          </a:solidFill>
          <a:ln w="12700">
            <a:solidFill>
              <a:srgbClr val="388E3C">
                <a:alpha val="50000"/>
              </a:srgbClr>
            </a:solidFill>
            <a:prstDash val="solid"/>
          </a:ln>
          <a:effectLst>
            <a:outerShdw blurRad="101600" dist="38100" dir="2700000" algn="bl" rotWithShape="0">
              <a:srgbClr val="000000">
                <a:alpha val="12000"/>
              </a:srgbClr>
            </a:outerShdw>
          </a:effectLst>
        </p:spPr>
      </p:sp>
      <p:sp>
        <p:nvSpPr>
          <p:cNvPr id="36" name="Text 34"/>
          <p:cNvSpPr/>
          <p:nvPr/>
        </p:nvSpPr>
        <p:spPr>
          <a:xfrm>
            <a:off x="4663440" y="4178808"/>
            <a:ext cx="594360" cy="59436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37" name="Text 35"/>
          <p:cNvSpPr/>
          <p:nvPr/>
        </p:nvSpPr>
        <p:spPr>
          <a:xfrm>
            <a:off x="5257800" y="4178808"/>
            <a:ext cx="3429000" cy="292608"/>
          </a:xfrm>
          <a:prstGeom prst="rect">
            <a:avLst/>
          </a:prstGeom>
          <a:noFill/>
          <a:ln/>
        </p:spPr>
        <p:txBody>
          <a:bodyPr wrap="square" rtlCol="0" anchor="b"/>
          <a:lstStyle/>
          <a:p>
            <a:pPr marL="0" indent="0">
              <a:buNone/>
            </a:pPr>
            <a:r>
              <a:rPr lang="en-US" sz="1200" b="1" dirty="0">
                <a:solidFill>
                  <a:srgbClr val="1B5E20"/>
                </a:solidFill>
                <a:latin typeface="Arial" pitchFamily="34" charset="0"/>
                <a:ea typeface="Arial" pitchFamily="34" charset="-122"/>
                <a:cs typeface="Arial" pitchFamily="34" charset="-120"/>
              </a:rPr>
              <a:t>Eco-Conscious Users</a:t>
            </a:r>
            <a:endParaRPr lang="en-US" sz="1200" dirty="0"/>
          </a:p>
        </p:txBody>
      </p:sp>
      <p:sp>
        <p:nvSpPr>
          <p:cNvPr id="38" name="Text 36"/>
          <p:cNvSpPr/>
          <p:nvPr/>
        </p:nvSpPr>
        <p:spPr>
          <a:xfrm>
            <a:off x="5257800" y="4471416"/>
            <a:ext cx="3429000" cy="274320"/>
          </a:xfrm>
          <a:prstGeom prst="rect">
            <a:avLst/>
          </a:prstGeom>
          <a:noFill/>
          <a:ln/>
        </p:spPr>
        <p:txBody>
          <a:bodyPr wrap="square" rtlCol="0" anchor="t"/>
          <a:lstStyle/>
          <a:p>
            <a:pPr marL="0" indent="0">
              <a:buNone/>
            </a:pPr>
            <a:r>
              <a:rPr lang="en-US" sz="1000" i="1" dirty="0">
                <a:solidFill>
                  <a:srgbClr val="546E7A"/>
                </a:solidFill>
                <a:latin typeface="Calibri" pitchFamily="34" charset="0"/>
                <a:ea typeface="Calibri" pitchFamily="34" charset="-122"/>
                <a:cs typeface="Calibri" pitchFamily="34" charset="-120"/>
              </a:rPr>
              <a:t>Advanced tracking &amp; tips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8E9"/>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388E3C"/>
          </a:solidFill>
          <a:ln w="12700">
            <a:solidFill>
              <a:srgbClr val="388E3C"/>
            </a:solidFill>
            <a:prstDash val="solid"/>
          </a:ln>
        </p:spPr>
      </p:sp>
      <p:sp>
        <p:nvSpPr>
          <p:cNvPr id="3" name="Text 1"/>
          <p:cNvSpPr/>
          <p:nvPr/>
        </p:nvSpPr>
        <p:spPr>
          <a:xfrm>
            <a:off x="365760" y="0"/>
            <a:ext cx="8412480" cy="822960"/>
          </a:xfrm>
          <a:prstGeom prst="rect">
            <a:avLst/>
          </a:prstGeom>
          <a:noFill/>
          <a:ln/>
        </p:spPr>
        <p:txBody>
          <a:bodyPr wrap="square" rtlCol="0" anchor="ctr"/>
          <a:lstStyle/>
          <a:p>
            <a:pPr marL="0" indent="0">
              <a:buNone/>
            </a:pPr>
            <a:r>
              <a:rPr lang="en-US" sz="2800" b="1" dirty="0">
                <a:solidFill>
                  <a:srgbClr val="FFFFFF"/>
                </a:solidFill>
                <a:latin typeface="Arial" pitchFamily="34" charset="0"/>
                <a:ea typeface="Arial" pitchFamily="34" charset="-122"/>
                <a:cs typeface="Arial" pitchFamily="34" charset="-120"/>
              </a:rPr>
              <a:t>EcoSort – Solution Overview</a:t>
            </a:r>
            <a:endParaRPr lang="en-US" sz="2800" dirty="0"/>
          </a:p>
        </p:txBody>
      </p:sp>
      <p:sp>
        <p:nvSpPr>
          <p:cNvPr id="4" name="Text 2"/>
          <p:cNvSpPr/>
          <p:nvPr/>
        </p:nvSpPr>
        <p:spPr>
          <a:xfrm>
            <a:off x="7772400" y="91440"/>
            <a:ext cx="1188720" cy="320040"/>
          </a:xfrm>
          <a:prstGeom prst="rect">
            <a:avLst/>
          </a:prstGeom>
          <a:noFill/>
          <a:ln/>
        </p:spPr>
        <p:txBody>
          <a:bodyPr wrap="square" rtlCol="0" anchor="ctr"/>
          <a:lstStyle/>
          <a:p>
            <a:pPr marL="0" indent="0" algn="r">
              <a:buNone/>
            </a:pPr>
            <a:r>
              <a:rPr lang="en-US" sz="900" dirty="0">
                <a:solidFill>
                  <a:srgbClr val="C8E6C9"/>
                </a:solidFill>
                <a:latin typeface="Calibri" pitchFamily="34" charset="0"/>
                <a:ea typeface="Calibri" pitchFamily="34" charset="-122"/>
                <a:cs typeface="Calibri" pitchFamily="34" charset="-120"/>
              </a:rPr>
              <a:t>SLIDE 5 of 12</a:t>
            </a:r>
            <a:endParaRPr lang="en-US" sz="900" dirty="0"/>
          </a:p>
        </p:txBody>
      </p:sp>
      <p:sp>
        <p:nvSpPr>
          <p:cNvPr id="5" name="Text 3"/>
          <p:cNvSpPr/>
          <p:nvPr/>
        </p:nvSpPr>
        <p:spPr>
          <a:xfrm>
            <a:off x="457200" y="960120"/>
            <a:ext cx="8229600" cy="502920"/>
          </a:xfrm>
          <a:prstGeom prst="rect">
            <a:avLst/>
          </a:prstGeom>
          <a:noFill/>
          <a:ln/>
        </p:spPr>
        <p:txBody>
          <a:bodyPr wrap="square" rtlCol="0" anchor="ctr"/>
          <a:lstStyle/>
          <a:p>
            <a:pPr marL="0" indent="0" algn="ctr">
              <a:buNone/>
            </a:pPr>
            <a:r>
              <a:rPr lang="en-US" sz="1500" b="1" i="1" dirty="0">
                <a:solidFill>
                  <a:srgbClr val="1B5E20"/>
                </a:solidFill>
                <a:latin typeface="Calibri" pitchFamily="34" charset="0"/>
                <a:ea typeface="Calibri" pitchFamily="34" charset="-122"/>
                <a:cs typeface="Calibri" pitchFamily="34" charset="-120"/>
              </a:rPr>
              <a:t>An AI-powered conversational assistant that makes waste management simple, smart, and sustainable.</a:t>
            </a:r>
            <a:endParaRPr lang="en-US" sz="1500" dirty="0"/>
          </a:p>
        </p:txBody>
      </p:sp>
      <p:sp>
        <p:nvSpPr>
          <p:cNvPr id="6" name="Shape 4"/>
          <p:cNvSpPr/>
          <p:nvPr/>
        </p:nvSpPr>
        <p:spPr>
          <a:xfrm>
            <a:off x="365760" y="1600200"/>
            <a:ext cx="2651760" cy="1600200"/>
          </a:xfrm>
          <a:prstGeom prst="roundRect">
            <a:avLst>
              <a:gd name="adj" fmla="val 6857"/>
            </a:avLst>
          </a:prstGeom>
          <a:solidFill>
            <a:srgbClr val="FFFFFF"/>
          </a:solidFill>
          <a:ln w="12700">
            <a:solidFill>
              <a:srgbClr val="1B5E20">
                <a:alpha val="40000"/>
              </a:srgbClr>
            </a:solidFill>
            <a:prstDash val="solid"/>
          </a:ln>
          <a:effectLst>
            <a:outerShdw blurRad="101600" dist="38100" dir="2700000" algn="bl" rotWithShape="0">
              <a:srgbClr val="000000">
                <a:alpha val="12000"/>
              </a:srgbClr>
            </a:outerShdw>
          </a:effectLst>
        </p:spPr>
      </p:sp>
      <p:sp>
        <p:nvSpPr>
          <p:cNvPr id="7" name="Shape 5"/>
          <p:cNvSpPr/>
          <p:nvPr/>
        </p:nvSpPr>
        <p:spPr>
          <a:xfrm>
            <a:off x="502920" y="1737360"/>
            <a:ext cx="548640" cy="548640"/>
          </a:xfrm>
          <a:prstGeom prst="ellipse">
            <a:avLst/>
          </a:prstGeom>
          <a:solidFill>
            <a:srgbClr val="1B5E20">
              <a:alpha val="85000"/>
            </a:srgbClr>
          </a:solidFill>
          <a:ln w="12700">
            <a:solidFill>
              <a:srgbClr val="1B5E20">
                <a:alpha val="85000"/>
              </a:srgbClr>
            </a:solidFill>
            <a:prstDash val="solid"/>
          </a:ln>
        </p:spPr>
      </p:sp>
      <p:sp>
        <p:nvSpPr>
          <p:cNvPr id="8" name="Text 6"/>
          <p:cNvSpPr/>
          <p:nvPr/>
        </p:nvSpPr>
        <p:spPr>
          <a:xfrm>
            <a:off x="502920" y="1737360"/>
            <a:ext cx="548640" cy="54864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9" name="Text 7"/>
          <p:cNvSpPr/>
          <p:nvPr/>
        </p:nvSpPr>
        <p:spPr>
          <a:xfrm>
            <a:off x="1143000" y="1709928"/>
            <a:ext cx="1783080" cy="411480"/>
          </a:xfrm>
          <a:prstGeom prst="rect">
            <a:avLst/>
          </a:prstGeom>
          <a:noFill/>
          <a:ln/>
        </p:spPr>
        <p:txBody>
          <a:bodyPr wrap="square" rtlCol="0" anchor="ctr"/>
          <a:lstStyle/>
          <a:p>
            <a:pPr marL="0" indent="0">
              <a:buNone/>
            </a:pPr>
            <a:r>
              <a:rPr lang="en-US" sz="1250" b="1" dirty="0">
                <a:solidFill>
                  <a:srgbClr val="1B5E20"/>
                </a:solidFill>
                <a:latin typeface="Arial" pitchFamily="34" charset="0"/>
                <a:ea typeface="Arial" pitchFamily="34" charset="-122"/>
                <a:cs typeface="Arial" pitchFamily="34" charset="-120"/>
              </a:rPr>
              <a:t>Waste Classification</a:t>
            </a:r>
            <a:endParaRPr lang="en-US" sz="1250" dirty="0"/>
          </a:p>
        </p:txBody>
      </p:sp>
      <p:sp>
        <p:nvSpPr>
          <p:cNvPr id="10" name="Text 8"/>
          <p:cNvSpPr/>
          <p:nvPr/>
        </p:nvSpPr>
        <p:spPr>
          <a:xfrm>
            <a:off x="475488" y="2194560"/>
            <a:ext cx="2432304" cy="914400"/>
          </a:xfrm>
          <a:prstGeom prst="rect">
            <a:avLst/>
          </a:prstGeom>
          <a:noFill/>
          <a:ln/>
        </p:spPr>
        <p:txBody>
          <a:bodyPr wrap="square" rtlCol="0" anchor="t"/>
          <a:lstStyle/>
          <a:p>
            <a:pPr marL="0" indent="0">
              <a:buNone/>
            </a:pPr>
            <a:r>
              <a:rPr lang="en-US" sz="1050" dirty="0">
                <a:solidFill>
                  <a:srgbClr val="263238"/>
                </a:solidFill>
                <a:latin typeface="Calibri" pitchFamily="34" charset="0"/>
                <a:ea typeface="Calibri" pitchFamily="34" charset="-122"/>
                <a:cs typeface="Calibri" pitchFamily="34" charset="-120"/>
              </a:rPr>
              <a:t>Identify 500+ waste types from text description or photo upload with 92%+ accuracy</a:t>
            </a:r>
            <a:endParaRPr lang="en-US" sz="1050" dirty="0"/>
          </a:p>
        </p:txBody>
      </p:sp>
      <p:sp>
        <p:nvSpPr>
          <p:cNvPr id="11" name="Shape 9"/>
          <p:cNvSpPr/>
          <p:nvPr/>
        </p:nvSpPr>
        <p:spPr>
          <a:xfrm>
            <a:off x="3200400" y="1600200"/>
            <a:ext cx="2651760" cy="1600200"/>
          </a:xfrm>
          <a:prstGeom prst="roundRect">
            <a:avLst>
              <a:gd name="adj" fmla="val 6857"/>
            </a:avLst>
          </a:prstGeom>
          <a:solidFill>
            <a:srgbClr val="FFFFFF"/>
          </a:solidFill>
          <a:ln w="12700">
            <a:solidFill>
              <a:srgbClr val="388E3C">
                <a:alpha val="40000"/>
              </a:srgbClr>
            </a:solidFill>
            <a:prstDash val="solid"/>
          </a:ln>
          <a:effectLst>
            <a:outerShdw blurRad="101600" dist="38100" dir="2700000" algn="bl" rotWithShape="0">
              <a:srgbClr val="000000">
                <a:alpha val="12000"/>
              </a:srgbClr>
            </a:outerShdw>
          </a:effectLst>
        </p:spPr>
      </p:sp>
      <p:sp>
        <p:nvSpPr>
          <p:cNvPr id="12" name="Shape 10"/>
          <p:cNvSpPr/>
          <p:nvPr/>
        </p:nvSpPr>
        <p:spPr>
          <a:xfrm>
            <a:off x="3337560" y="1737360"/>
            <a:ext cx="548640" cy="548640"/>
          </a:xfrm>
          <a:prstGeom prst="ellipse">
            <a:avLst/>
          </a:prstGeom>
          <a:solidFill>
            <a:srgbClr val="388E3C">
              <a:alpha val="85000"/>
            </a:srgbClr>
          </a:solidFill>
          <a:ln w="12700">
            <a:solidFill>
              <a:srgbClr val="388E3C">
                <a:alpha val="85000"/>
              </a:srgbClr>
            </a:solidFill>
            <a:prstDash val="solid"/>
          </a:ln>
        </p:spPr>
      </p:sp>
      <p:sp>
        <p:nvSpPr>
          <p:cNvPr id="13" name="Text 11"/>
          <p:cNvSpPr/>
          <p:nvPr/>
        </p:nvSpPr>
        <p:spPr>
          <a:xfrm>
            <a:off x="3337560" y="1737360"/>
            <a:ext cx="548640" cy="54864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4" name="Text 12"/>
          <p:cNvSpPr/>
          <p:nvPr/>
        </p:nvSpPr>
        <p:spPr>
          <a:xfrm>
            <a:off x="3977640" y="1709928"/>
            <a:ext cx="1783080" cy="411480"/>
          </a:xfrm>
          <a:prstGeom prst="rect">
            <a:avLst/>
          </a:prstGeom>
          <a:noFill/>
          <a:ln/>
        </p:spPr>
        <p:txBody>
          <a:bodyPr wrap="square" rtlCol="0" anchor="ctr"/>
          <a:lstStyle/>
          <a:p>
            <a:pPr marL="0" indent="0">
              <a:buNone/>
            </a:pPr>
            <a:r>
              <a:rPr lang="en-US" sz="1250" b="1" dirty="0">
                <a:solidFill>
                  <a:srgbClr val="388E3C"/>
                </a:solidFill>
                <a:latin typeface="Arial" pitchFamily="34" charset="0"/>
                <a:ea typeface="Arial" pitchFamily="34" charset="-122"/>
                <a:cs typeface="Arial" pitchFamily="34" charset="-120"/>
              </a:rPr>
              <a:t>Disposal Guidance</a:t>
            </a:r>
            <a:endParaRPr lang="en-US" sz="1250" dirty="0"/>
          </a:p>
        </p:txBody>
      </p:sp>
      <p:sp>
        <p:nvSpPr>
          <p:cNvPr id="15" name="Text 13"/>
          <p:cNvSpPr/>
          <p:nvPr/>
        </p:nvSpPr>
        <p:spPr>
          <a:xfrm>
            <a:off x="3310128" y="2194560"/>
            <a:ext cx="2432304" cy="914400"/>
          </a:xfrm>
          <a:prstGeom prst="rect">
            <a:avLst/>
          </a:prstGeom>
          <a:noFill/>
          <a:ln/>
        </p:spPr>
        <p:txBody>
          <a:bodyPr wrap="square" rtlCol="0" anchor="t"/>
          <a:lstStyle/>
          <a:p>
            <a:pPr marL="0" indent="0">
              <a:buNone/>
            </a:pPr>
            <a:r>
              <a:rPr lang="en-US" sz="1050" dirty="0">
                <a:solidFill>
                  <a:srgbClr val="263238"/>
                </a:solidFill>
                <a:latin typeface="Calibri" pitchFamily="34" charset="0"/>
                <a:ea typeface="Calibri" pitchFamily="34" charset="-122"/>
                <a:cs typeface="Calibri" pitchFamily="34" charset="-120"/>
              </a:rPr>
              <a:t>Step-by-step bin selection and preparation instructions tailored to user location</a:t>
            </a:r>
            <a:endParaRPr lang="en-US" sz="1050" dirty="0"/>
          </a:p>
        </p:txBody>
      </p:sp>
      <p:sp>
        <p:nvSpPr>
          <p:cNvPr id="16" name="Shape 14"/>
          <p:cNvSpPr/>
          <p:nvPr/>
        </p:nvSpPr>
        <p:spPr>
          <a:xfrm>
            <a:off x="6035040" y="1600200"/>
            <a:ext cx="2651760" cy="1600200"/>
          </a:xfrm>
          <a:prstGeom prst="roundRect">
            <a:avLst>
              <a:gd name="adj" fmla="val 6857"/>
            </a:avLst>
          </a:prstGeom>
          <a:solidFill>
            <a:srgbClr val="FFFFFF"/>
          </a:solidFill>
          <a:ln w="12700">
            <a:solidFill>
              <a:srgbClr val="0097A7">
                <a:alpha val="40000"/>
              </a:srgbClr>
            </a:solidFill>
            <a:prstDash val="solid"/>
          </a:ln>
          <a:effectLst>
            <a:outerShdw blurRad="101600" dist="38100" dir="2700000" algn="bl" rotWithShape="0">
              <a:srgbClr val="000000">
                <a:alpha val="12000"/>
              </a:srgbClr>
            </a:outerShdw>
          </a:effectLst>
        </p:spPr>
      </p:sp>
      <p:sp>
        <p:nvSpPr>
          <p:cNvPr id="17" name="Shape 15"/>
          <p:cNvSpPr/>
          <p:nvPr/>
        </p:nvSpPr>
        <p:spPr>
          <a:xfrm>
            <a:off x="6172200" y="1737360"/>
            <a:ext cx="548640" cy="548640"/>
          </a:xfrm>
          <a:prstGeom prst="ellipse">
            <a:avLst/>
          </a:prstGeom>
          <a:solidFill>
            <a:srgbClr val="0097A7">
              <a:alpha val="85000"/>
            </a:srgbClr>
          </a:solidFill>
          <a:ln w="12700">
            <a:solidFill>
              <a:srgbClr val="0097A7">
                <a:alpha val="85000"/>
              </a:srgbClr>
            </a:solidFill>
            <a:prstDash val="solid"/>
          </a:ln>
        </p:spPr>
      </p:sp>
      <p:sp>
        <p:nvSpPr>
          <p:cNvPr id="18" name="Text 16"/>
          <p:cNvSpPr/>
          <p:nvPr/>
        </p:nvSpPr>
        <p:spPr>
          <a:xfrm>
            <a:off x="6172200" y="1737360"/>
            <a:ext cx="548640" cy="54864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9" name="Text 17"/>
          <p:cNvSpPr/>
          <p:nvPr/>
        </p:nvSpPr>
        <p:spPr>
          <a:xfrm>
            <a:off x="6812280" y="1709928"/>
            <a:ext cx="1783080" cy="411480"/>
          </a:xfrm>
          <a:prstGeom prst="rect">
            <a:avLst/>
          </a:prstGeom>
          <a:noFill/>
          <a:ln/>
        </p:spPr>
        <p:txBody>
          <a:bodyPr wrap="square" rtlCol="0" anchor="ctr"/>
          <a:lstStyle/>
          <a:p>
            <a:pPr marL="0" indent="0">
              <a:buNone/>
            </a:pPr>
            <a:r>
              <a:rPr lang="en-US" sz="1250" b="1" dirty="0">
                <a:solidFill>
                  <a:srgbClr val="0097A7"/>
                </a:solidFill>
                <a:latin typeface="Arial" pitchFamily="34" charset="0"/>
                <a:ea typeface="Arial" pitchFamily="34" charset="-122"/>
                <a:cs typeface="Arial" pitchFamily="34" charset="-120"/>
              </a:rPr>
              <a:t>Find Disposal Centers</a:t>
            </a:r>
            <a:endParaRPr lang="en-US" sz="1250" dirty="0"/>
          </a:p>
        </p:txBody>
      </p:sp>
      <p:sp>
        <p:nvSpPr>
          <p:cNvPr id="20" name="Text 18"/>
          <p:cNvSpPr/>
          <p:nvPr/>
        </p:nvSpPr>
        <p:spPr>
          <a:xfrm>
            <a:off x="6144768" y="2194560"/>
            <a:ext cx="2432304" cy="914400"/>
          </a:xfrm>
          <a:prstGeom prst="rect">
            <a:avLst/>
          </a:prstGeom>
          <a:noFill/>
          <a:ln/>
        </p:spPr>
        <p:txBody>
          <a:bodyPr wrap="square" rtlCol="0" anchor="t"/>
          <a:lstStyle/>
          <a:p>
            <a:pPr marL="0" indent="0">
              <a:buNone/>
            </a:pPr>
            <a:r>
              <a:rPr lang="en-US" sz="1050" dirty="0">
                <a:solidFill>
                  <a:srgbClr val="263238"/>
                </a:solidFill>
                <a:latin typeface="Calibri" pitchFamily="34" charset="0"/>
                <a:ea typeface="Calibri" pitchFamily="34" charset="-122"/>
                <a:cs typeface="Calibri" pitchFamily="34" charset="-120"/>
              </a:rPr>
              <a:t>Locate nearest certified recycling, e-waste, and hazardous waste facilities in real-time</a:t>
            </a:r>
            <a:endParaRPr lang="en-US" sz="1050" dirty="0"/>
          </a:p>
        </p:txBody>
      </p:sp>
      <p:sp>
        <p:nvSpPr>
          <p:cNvPr id="21" name="Shape 19"/>
          <p:cNvSpPr/>
          <p:nvPr/>
        </p:nvSpPr>
        <p:spPr>
          <a:xfrm>
            <a:off x="365760" y="3337560"/>
            <a:ext cx="2651760" cy="1600200"/>
          </a:xfrm>
          <a:prstGeom prst="roundRect">
            <a:avLst>
              <a:gd name="adj" fmla="val 6857"/>
            </a:avLst>
          </a:prstGeom>
          <a:solidFill>
            <a:srgbClr val="FFFFFF"/>
          </a:solidFill>
          <a:ln w="12700">
            <a:solidFill>
              <a:srgbClr val="FF8F00">
                <a:alpha val="40000"/>
              </a:srgbClr>
            </a:solidFill>
            <a:prstDash val="solid"/>
          </a:ln>
          <a:effectLst>
            <a:outerShdw blurRad="101600" dist="38100" dir="2700000" algn="bl" rotWithShape="0">
              <a:srgbClr val="000000">
                <a:alpha val="12000"/>
              </a:srgbClr>
            </a:outerShdw>
          </a:effectLst>
        </p:spPr>
      </p:sp>
      <p:sp>
        <p:nvSpPr>
          <p:cNvPr id="22" name="Shape 20"/>
          <p:cNvSpPr/>
          <p:nvPr/>
        </p:nvSpPr>
        <p:spPr>
          <a:xfrm>
            <a:off x="502920" y="3474720"/>
            <a:ext cx="548640" cy="548640"/>
          </a:xfrm>
          <a:prstGeom prst="ellipse">
            <a:avLst/>
          </a:prstGeom>
          <a:solidFill>
            <a:srgbClr val="FF8F00">
              <a:alpha val="85000"/>
            </a:srgbClr>
          </a:solidFill>
          <a:ln w="12700">
            <a:solidFill>
              <a:srgbClr val="FF8F00">
                <a:alpha val="85000"/>
              </a:srgbClr>
            </a:solidFill>
            <a:prstDash val="solid"/>
          </a:ln>
        </p:spPr>
      </p:sp>
      <p:sp>
        <p:nvSpPr>
          <p:cNvPr id="23" name="Text 21"/>
          <p:cNvSpPr/>
          <p:nvPr/>
        </p:nvSpPr>
        <p:spPr>
          <a:xfrm>
            <a:off x="502920" y="3474720"/>
            <a:ext cx="548640" cy="54864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24" name="Text 22"/>
          <p:cNvSpPr/>
          <p:nvPr/>
        </p:nvSpPr>
        <p:spPr>
          <a:xfrm>
            <a:off x="1143000" y="3447288"/>
            <a:ext cx="1783080" cy="411480"/>
          </a:xfrm>
          <a:prstGeom prst="rect">
            <a:avLst/>
          </a:prstGeom>
          <a:noFill/>
          <a:ln/>
        </p:spPr>
        <p:txBody>
          <a:bodyPr wrap="square" rtlCol="0" anchor="ctr"/>
          <a:lstStyle/>
          <a:p>
            <a:pPr marL="0" indent="0">
              <a:buNone/>
            </a:pPr>
            <a:r>
              <a:rPr lang="en-US" sz="1250" b="1" dirty="0">
                <a:solidFill>
                  <a:srgbClr val="FF8F00"/>
                </a:solidFill>
                <a:latin typeface="Arial" pitchFamily="34" charset="0"/>
                <a:ea typeface="Arial" pitchFamily="34" charset="-122"/>
                <a:cs typeface="Arial" pitchFamily="34" charset="-120"/>
              </a:rPr>
              <a:t>Multilingual</a:t>
            </a:r>
            <a:endParaRPr lang="en-US" sz="1250" dirty="0"/>
          </a:p>
        </p:txBody>
      </p:sp>
      <p:sp>
        <p:nvSpPr>
          <p:cNvPr id="25" name="Text 23"/>
          <p:cNvSpPr/>
          <p:nvPr/>
        </p:nvSpPr>
        <p:spPr>
          <a:xfrm>
            <a:off x="475488" y="3931920"/>
            <a:ext cx="2432304" cy="914400"/>
          </a:xfrm>
          <a:prstGeom prst="rect">
            <a:avLst/>
          </a:prstGeom>
          <a:noFill/>
          <a:ln/>
        </p:spPr>
        <p:txBody>
          <a:bodyPr wrap="square" rtlCol="0" anchor="t"/>
          <a:lstStyle/>
          <a:p>
            <a:pPr marL="0" indent="0">
              <a:buNone/>
            </a:pPr>
            <a:r>
              <a:rPr lang="en-US" sz="1050" dirty="0">
                <a:solidFill>
                  <a:srgbClr val="263238"/>
                </a:solidFill>
                <a:latin typeface="Calibri" pitchFamily="34" charset="0"/>
                <a:ea typeface="Calibri" pitchFamily="34" charset="-122"/>
                <a:cs typeface="Calibri" pitchFamily="34" charset="-120"/>
              </a:rPr>
              <a:t>Full support for 10+ Indian languages plus English for maximum accessibility</a:t>
            </a:r>
            <a:endParaRPr lang="en-US" sz="1050" dirty="0"/>
          </a:p>
        </p:txBody>
      </p:sp>
      <p:sp>
        <p:nvSpPr>
          <p:cNvPr id="26" name="Shape 24"/>
          <p:cNvSpPr/>
          <p:nvPr/>
        </p:nvSpPr>
        <p:spPr>
          <a:xfrm>
            <a:off x="3200400" y="3337560"/>
            <a:ext cx="2651760" cy="1600200"/>
          </a:xfrm>
          <a:prstGeom prst="roundRect">
            <a:avLst>
              <a:gd name="adj" fmla="val 6857"/>
            </a:avLst>
          </a:prstGeom>
          <a:solidFill>
            <a:srgbClr val="FFFFFF"/>
          </a:solidFill>
          <a:ln w="12700">
            <a:solidFill>
              <a:srgbClr val="E64A19">
                <a:alpha val="40000"/>
              </a:srgbClr>
            </a:solidFill>
            <a:prstDash val="solid"/>
          </a:ln>
          <a:effectLst>
            <a:outerShdw blurRad="101600" dist="38100" dir="2700000" algn="bl" rotWithShape="0">
              <a:srgbClr val="000000">
                <a:alpha val="12000"/>
              </a:srgbClr>
            </a:outerShdw>
          </a:effectLst>
        </p:spPr>
      </p:sp>
      <p:sp>
        <p:nvSpPr>
          <p:cNvPr id="27" name="Shape 25"/>
          <p:cNvSpPr/>
          <p:nvPr/>
        </p:nvSpPr>
        <p:spPr>
          <a:xfrm>
            <a:off x="3337560" y="3474720"/>
            <a:ext cx="548640" cy="548640"/>
          </a:xfrm>
          <a:prstGeom prst="ellipse">
            <a:avLst/>
          </a:prstGeom>
          <a:solidFill>
            <a:srgbClr val="E64A19">
              <a:alpha val="85000"/>
            </a:srgbClr>
          </a:solidFill>
          <a:ln w="12700">
            <a:solidFill>
              <a:srgbClr val="E64A19">
                <a:alpha val="85000"/>
              </a:srgbClr>
            </a:solidFill>
            <a:prstDash val="solid"/>
          </a:ln>
        </p:spPr>
      </p:sp>
      <p:sp>
        <p:nvSpPr>
          <p:cNvPr id="28" name="Text 26"/>
          <p:cNvSpPr/>
          <p:nvPr/>
        </p:nvSpPr>
        <p:spPr>
          <a:xfrm>
            <a:off x="3337560" y="3474720"/>
            <a:ext cx="548640" cy="54864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29" name="Text 27"/>
          <p:cNvSpPr/>
          <p:nvPr/>
        </p:nvSpPr>
        <p:spPr>
          <a:xfrm>
            <a:off x="3977640" y="3447288"/>
            <a:ext cx="1783080" cy="411480"/>
          </a:xfrm>
          <a:prstGeom prst="rect">
            <a:avLst/>
          </a:prstGeom>
          <a:noFill/>
          <a:ln/>
        </p:spPr>
        <p:txBody>
          <a:bodyPr wrap="square" rtlCol="0" anchor="ctr"/>
          <a:lstStyle/>
          <a:p>
            <a:pPr marL="0" indent="0">
              <a:buNone/>
            </a:pPr>
            <a:r>
              <a:rPr lang="en-US" sz="1250" b="1" dirty="0">
                <a:solidFill>
                  <a:srgbClr val="E64A19"/>
                </a:solidFill>
                <a:latin typeface="Arial" pitchFamily="34" charset="0"/>
                <a:ea typeface="Arial" pitchFamily="34" charset="-122"/>
                <a:cs typeface="Arial" pitchFamily="34" charset="-120"/>
              </a:rPr>
              <a:t>Gamification</a:t>
            </a:r>
            <a:endParaRPr lang="en-US" sz="1250" dirty="0"/>
          </a:p>
        </p:txBody>
      </p:sp>
      <p:sp>
        <p:nvSpPr>
          <p:cNvPr id="30" name="Text 28"/>
          <p:cNvSpPr/>
          <p:nvPr/>
        </p:nvSpPr>
        <p:spPr>
          <a:xfrm>
            <a:off x="3310128" y="3931920"/>
            <a:ext cx="2432304" cy="914400"/>
          </a:xfrm>
          <a:prstGeom prst="rect">
            <a:avLst/>
          </a:prstGeom>
          <a:noFill/>
          <a:ln/>
        </p:spPr>
        <p:txBody>
          <a:bodyPr wrap="square" rtlCol="0" anchor="t"/>
          <a:lstStyle/>
          <a:p>
            <a:pPr marL="0" indent="0">
              <a:buNone/>
            </a:pPr>
            <a:r>
              <a:rPr lang="en-US" sz="1050" dirty="0">
                <a:solidFill>
                  <a:srgbClr val="263238"/>
                </a:solidFill>
                <a:latin typeface="Calibri" pitchFamily="34" charset="0"/>
                <a:ea typeface="Calibri" pitchFamily="34" charset="-122"/>
                <a:cs typeface="Calibri" pitchFamily="34" charset="-120"/>
              </a:rPr>
              <a:t>EcoScore, badges, challenges, and leaderboards to drive long-term behavior change</a:t>
            </a:r>
            <a:endParaRPr lang="en-US" sz="1050" dirty="0"/>
          </a:p>
        </p:txBody>
      </p:sp>
      <p:sp>
        <p:nvSpPr>
          <p:cNvPr id="31" name="Shape 29"/>
          <p:cNvSpPr/>
          <p:nvPr/>
        </p:nvSpPr>
        <p:spPr>
          <a:xfrm>
            <a:off x="6035040" y="3337560"/>
            <a:ext cx="2651760" cy="1600200"/>
          </a:xfrm>
          <a:prstGeom prst="roundRect">
            <a:avLst>
              <a:gd name="adj" fmla="val 6857"/>
            </a:avLst>
          </a:prstGeom>
          <a:solidFill>
            <a:srgbClr val="FFFFFF"/>
          </a:solidFill>
          <a:ln w="12700">
            <a:solidFill>
              <a:srgbClr val="5C6BC0">
                <a:alpha val="40000"/>
              </a:srgbClr>
            </a:solidFill>
            <a:prstDash val="solid"/>
          </a:ln>
          <a:effectLst>
            <a:outerShdw blurRad="101600" dist="38100" dir="2700000" algn="bl" rotWithShape="0">
              <a:srgbClr val="000000">
                <a:alpha val="12000"/>
              </a:srgbClr>
            </a:outerShdw>
          </a:effectLst>
        </p:spPr>
      </p:sp>
      <p:sp>
        <p:nvSpPr>
          <p:cNvPr id="32" name="Shape 30"/>
          <p:cNvSpPr/>
          <p:nvPr/>
        </p:nvSpPr>
        <p:spPr>
          <a:xfrm>
            <a:off x="6172200" y="3474720"/>
            <a:ext cx="548640" cy="548640"/>
          </a:xfrm>
          <a:prstGeom prst="ellipse">
            <a:avLst/>
          </a:prstGeom>
          <a:solidFill>
            <a:srgbClr val="5C6BC0">
              <a:alpha val="85000"/>
            </a:srgbClr>
          </a:solidFill>
          <a:ln w="12700">
            <a:solidFill>
              <a:srgbClr val="5C6BC0">
                <a:alpha val="85000"/>
              </a:srgbClr>
            </a:solidFill>
            <a:prstDash val="solid"/>
          </a:ln>
        </p:spPr>
      </p:sp>
      <p:sp>
        <p:nvSpPr>
          <p:cNvPr id="33" name="Text 31"/>
          <p:cNvSpPr/>
          <p:nvPr/>
        </p:nvSpPr>
        <p:spPr>
          <a:xfrm>
            <a:off x="6172200" y="3474720"/>
            <a:ext cx="548640" cy="54864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34" name="Text 32"/>
          <p:cNvSpPr/>
          <p:nvPr/>
        </p:nvSpPr>
        <p:spPr>
          <a:xfrm>
            <a:off x="6812280" y="3447288"/>
            <a:ext cx="1783080" cy="411480"/>
          </a:xfrm>
          <a:prstGeom prst="rect">
            <a:avLst/>
          </a:prstGeom>
          <a:noFill/>
          <a:ln/>
        </p:spPr>
        <p:txBody>
          <a:bodyPr wrap="square" rtlCol="0" anchor="ctr"/>
          <a:lstStyle/>
          <a:p>
            <a:pPr marL="0" indent="0">
              <a:buNone/>
            </a:pPr>
            <a:r>
              <a:rPr lang="en-US" sz="1250" b="1" dirty="0">
                <a:solidFill>
                  <a:srgbClr val="5C6BC0"/>
                </a:solidFill>
                <a:latin typeface="Arial" pitchFamily="34" charset="0"/>
                <a:ea typeface="Arial" pitchFamily="34" charset="-122"/>
                <a:cs typeface="Arial" pitchFamily="34" charset="-120"/>
              </a:rPr>
              <a:t>Analytics</a:t>
            </a:r>
            <a:endParaRPr lang="en-US" sz="1250" dirty="0"/>
          </a:p>
        </p:txBody>
      </p:sp>
      <p:sp>
        <p:nvSpPr>
          <p:cNvPr id="35" name="Text 33"/>
          <p:cNvSpPr/>
          <p:nvPr/>
        </p:nvSpPr>
        <p:spPr>
          <a:xfrm>
            <a:off x="6144768" y="3931920"/>
            <a:ext cx="2432304" cy="914400"/>
          </a:xfrm>
          <a:prstGeom prst="rect">
            <a:avLst/>
          </a:prstGeom>
          <a:noFill/>
          <a:ln/>
        </p:spPr>
        <p:txBody>
          <a:bodyPr wrap="square" rtlCol="0" anchor="t"/>
          <a:lstStyle/>
          <a:p>
            <a:pPr marL="0" indent="0">
              <a:buNone/>
            </a:pPr>
            <a:r>
              <a:rPr lang="en-US" sz="1050" dirty="0">
                <a:solidFill>
                  <a:srgbClr val="263238"/>
                </a:solidFill>
                <a:latin typeface="Calibri" pitchFamily="34" charset="0"/>
                <a:ea typeface="Calibri" pitchFamily="34" charset="-122"/>
                <a:cs typeface="Calibri" pitchFamily="34" charset="-120"/>
              </a:rPr>
              <a:t>Personal waste reduction tracking with visual progress dashboard and community metrics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63238"/>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5E20"/>
          </a:solidFill>
          <a:ln w="12700">
            <a:solidFill>
              <a:srgbClr val="1B5E20"/>
            </a:solidFill>
            <a:prstDash val="solid"/>
          </a:ln>
        </p:spPr>
      </p:sp>
      <p:sp>
        <p:nvSpPr>
          <p:cNvPr id="3" name="Text 1"/>
          <p:cNvSpPr/>
          <p:nvPr/>
        </p:nvSpPr>
        <p:spPr>
          <a:xfrm>
            <a:off x="365760" y="0"/>
            <a:ext cx="8412480" cy="822960"/>
          </a:xfrm>
          <a:prstGeom prst="rect">
            <a:avLst/>
          </a:prstGeom>
          <a:noFill/>
          <a:ln/>
        </p:spPr>
        <p:txBody>
          <a:bodyPr wrap="square" rtlCol="0" anchor="ctr"/>
          <a:lstStyle/>
          <a:p>
            <a:pPr marL="0" indent="0">
              <a:buNone/>
            </a:pPr>
            <a:r>
              <a:rPr lang="en-US" sz="2800" b="1" dirty="0">
                <a:solidFill>
                  <a:srgbClr val="FFFFFF"/>
                </a:solidFill>
                <a:latin typeface="Arial" pitchFamily="34" charset="0"/>
                <a:ea typeface="Arial" pitchFamily="34" charset="-122"/>
                <a:cs typeface="Arial" pitchFamily="34" charset="-120"/>
              </a:rPr>
              <a:t>System Architecture</a:t>
            </a:r>
            <a:endParaRPr lang="en-US" sz="2800" dirty="0"/>
          </a:p>
        </p:txBody>
      </p:sp>
      <p:sp>
        <p:nvSpPr>
          <p:cNvPr id="4" name="Text 2"/>
          <p:cNvSpPr/>
          <p:nvPr/>
        </p:nvSpPr>
        <p:spPr>
          <a:xfrm>
            <a:off x="7772400" y="91440"/>
            <a:ext cx="1188720" cy="320040"/>
          </a:xfrm>
          <a:prstGeom prst="rect">
            <a:avLst/>
          </a:prstGeom>
          <a:noFill/>
          <a:ln/>
        </p:spPr>
        <p:txBody>
          <a:bodyPr wrap="square" rtlCol="0" anchor="ctr"/>
          <a:lstStyle/>
          <a:p>
            <a:pPr marL="0" indent="0" algn="r">
              <a:buNone/>
            </a:pPr>
            <a:r>
              <a:rPr lang="en-US" sz="900" dirty="0">
                <a:solidFill>
                  <a:srgbClr val="C8E6C9"/>
                </a:solidFill>
                <a:latin typeface="Calibri" pitchFamily="34" charset="0"/>
                <a:ea typeface="Calibri" pitchFamily="34" charset="-122"/>
                <a:cs typeface="Calibri" pitchFamily="34" charset="-120"/>
              </a:rPr>
              <a:t>SLIDE 6 of 12</a:t>
            </a:r>
            <a:endParaRPr lang="en-US" sz="900" dirty="0"/>
          </a:p>
        </p:txBody>
      </p:sp>
      <p:sp>
        <p:nvSpPr>
          <p:cNvPr id="5" name="Shape 3"/>
          <p:cNvSpPr/>
          <p:nvPr/>
        </p:nvSpPr>
        <p:spPr>
          <a:xfrm>
            <a:off x="365760" y="1005840"/>
            <a:ext cx="8412480" cy="1234440"/>
          </a:xfrm>
          <a:prstGeom prst="roundRect">
            <a:avLst>
              <a:gd name="adj" fmla="val 8889"/>
            </a:avLst>
          </a:prstGeom>
          <a:solidFill>
            <a:srgbClr val="1C2730"/>
          </a:solidFill>
          <a:ln w="12700">
            <a:solidFill>
              <a:srgbClr val="00BCD4">
                <a:alpha val="60000"/>
              </a:srgbClr>
            </a:solidFill>
            <a:prstDash val="solid"/>
          </a:ln>
          <a:effectLst>
            <a:outerShdw blurRad="101600" dist="38100" dir="2700000" algn="bl" rotWithShape="0">
              <a:srgbClr val="000000">
                <a:alpha val="12000"/>
              </a:srgbClr>
            </a:outerShdw>
          </a:effectLst>
        </p:spPr>
      </p:sp>
      <p:sp>
        <p:nvSpPr>
          <p:cNvPr id="6" name="Shape 4"/>
          <p:cNvSpPr/>
          <p:nvPr/>
        </p:nvSpPr>
        <p:spPr>
          <a:xfrm>
            <a:off x="365760" y="1005840"/>
            <a:ext cx="2011680" cy="1234440"/>
          </a:xfrm>
          <a:prstGeom prst="roundRect">
            <a:avLst>
              <a:gd name="adj" fmla="val 8889"/>
            </a:avLst>
          </a:prstGeom>
          <a:solidFill>
            <a:srgbClr val="00BCD4">
              <a:alpha val="80000"/>
            </a:srgbClr>
          </a:solidFill>
          <a:ln w="12700">
            <a:solidFill>
              <a:srgbClr val="00BCD4">
                <a:alpha val="80000"/>
              </a:srgbClr>
            </a:solidFill>
            <a:prstDash val="solid"/>
          </a:ln>
        </p:spPr>
      </p:sp>
      <p:sp>
        <p:nvSpPr>
          <p:cNvPr id="7" name="Text 5"/>
          <p:cNvSpPr/>
          <p:nvPr/>
        </p:nvSpPr>
        <p:spPr>
          <a:xfrm>
            <a:off x="411480" y="1005840"/>
            <a:ext cx="1920240" cy="1234440"/>
          </a:xfrm>
          <a:prstGeom prst="rect">
            <a:avLst/>
          </a:prstGeom>
          <a:noFill/>
          <a:ln/>
        </p:spPr>
        <p:txBody>
          <a:bodyPr wrap="square"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Layer 1: User Interface</a:t>
            </a:r>
            <a:endParaRPr lang="en-US" sz="1150" dirty="0"/>
          </a:p>
        </p:txBody>
      </p:sp>
      <p:sp>
        <p:nvSpPr>
          <p:cNvPr id="8" name="Shape 6"/>
          <p:cNvSpPr/>
          <p:nvPr/>
        </p:nvSpPr>
        <p:spPr>
          <a:xfrm>
            <a:off x="2560320" y="1188720"/>
            <a:ext cx="1417320" cy="868680"/>
          </a:xfrm>
          <a:prstGeom prst="roundRect">
            <a:avLst>
              <a:gd name="adj" fmla="val 8421"/>
            </a:avLst>
          </a:prstGeom>
          <a:solidFill>
            <a:srgbClr val="00BCD4">
              <a:alpha val="25000"/>
            </a:srgbClr>
          </a:solidFill>
          <a:ln w="12700">
            <a:solidFill>
              <a:srgbClr val="00BCD4">
                <a:alpha val="50000"/>
              </a:srgbClr>
            </a:solidFill>
            <a:prstDash val="solid"/>
          </a:ln>
          <a:effectLst>
            <a:outerShdw blurRad="101600" dist="38100" dir="2700000" algn="bl" rotWithShape="0">
              <a:srgbClr val="000000">
                <a:alpha val="12000"/>
              </a:srgbClr>
            </a:outerShdw>
          </a:effectLst>
        </p:spPr>
      </p:sp>
      <p:sp>
        <p:nvSpPr>
          <p:cNvPr id="9" name="Text 7"/>
          <p:cNvSpPr/>
          <p:nvPr/>
        </p:nvSpPr>
        <p:spPr>
          <a:xfrm>
            <a:off x="2560320" y="1188720"/>
            <a:ext cx="1417320" cy="8686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Web Chat</a:t>
            </a:r>
            <a:endParaRPr lang="en-US" sz="1000" dirty="0"/>
          </a:p>
        </p:txBody>
      </p:sp>
      <p:sp>
        <p:nvSpPr>
          <p:cNvPr id="10" name="Shape 8"/>
          <p:cNvSpPr/>
          <p:nvPr/>
        </p:nvSpPr>
        <p:spPr>
          <a:xfrm>
            <a:off x="4114800" y="1188720"/>
            <a:ext cx="1417320" cy="868680"/>
          </a:xfrm>
          <a:prstGeom prst="roundRect">
            <a:avLst>
              <a:gd name="adj" fmla="val 8421"/>
            </a:avLst>
          </a:prstGeom>
          <a:solidFill>
            <a:srgbClr val="00BCD4">
              <a:alpha val="25000"/>
            </a:srgbClr>
          </a:solidFill>
          <a:ln w="12700">
            <a:solidFill>
              <a:srgbClr val="00BCD4">
                <a:alpha val="50000"/>
              </a:srgbClr>
            </a:solidFill>
            <a:prstDash val="solid"/>
          </a:ln>
          <a:effectLst>
            <a:outerShdw blurRad="101600" dist="38100" dir="2700000" algn="bl" rotWithShape="0">
              <a:srgbClr val="000000">
                <a:alpha val="12000"/>
              </a:srgbClr>
            </a:outerShdw>
          </a:effectLst>
        </p:spPr>
      </p:sp>
      <p:sp>
        <p:nvSpPr>
          <p:cNvPr id="11" name="Text 9"/>
          <p:cNvSpPr/>
          <p:nvPr/>
        </p:nvSpPr>
        <p:spPr>
          <a:xfrm>
            <a:off x="4114800" y="1188720"/>
            <a:ext cx="1417320" cy="8686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Mobile App</a:t>
            </a:r>
            <a:endParaRPr lang="en-US" sz="1000" dirty="0"/>
          </a:p>
        </p:txBody>
      </p:sp>
      <p:sp>
        <p:nvSpPr>
          <p:cNvPr id="12" name="Shape 10"/>
          <p:cNvSpPr/>
          <p:nvPr/>
        </p:nvSpPr>
        <p:spPr>
          <a:xfrm>
            <a:off x="5669280" y="1188720"/>
            <a:ext cx="1417320" cy="868680"/>
          </a:xfrm>
          <a:prstGeom prst="roundRect">
            <a:avLst>
              <a:gd name="adj" fmla="val 8421"/>
            </a:avLst>
          </a:prstGeom>
          <a:solidFill>
            <a:srgbClr val="00BCD4">
              <a:alpha val="25000"/>
            </a:srgbClr>
          </a:solidFill>
          <a:ln w="12700">
            <a:solidFill>
              <a:srgbClr val="00BCD4">
                <a:alpha val="50000"/>
              </a:srgbClr>
            </a:solidFill>
            <a:prstDash val="solid"/>
          </a:ln>
          <a:effectLst>
            <a:outerShdw blurRad="101600" dist="38100" dir="2700000" algn="bl" rotWithShape="0">
              <a:srgbClr val="000000">
                <a:alpha val="12000"/>
              </a:srgbClr>
            </a:outerShdw>
          </a:effectLst>
        </p:spPr>
      </p:sp>
      <p:sp>
        <p:nvSpPr>
          <p:cNvPr id="13" name="Text 11"/>
          <p:cNvSpPr/>
          <p:nvPr/>
        </p:nvSpPr>
        <p:spPr>
          <a:xfrm>
            <a:off x="5669280" y="1188720"/>
            <a:ext cx="1417320" cy="8686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WhatsApp Bot</a:t>
            </a:r>
            <a:endParaRPr lang="en-US" sz="1000" dirty="0"/>
          </a:p>
        </p:txBody>
      </p:sp>
      <p:sp>
        <p:nvSpPr>
          <p:cNvPr id="14" name="Shape 12"/>
          <p:cNvSpPr/>
          <p:nvPr/>
        </p:nvSpPr>
        <p:spPr>
          <a:xfrm>
            <a:off x="7223760" y="1188720"/>
            <a:ext cx="1417320" cy="868680"/>
          </a:xfrm>
          <a:prstGeom prst="roundRect">
            <a:avLst>
              <a:gd name="adj" fmla="val 8421"/>
            </a:avLst>
          </a:prstGeom>
          <a:solidFill>
            <a:srgbClr val="00BCD4">
              <a:alpha val="25000"/>
            </a:srgbClr>
          </a:solidFill>
          <a:ln w="12700">
            <a:solidFill>
              <a:srgbClr val="00BCD4">
                <a:alpha val="50000"/>
              </a:srgbClr>
            </a:solidFill>
            <a:prstDash val="solid"/>
          </a:ln>
          <a:effectLst>
            <a:outerShdw blurRad="101600" dist="38100" dir="2700000" algn="bl" rotWithShape="0">
              <a:srgbClr val="000000">
                <a:alpha val="12000"/>
              </a:srgbClr>
            </a:outerShdw>
          </a:effectLst>
        </p:spPr>
      </p:sp>
      <p:sp>
        <p:nvSpPr>
          <p:cNvPr id="15" name="Text 13"/>
          <p:cNvSpPr/>
          <p:nvPr/>
        </p:nvSpPr>
        <p:spPr>
          <a:xfrm>
            <a:off x="7223760" y="1188720"/>
            <a:ext cx="1417320" cy="8686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Voice Interface</a:t>
            </a:r>
            <a:endParaRPr lang="en-US" sz="1000" dirty="0"/>
          </a:p>
        </p:txBody>
      </p:sp>
      <p:sp>
        <p:nvSpPr>
          <p:cNvPr id="16" name="Shape 14"/>
          <p:cNvSpPr/>
          <p:nvPr/>
        </p:nvSpPr>
        <p:spPr>
          <a:xfrm>
            <a:off x="4389120" y="2240280"/>
            <a:ext cx="0" cy="137160"/>
          </a:xfrm>
          <a:prstGeom prst="line">
            <a:avLst/>
          </a:prstGeom>
          <a:noFill/>
          <a:ln w="25400">
            <a:solidFill>
              <a:srgbClr val="00BCD4"/>
            </a:solidFill>
            <a:prstDash val="sysDash"/>
          </a:ln>
        </p:spPr>
      </p:sp>
      <p:sp>
        <p:nvSpPr>
          <p:cNvPr id="17" name="Shape 15"/>
          <p:cNvSpPr/>
          <p:nvPr/>
        </p:nvSpPr>
        <p:spPr>
          <a:xfrm>
            <a:off x="365760" y="2377440"/>
            <a:ext cx="8412480" cy="1234440"/>
          </a:xfrm>
          <a:prstGeom prst="roundRect">
            <a:avLst>
              <a:gd name="adj" fmla="val 8889"/>
            </a:avLst>
          </a:prstGeom>
          <a:solidFill>
            <a:srgbClr val="1C2730"/>
          </a:solidFill>
          <a:ln w="12700">
            <a:solidFill>
              <a:srgbClr val="4CAF50">
                <a:alpha val="60000"/>
              </a:srgbClr>
            </a:solidFill>
            <a:prstDash val="solid"/>
          </a:ln>
          <a:effectLst>
            <a:outerShdw blurRad="101600" dist="38100" dir="2700000" algn="bl" rotWithShape="0">
              <a:srgbClr val="000000">
                <a:alpha val="12000"/>
              </a:srgbClr>
            </a:outerShdw>
          </a:effectLst>
        </p:spPr>
      </p:sp>
      <p:sp>
        <p:nvSpPr>
          <p:cNvPr id="18" name="Shape 16"/>
          <p:cNvSpPr/>
          <p:nvPr/>
        </p:nvSpPr>
        <p:spPr>
          <a:xfrm>
            <a:off x="365760" y="2377440"/>
            <a:ext cx="2011680" cy="1234440"/>
          </a:xfrm>
          <a:prstGeom prst="roundRect">
            <a:avLst>
              <a:gd name="adj" fmla="val 8889"/>
            </a:avLst>
          </a:prstGeom>
          <a:solidFill>
            <a:srgbClr val="4CAF50">
              <a:alpha val="80000"/>
            </a:srgbClr>
          </a:solidFill>
          <a:ln w="12700">
            <a:solidFill>
              <a:srgbClr val="4CAF50">
                <a:alpha val="80000"/>
              </a:srgbClr>
            </a:solidFill>
            <a:prstDash val="solid"/>
          </a:ln>
        </p:spPr>
      </p:sp>
      <p:sp>
        <p:nvSpPr>
          <p:cNvPr id="19" name="Text 17"/>
          <p:cNvSpPr/>
          <p:nvPr/>
        </p:nvSpPr>
        <p:spPr>
          <a:xfrm>
            <a:off x="411480" y="2377440"/>
            <a:ext cx="1920240" cy="1234440"/>
          </a:xfrm>
          <a:prstGeom prst="rect">
            <a:avLst/>
          </a:prstGeom>
          <a:noFill/>
          <a:ln/>
        </p:spPr>
        <p:txBody>
          <a:bodyPr wrap="square"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Layer 2: AI Processing (IBM watsonx.ai)</a:t>
            </a:r>
            <a:endParaRPr lang="en-US" sz="1150" dirty="0"/>
          </a:p>
        </p:txBody>
      </p:sp>
      <p:sp>
        <p:nvSpPr>
          <p:cNvPr id="20" name="Shape 18"/>
          <p:cNvSpPr/>
          <p:nvPr/>
        </p:nvSpPr>
        <p:spPr>
          <a:xfrm>
            <a:off x="2560320" y="2560320"/>
            <a:ext cx="1417320" cy="868680"/>
          </a:xfrm>
          <a:prstGeom prst="roundRect">
            <a:avLst>
              <a:gd name="adj" fmla="val 8421"/>
            </a:avLst>
          </a:prstGeom>
          <a:solidFill>
            <a:srgbClr val="4CAF50">
              <a:alpha val="25000"/>
            </a:srgbClr>
          </a:solidFill>
          <a:ln w="12700">
            <a:solidFill>
              <a:srgbClr val="4CAF50">
                <a:alpha val="50000"/>
              </a:srgbClr>
            </a:solidFill>
            <a:prstDash val="solid"/>
          </a:ln>
          <a:effectLst>
            <a:outerShdw blurRad="101600" dist="38100" dir="2700000" algn="bl" rotWithShape="0">
              <a:srgbClr val="000000">
                <a:alpha val="12000"/>
              </a:srgbClr>
            </a:outerShdw>
          </a:effectLst>
        </p:spPr>
      </p:sp>
      <p:sp>
        <p:nvSpPr>
          <p:cNvPr id="21" name="Text 19"/>
          <p:cNvSpPr/>
          <p:nvPr/>
        </p:nvSpPr>
        <p:spPr>
          <a:xfrm>
            <a:off x="2560320" y="2560320"/>
            <a:ext cx="1417320" cy="8686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Intent Classifier</a:t>
            </a:r>
            <a:endParaRPr lang="en-US" sz="1000" dirty="0"/>
          </a:p>
        </p:txBody>
      </p:sp>
      <p:sp>
        <p:nvSpPr>
          <p:cNvPr id="22" name="Shape 20"/>
          <p:cNvSpPr/>
          <p:nvPr/>
        </p:nvSpPr>
        <p:spPr>
          <a:xfrm>
            <a:off x="4114800" y="2560320"/>
            <a:ext cx="1417320" cy="868680"/>
          </a:xfrm>
          <a:prstGeom prst="roundRect">
            <a:avLst>
              <a:gd name="adj" fmla="val 8421"/>
            </a:avLst>
          </a:prstGeom>
          <a:solidFill>
            <a:srgbClr val="4CAF50">
              <a:alpha val="25000"/>
            </a:srgbClr>
          </a:solidFill>
          <a:ln w="12700">
            <a:solidFill>
              <a:srgbClr val="4CAF50">
                <a:alpha val="50000"/>
              </a:srgbClr>
            </a:solidFill>
            <a:prstDash val="solid"/>
          </a:ln>
          <a:effectLst>
            <a:outerShdw blurRad="101600" dist="38100" dir="2700000" algn="bl" rotWithShape="0">
              <a:srgbClr val="000000">
                <a:alpha val="12000"/>
              </a:srgbClr>
            </a:outerShdw>
          </a:effectLst>
        </p:spPr>
      </p:sp>
      <p:sp>
        <p:nvSpPr>
          <p:cNvPr id="23" name="Text 21"/>
          <p:cNvSpPr/>
          <p:nvPr/>
        </p:nvSpPr>
        <p:spPr>
          <a:xfrm>
            <a:off x="4114800" y="2560320"/>
            <a:ext cx="1417320" cy="8686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NLP Engine</a:t>
            </a:r>
            <a:endParaRPr lang="en-US" sz="1000" dirty="0"/>
          </a:p>
        </p:txBody>
      </p:sp>
      <p:sp>
        <p:nvSpPr>
          <p:cNvPr id="24" name="Shape 22"/>
          <p:cNvSpPr/>
          <p:nvPr/>
        </p:nvSpPr>
        <p:spPr>
          <a:xfrm>
            <a:off x="5669280" y="2560320"/>
            <a:ext cx="1417320" cy="868680"/>
          </a:xfrm>
          <a:prstGeom prst="roundRect">
            <a:avLst>
              <a:gd name="adj" fmla="val 8421"/>
            </a:avLst>
          </a:prstGeom>
          <a:solidFill>
            <a:srgbClr val="4CAF50">
              <a:alpha val="25000"/>
            </a:srgbClr>
          </a:solidFill>
          <a:ln w="12700">
            <a:solidFill>
              <a:srgbClr val="4CAF50">
                <a:alpha val="50000"/>
              </a:srgbClr>
            </a:solidFill>
            <a:prstDash val="solid"/>
          </a:ln>
          <a:effectLst>
            <a:outerShdw blurRad="101600" dist="38100" dir="2700000" algn="bl" rotWithShape="0">
              <a:srgbClr val="000000">
                <a:alpha val="12000"/>
              </a:srgbClr>
            </a:outerShdw>
          </a:effectLst>
        </p:spPr>
      </p:sp>
      <p:sp>
        <p:nvSpPr>
          <p:cNvPr id="25" name="Text 23"/>
          <p:cNvSpPr/>
          <p:nvPr/>
        </p:nvSpPr>
        <p:spPr>
          <a:xfrm>
            <a:off x="5669280" y="2560320"/>
            <a:ext cx="1417320" cy="8686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Image Recognition</a:t>
            </a:r>
            <a:endParaRPr lang="en-US" sz="1000" dirty="0"/>
          </a:p>
        </p:txBody>
      </p:sp>
      <p:sp>
        <p:nvSpPr>
          <p:cNvPr id="26" name="Shape 24"/>
          <p:cNvSpPr/>
          <p:nvPr/>
        </p:nvSpPr>
        <p:spPr>
          <a:xfrm>
            <a:off x="7223760" y="2560320"/>
            <a:ext cx="1417320" cy="868680"/>
          </a:xfrm>
          <a:prstGeom prst="roundRect">
            <a:avLst>
              <a:gd name="adj" fmla="val 8421"/>
            </a:avLst>
          </a:prstGeom>
          <a:solidFill>
            <a:srgbClr val="4CAF50">
              <a:alpha val="25000"/>
            </a:srgbClr>
          </a:solidFill>
          <a:ln w="12700">
            <a:solidFill>
              <a:srgbClr val="4CAF50">
                <a:alpha val="50000"/>
              </a:srgbClr>
            </a:solidFill>
            <a:prstDash val="solid"/>
          </a:ln>
          <a:effectLst>
            <a:outerShdw blurRad="101600" dist="38100" dir="2700000" algn="bl" rotWithShape="0">
              <a:srgbClr val="000000">
                <a:alpha val="12000"/>
              </a:srgbClr>
            </a:outerShdw>
          </a:effectLst>
        </p:spPr>
      </p:sp>
      <p:sp>
        <p:nvSpPr>
          <p:cNvPr id="27" name="Text 25"/>
          <p:cNvSpPr/>
          <p:nvPr/>
        </p:nvSpPr>
        <p:spPr>
          <a:xfrm>
            <a:off x="7223760" y="2560320"/>
            <a:ext cx="1417320" cy="8686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Response Generator</a:t>
            </a:r>
            <a:endParaRPr lang="en-US" sz="1000" dirty="0"/>
          </a:p>
        </p:txBody>
      </p:sp>
      <p:sp>
        <p:nvSpPr>
          <p:cNvPr id="28" name="Shape 26"/>
          <p:cNvSpPr/>
          <p:nvPr/>
        </p:nvSpPr>
        <p:spPr>
          <a:xfrm>
            <a:off x="4389120" y="3611880"/>
            <a:ext cx="0" cy="137160"/>
          </a:xfrm>
          <a:prstGeom prst="line">
            <a:avLst/>
          </a:prstGeom>
          <a:noFill/>
          <a:ln w="25400">
            <a:solidFill>
              <a:srgbClr val="4CAF50"/>
            </a:solidFill>
            <a:prstDash val="sysDash"/>
          </a:ln>
        </p:spPr>
      </p:sp>
      <p:sp>
        <p:nvSpPr>
          <p:cNvPr id="29" name="Shape 27"/>
          <p:cNvSpPr/>
          <p:nvPr/>
        </p:nvSpPr>
        <p:spPr>
          <a:xfrm>
            <a:off x="365760" y="3749040"/>
            <a:ext cx="8412480" cy="1234440"/>
          </a:xfrm>
          <a:prstGeom prst="roundRect">
            <a:avLst>
              <a:gd name="adj" fmla="val 8889"/>
            </a:avLst>
          </a:prstGeom>
          <a:solidFill>
            <a:srgbClr val="1C2730"/>
          </a:solidFill>
          <a:ln w="12700">
            <a:solidFill>
              <a:srgbClr val="FF8F00">
                <a:alpha val="60000"/>
              </a:srgbClr>
            </a:solidFill>
            <a:prstDash val="solid"/>
          </a:ln>
          <a:effectLst>
            <a:outerShdw blurRad="101600" dist="38100" dir="2700000" algn="bl" rotWithShape="0">
              <a:srgbClr val="000000">
                <a:alpha val="12000"/>
              </a:srgbClr>
            </a:outerShdw>
          </a:effectLst>
        </p:spPr>
      </p:sp>
      <p:sp>
        <p:nvSpPr>
          <p:cNvPr id="30" name="Shape 28"/>
          <p:cNvSpPr/>
          <p:nvPr/>
        </p:nvSpPr>
        <p:spPr>
          <a:xfrm>
            <a:off x="365760" y="3749040"/>
            <a:ext cx="2011680" cy="1234440"/>
          </a:xfrm>
          <a:prstGeom prst="roundRect">
            <a:avLst>
              <a:gd name="adj" fmla="val 8889"/>
            </a:avLst>
          </a:prstGeom>
          <a:solidFill>
            <a:srgbClr val="FF8F00">
              <a:alpha val="80000"/>
            </a:srgbClr>
          </a:solidFill>
          <a:ln w="12700">
            <a:solidFill>
              <a:srgbClr val="FF8F00">
                <a:alpha val="80000"/>
              </a:srgbClr>
            </a:solidFill>
            <a:prstDash val="solid"/>
          </a:ln>
        </p:spPr>
      </p:sp>
      <p:sp>
        <p:nvSpPr>
          <p:cNvPr id="31" name="Text 29"/>
          <p:cNvSpPr/>
          <p:nvPr/>
        </p:nvSpPr>
        <p:spPr>
          <a:xfrm>
            <a:off x="411480" y="3749040"/>
            <a:ext cx="1920240" cy="1234440"/>
          </a:xfrm>
          <a:prstGeom prst="rect">
            <a:avLst/>
          </a:prstGeom>
          <a:noFill/>
          <a:ln/>
        </p:spPr>
        <p:txBody>
          <a:bodyPr wrap="square"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Layer 3: Data &amp; Integration</a:t>
            </a:r>
            <a:endParaRPr lang="en-US" sz="1150" dirty="0"/>
          </a:p>
        </p:txBody>
      </p:sp>
      <p:sp>
        <p:nvSpPr>
          <p:cNvPr id="32" name="Shape 30"/>
          <p:cNvSpPr/>
          <p:nvPr/>
        </p:nvSpPr>
        <p:spPr>
          <a:xfrm>
            <a:off x="2560320" y="3931920"/>
            <a:ext cx="1417320" cy="868680"/>
          </a:xfrm>
          <a:prstGeom prst="roundRect">
            <a:avLst>
              <a:gd name="adj" fmla="val 8421"/>
            </a:avLst>
          </a:prstGeom>
          <a:solidFill>
            <a:srgbClr val="FF8F00">
              <a:alpha val="25000"/>
            </a:srgbClr>
          </a:solidFill>
          <a:ln w="12700">
            <a:solidFill>
              <a:srgbClr val="FF8F00">
                <a:alpha val="50000"/>
              </a:srgbClr>
            </a:solidFill>
            <a:prstDash val="solid"/>
          </a:ln>
          <a:effectLst>
            <a:outerShdw blurRad="101600" dist="38100" dir="2700000" algn="bl" rotWithShape="0">
              <a:srgbClr val="000000">
                <a:alpha val="12000"/>
              </a:srgbClr>
            </a:outerShdw>
          </a:effectLst>
        </p:spPr>
      </p:sp>
      <p:sp>
        <p:nvSpPr>
          <p:cNvPr id="33" name="Text 31"/>
          <p:cNvSpPr/>
          <p:nvPr/>
        </p:nvSpPr>
        <p:spPr>
          <a:xfrm>
            <a:off x="2560320" y="3931920"/>
            <a:ext cx="1417320" cy="8686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Waste Knowledge Base</a:t>
            </a:r>
            <a:endParaRPr lang="en-US" sz="1000" dirty="0"/>
          </a:p>
        </p:txBody>
      </p:sp>
      <p:sp>
        <p:nvSpPr>
          <p:cNvPr id="34" name="Shape 32"/>
          <p:cNvSpPr/>
          <p:nvPr/>
        </p:nvSpPr>
        <p:spPr>
          <a:xfrm>
            <a:off x="4114800" y="3931920"/>
            <a:ext cx="1417320" cy="868680"/>
          </a:xfrm>
          <a:prstGeom prst="roundRect">
            <a:avLst>
              <a:gd name="adj" fmla="val 8421"/>
            </a:avLst>
          </a:prstGeom>
          <a:solidFill>
            <a:srgbClr val="FF8F00">
              <a:alpha val="25000"/>
            </a:srgbClr>
          </a:solidFill>
          <a:ln w="12700">
            <a:solidFill>
              <a:srgbClr val="FF8F00">
                <a:alpha val="50000"/>
              </a:srgbClr>
            </a:solidFill>
            <a:prstDash val="solid"/>
          </a:ln>
          <a:effectLst>
            <a:outerShdw blurRad="101600" dist="38100" dir="2700000" algn="bl" rotWithShape="0">
              <a:srgbClr val="000000">
                <a:alpha val="12000"/>
              </a:srgbClr>
            </a:outerShdw>
          </a:effectLst>
        </p:spPr>
      </p:sp>
      <p:sp>
        <p:nvSpPr>
          <p:cNvPr id="35" name="Text 33"/>
          <p:cNvSpPr/>
          <p:nvPr/>
        </p:nvSpPr>
        <p:spPr>
          <a:xfrm>
            <a:off x="4114800" y="3931920"/>
            <a:ext cx="1417320" cy="8686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Location Services</a:t>
            </a:r>
            <a:endParaRPr lang="en-US" sz="1000" dirty="0"/>
          </a:p>
        </p:txBody>
      </p:sp>
      <p:sp>
        <p:nvSpPr>
          <p:cNvPr id="36" name="Shape 34"/>
          <p:cNvSpPr/>
          <p:nvPr/>
        </p:nvSpPr>
        <p:spPr>
          <a:xfrm>
            <a:off x="5669280" y="3931920"/>
            <a:ext cx="1417320" cy="868680"/>
          </a:xfrm>
          <a:prstGeom prst="roundRect">
            <a:avLst>
              <a:gd name="adj" fmla="val 8421"/>
            </a:avLst>
          </a:prstGeom>
          <a:solidFill>
            <a:srgbClr val="FF8F00">
              <a:alpha val="25000"/>
            </a:srgbClr>
          </a:solidFill>
          <a:ln w="12700">
            <a:solidFill>
              <a:srgbClr val="FF8F00">
                <a:alpha val="50000"/>
              </a:srgbClr>
            </a:solidFill>
            <a:prstDash val="solid"/>
          </a:ln>
          <a:effectLst>
            <a:outerShdw blurRad="101600" dist="38100" dir="2700000" algn="bl" rotWithShape="0">
              <a:srgbClr val="000000">
                <a:alpha val="12000"/>
              </a:srgbClr>
            </a:outerShdw>
          </a:effectLst>
        </p:spPr>
      </p:sp>
      <p:sp>
        <p:nvSpPr>
          <p:cNvPr id="37" name="Text 35"/>
          <p:cNvSpPr/>
          <p:nvPr/>
        </p:nvSpPr>
        <p:spPr>
          <a:xfrm>
            <a:off x="5669280" y="3931920"/>
            <a:ext cx="1417320" cy="8686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User Profile DB</a:t>
            </a:r>
            <a:endParaRPr lang="en-US" sz="1000" dirty="0"/>
          </a:p>
        </p:txBody>
      </p:sp>
      <p:sp>
        <p:nvSpPr>
          <p:cNvPr id="38" name="Shape 36"/>
          <p:cNvSpPr/>
          <p:nvPr/>
        </p:nvSpPr>
        <p:spPr>
          <a:xfrm>
            <a:off x="7223760" y="3931920"/>
            <a:ext cx="1417320" cy="868680"/>
          </a:xfrm>
          <a:prstGeom prst="roundRect">
            <a:avLst>
              <a:gd name="adj" fmla="val 8421"/>
            </a:avLst>
          </a:prstGeom>
          <a:solidFill>
            <a:srgbClr val="FF8F00">
              <a:alpha val="25000"/>
            </a:srgbClr>
          </a:solidFill>
          <a:ln w="12700">
            <a:solidFill>
              <a:srgbClr val="FF8F00">
                <a:alpha val="50000"/>
              </a:srgbClr>
            </a:solidFill>
            <a:prstDash val="solid"/>
          </a:ln>
          <a:effectLst>
            <a:outerShdw blurRad="101600" dist="38100" dir="2700000" algn="bl" rotWithShape="0">
              <a:srgbClr val="000000">
                <a:alpha val="12000"/>
              </a:srgbClr>
            </a:outerShdw>
          </a:effectLst>
        </p:spPr>
      </p:sp>
      <p:sp>
        <p:nvSpPr>
          <p:cNvPr id="39" name="Text 37"/>
          <p:cNvSpPr/>
          <p:nvPr/>
        </p:nvSpPr>
        <p:spPr>
          <a:xfrm>
            <a:off x="7223760" y="3931920"/>
            <a:ext cx="1417320" cy="8686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Regulations DB</a:t>
            </a:r>
            <a:endParaRPr lang="en-US" sz="1000" dirty="0"/>
          </a:p>
        </p:txBody>
      </p:sp>
      <p:sp>
        <p:nvSpPr>
          <p:cNvPr id="40" name="Shape 38"/>
          <p:cNvSpPr/>
          <p:nvPr/>
        </p:nvSpPr>
        <p:spPr>
          <a:xfrm>
            <a:off x="365760" y="4663440"/>
            <a:ext cx="8412480" cy="384048"/>
          </a:xfrm>
          <a:prstGeom prst="roundRect">
            <a:avLst>
              <a:gd name="adj" fmla="val 19048"/>
            </a:avLst>
          </a:prstGeom>
          <a:solidFill>
            <a:srgbClr val="0F62FE">
              <a:alpha val="85000"/>
            </a:srgbClr>
          </a:solidFill>
          <a:ln w="12700">
            <a:solidFill>
              <a:srgbClr val="0F62FE">
                <a:alpha val="60000"/>
              </a:srgbClr>
            </a:solidFill>
            <a:prstDash val="solid"/>
          </a:ln>
        </p:spPr>
      </p:sp>
      <p:sp>
        <p:nvSpPr>
          <p:cNvPr id="41" name="Text 39"/>
          <p:cNvSpPr/>
          <p:nvPr/>
        </p:nvSpPr>
        <p:spPr>
          <a:xfrm>
            <a:off x="365760" y="4663440"/>
            <a:ext cx="841248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IBM Cloud Platform  –  watsonx.ai  ·  Watson Assistant  ·  IBM Cloudant  ·  Watson Discovery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388E3C"/>
          </a:solidFill>
          <a:ln w="12700">
            <a:solidFill>
              <a:srgbClr val="388E3C"/>
            </a:solidFill>
            <a:prstDash val="solid"/>
          </a:ln>
        </p:spPr>
      </p:sp>
      <p:sp>
        <p:nvSpPr>
          <p:cNvPr id="3" name="Text 1"/>
          <p:cNvSpPr/>
          <p:nvPr/>
        </p:nvSpPr>
        <p:spPr>
          <a:xfrm>
            <a:off x="365760" y="0"/>
            <a:ext cx="8412480" cy="822960"/>
          </a:xfrm>
          <a:prstGeom prst="rect">
            <a:avLst/>
          </a:prstGeom>
          <a:noFill/>
          <a:ln/>
        </p:spPr>
        <p:txBody>
          <a:bodyPr wrap="square" rtlCol="0" anchor="ctr"/>
          <a:lstStyle/>
          <a:p>
            <a:pPr marL="0" indent="0">
              <a:buNone/>
            </a:pPr>
            <a:r>
              <a:rPr lang="en-US" sz="2800" b="1" dirty="0">
                <a:solidFill>
                  <a:srgbClr val="FFFFFF"/>
                </a:solidFill>
                <a:latin typeface="Arial" pitchFamily="34" charset="0"/>
                <a:ea typeface="Arial" pitchFamily="34" charset="-122"/>
                <a:cs typeface="Arial" pitchFamily="34" charset="-120"/>
              </a:rPr>
              <a:t>Agent Workflow</a:t>
            </a:r>
            <a:endParaRPr lang="en-US" sz="2800" dirty="0"/>
          </a:p>
        </p:txBody>
      </p:sp>
      <p:sp>
        <p:nvSpPr>
          <p:cNvPr id="4" name="Text 2"/>
          <p:cNvSpPr/>
          <p:nvPr/>
        </p:nvSpPr>
        <p:spPr>
          <a:xfrm>
            <a:off x="7772400" y="91440"/>
            <a:ext cx="1188720" cy="320040"/>
          </a:xfrm>
          <a:prstGeom prst="rect">
            <a:avLst/>
          </a:prstGeom>
          <a:noFill/>
          <a:ln/>
        </p:spPr>
        <p:txBody>
          <a:bodyPr wrap="square" rtlCol="0" anchor="ctr"/>
          <a:lstStyle/>
          <a:p>
            <a:pPr marL="0" indent="0" algn="r">
              <a:buNone/>
            </a:pPr>
            <a:r>
              <a:rPr lang="en-US" sz="900" dirty="0">
                <a:solidFill>
                  <a:srgbClr val="C8E6C9"/>
                </a:solidFill>
                <a:latin typeface="Calibri" pitchFamily="34" charset="0"/>
                <a:ea typeface="Calibri" pitchFamily="34" charset="-122"/>
                <a:cs typeface="Calibri" pitchFamily="34" charset="-120"/>
              </a:rPr>
              <a:t>SLIDE 7 of 12</a:t>
            </a:r>
            <a:endParaRPr lang="en-US" sz="900" dirty="0"/>
          </a:p>
        </p:txBody>
      </p:sp>
      <p:sp>
        <p:nvSpPr>
          <p:cNvPr id="5" name="Shape 3"/>
          <p:cNvSpPr/>
          <p:nvPr/>
        </p:nvSpPr>
        <p:spPr>
          <a:xfrm>
            <a:off x="182880" y="1005840"/>
            <a:ext cx="1024128" cy="1371600"/>
          </a:xfrm>
          <a:prstGeom prst="roundRect">
            <a:avLst>
              <a:gd name="adj" fmla="val 10714"/>
            </a:avLst>
          </a:prstGeom>
          <a:solidFill>
            <a:srgbClr val="00BCD4">
              <a:alpha val="90000"/>
            </a:srgbClr>
          </a:solidFill>
          <a:ln w="12700">
            <a:solidFill>
              <a:srgbClr val="00BCD4"/>
            </a:solidFill>
            <a:prstDash val="solid"/>
          </a:ln>
          <a:effectLst>
            <a:outerShdw blurRad="101600" dist="38100" dir="2700000" algn="bl" rotWithShape="0">
              <a:srgbClr val="000000">
                <a:alpha val="12000"/>
              </a:srgbClr>
            </a:outerShdw>
          </a:effectLst>
        </p:spPr>
      </p:sp>
      <p:sp>
        <p:nvSpPr>
          <p:cNvPr id="6" name="Text 4"/>
          <p:cNvSpPr/>
          <p:nvPr/>
        </p:nvSpPr>
        <p:spPr>
          <a:xfrm>
            <a:off x="182880" y="1051560"/>
            <a:ext cx="1024128" cy="5486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7" name="Shape 5"/>
          <p:cNvSpPr/>
          <p:nvPr/>
        </p:nvSpPr>
        <p:spPr>
          <a:xfrm>
            <a:off x="502920" y="1508760"/>
            <a:ext cx="384048" cy="384048"/>
          </a:xfrm>
          <a:prstGeom prst="ellipse">
            <a:avLst/>
          </a:prstGeom>
          <a:solidFill>
            <a:srgbClr val="FFFFFF"/>
          </a:solidFill>
          <a:ln w="12700">
            <a:solidFill>
              <a:srgbClr val="FFFFFF"/>
            </a:solidFill>
            <a:prstDash val="solid"/>
          </a:ln>
        </p:spPr>
      </p:sp>
      <p:sp>
        <p:nvSpPr>
          <p:cNvPr id="8" name="Text 6"/>
          <p:cNvSpPr/>
          <p:nvPr/>
        </p:nvSpPr>
        <p:spPr>
          <a:xfrm>
            <a:off x="502920" y="1508760"/>
            <a:ext cx="384048" cy="384048"/>
          </a:xfrm>
          <a:prstGeom prst="rect">
            <a:avLst/>
          </a:prstGeom>
          <a:noFill/>
          <a:ln/>
        </p:spPr>
        <p:txBody>
          <a:bodyPr wrap="square" rtlCol="0" anchor="ctr"/>
          <a:lstStyle/>
          <a:p>
            <a:pPr marL="0" indent="0" algn="ctr">
              <a:buNone/>
            </a:pPr>
            <a:r>
              <a:rPr lang="en-US" sz="1300" b="1" dirty="0">
                <a:solidFill>
                  <a:srgbClr val="00BCD4"/>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137160" y="1920240"/>
            <a:ext cx="1115568" cy="38404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User Input</a:t>
            </a:r>
            <a:endParaRPr lang="en-US" sz="900" dirty="0"/>
          </a:p>
        </p:txBody>
      </p:sp>
      <p:sp>
        <p:nvSpPr>
          <p:cNvPr id="10" name="Shape 8"/>
          <p:cNvSpPr/>
          <p:nvPr/>
        </p:nvSpPr>
        <p:spPr>
          <a:xfrm>
            <a:off x="1207008" y="1691640"/>
            <a:ext cx="73152" cy="0"/>
          </a:xfrm>
          <a:prstGeom prst="line">
            <a:avLst/>
          </a:prstGeom>
          <a:noFill/>
          <a:ln w="25400">
            <a:solidFill>
              <a:srgbClr val="546E7A"/>
            </a:solidFill>
            <a:prstDash val="solid"/>
          </a:ln>
        </p:spPr>
      </p:sp>
      <p:sp>
        <p:nvSpPr>
          <p:cNvPr id="11" name="Shape 9"/>
          <p:cNvSpPr/>
          <p:nvPr/>
        </p:nvSpPr>
        <p:spPr>
          <a:xfrm>
            <a:off x="1280160" y="1005840"/>
            <a:ext cx="1024128" cy="1371600"/>
          </a:xfrm>
          <a:prstGeom prst="roundRect">
            <a:avLst>
              <a:gd name="adj" fmla="val 10714"/>
            </a:avLst>
          </a:prstGeom>
          <a:solidFill>
            <a:srgbClr val="5C6BC0">
              <a:alpha val="90000"/>
            </a:srgbClr>
          </a:solidFill>
          <a:ln w="12700">
            <a:solidFill>
              <a:srgbClr val="5C6BC0"/>
            </a:solidFill>
            <a:prstDash val="solid"/>
          </a:ln>
          <a:effectLst>
            <a:outerShdw blurRad="101600" dist="38100" dir="2700000" algn="bl" rotWithShape="0">
              <a:srgbClr val="000000">
                <a:alpha val="12000"/>
              </a:srgbClr>
            </a:outerShdw>
          </a:effectLst>
        </p:spPr>
      </p:sp>
      <p:sp>
        <p:nvSpPr>
          <p:cNvPr id="12" name="Text 10"/>
          <p:cNvSpPr/>
          <p:nvPr/>
        </p:nvSpPr>
        <p:spPr>
          <a:xfrm>
            <a:off x="1280160" y="1051560"/>
            <a:ext cx="1024128" cy="5486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3" name="Shape 11"/>
          <p:cNvSpPr/>
          <p:nvPr/>
        </p:nvSpPr>
        <p:spPr>
          <a:xfrm>
            <a:off x="1600200" y="1508760"/>
            <a:ext cx="384048" cy="384048"/>
          </a:xfrm>
          <a:prstGeom prst="ellipse">
            <a:avLst/>
          </a:prstGeom>
          <a:solidFill>
            <a:srgbClr val="FFFFFF"/>
          </a:solidFill>
          <a:ln w="12700">
            <a:solidFill>
              <a:srgbClr val="FFFFFF"/>
            </a:solidFill>
            <a:prstDash val="solid"/>
          </a:ln>
        </p:spPr>
      </p:sp>
      <p:sp>
        <p:nvSpPr>
          <p:cNvPr id="14" name="Text 12"/>
          <p:cNvSpPr/>
          <p:nvPr/>
        </p:nvSpPr>
        <p:spPr>
          <a:xfrm>
            <a:off x="1600200" y="1508760"/>
            <a:ext cx="384048" cy="384048"/>
          </a:xfrm>
          <a:prstGeom prst="rect">
            <a:avLst/>
          </a:prstGeom>
          <a:noFill/>
          <a:ln/>
        </p:spPr>
        <p:txBody>
          <a:bodyPr wrap="square" rtlCol="0" anchor="ctr"/>
          <a:lstStyle/>
          <a:p>
            <a:pPr marL="0" indent="0" algn="ctr">
              <a:buNone/>
            </a:pPr>
            <a:r>
              <a:rPr lang="en-US" sz="1300" b="1" dirty="0">
                <a:solidFill>
                  <a:srgbClr val="5C6BC0"/>
                </a:solidFill>
                <a:latin typeface="Arial" pitchFamily="34" charset="0"/>
                <a:ea typeface="Arial" pitchFamily="34" charset="-122"/>
                <a:cs typeface="Arial" pitchFamily="34" charset="-120"/>
              </a:rPr>
              <a:t>2</a:t>
            </a:r>
            <a:endParaRPr lang="en-US" sz="1300" dirty="0"/>
          </a:p>
        </p:txBody>
      </p:sp>
      <p:sp>
        <p:nvSpPr>
          <p:cNvPr id="15" name="Text 13"/>
          <p:cNvSpPr/>
          <p:nvPr/>
        </p:nvSpPr>
        <p:spPr>
          <a:xfrm>
            <a:off x="1234440" y="1920240"/>
            <a:ext cx="1115568" cy="38404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Preprocess</a:t>
            </a:r>
            <a:endParaRPr lang="en-US" sz="900" dirty="0"/>
          </a:p>
        </p:txBody>
      </p:sp>
      <p:sp>
        <p:nvSpPr>
          <p:cNvPr id="16" name="Shape 14"/>
          <p:cNvSpPr/>
          <p:nvPr/>
        </p:nvSpPr>
        <p:spPr>
          <a:xfrm>
            <a:off x="2304288" y="1691640"/>
            <a:ext cx="73152" cy="0"/>
          </a:xfrm>
          <a:prstGeom prst="line">
            <a:avLst/>
          </a:prstGeom>
          <a:noFill/>
          <a:ln w="25400">
            <a:solidFill>
              <a:srgbClr val="546E7A"/>
            </a:solidFill>
            <a:prstDash val="solid"/>
          </a:ln>
        </p:spPr>
      </p:sp>
      <p:sp>
        <p:nvSpPr>
          <p:cNvPr id="17" name="Shape 15"/>
          <p:cNvSpPr/>
          <p:nvPr/>
        </p:nvSpPr>
        <p:spPr>
          <a:xfrm>
            <a:off x="2377440" y="1005840"/>
            <a:ext cx="1024128" cy="1371600"/>
          </a:xfrm>
          <a:prstGeom prst="roundRect">
            <a:avLst>
              <a:gd name="adj" fmla="val 10714"/>
            </a:avLst>
          </a:prstGeom>
          <a:solidFill>
            <a:srgbClr val="388E3C">
              <a:alpha val="90000"/>
            </a:srgbClr>
          </a:solidFill>
          <a:ln w="12700">
            <a:solidFill>
              <a:srgbClr val="388E3C"/>
            </a:solidFill>
            <a:prstDash val="solid"/>
          </a:ln>
          <a:effectLst>
            <a:outerShdw blurRad="101600" dist="38100" dir="2700000" algn="bl" rotWithShape="0">
              <a:srgbClr val="000000">
                <a:alpha val="12000"/>
              </a:srgbClr>
            </a:outerShdw>
          </a:effectLst>
        </p:spPr>
      </p:sp>
      <p:sp>
        <p:nvSpPr>
          <p:cNvPr id="18" name="Text 16"/>
          <p:cNvSpPr/>
          <p:nvPr/>
        </p:nvSpPr>
        <p:spPr>
          <a:xfrm>
            <a:off x="2377440" y="1051560"/>
            <a:ext cx="1024128" cy="5486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9" name="Shape 17"/>
          <p:cNvSpPr/>
          <p:nvPr/>
        </p:nvSpPr>
        <p:spPr>
          <a:xfrm>
            <a:off x="2697480" y="1508760"/>
            <a:ext cx="384048" cy="384048"/>
          </a:xfrm>
          <a:prstGeom prst="ellipse">
            <a:avLst/>
          </a:prstGeom>
          <a:solidFill>
            <a:srgbClr val="FFFFFF"/>
          </a:solidFill>
          <a:ln w="12700">
            <a:solidFill>
              <a:srgbClr val="FFFFFF"/>
            </a:solidFill>
            <a:prstDash val="solid"/>
          </a:ln>
        </p:spPr>
      </p:sp>
      <p:sp>
        <p:nvSpPr>
          <p:cNvPr id="20" name="Text 18"/>
          <p:cNvSpPr/>
          <p:nvPr/>
        </p:nvSpPr>
        <p:spPr>
          <a:xfrm>
            <a:off x="2697480" y="1508760"/>
            <a:ext cx="384048" cy="384048"/>
          </a:xfrm>
          <a:prstGeom prst="rect">
            <a:avLst/>
          </a:prstGeom>
          <a:noFill/>
          <a:ln/>
        </p:spPr>
        <p:txBody>
          <a:bodyPr wrap="square" rtlCol="0" anchor="ctr"/>
          <a:lstStyle/>
          <a:p>
            <a:pPr marL="0" indent="0" algn="ctr">
              <a:buNone/>
            </a:pPr>
            <a:r>
              <a:rPr lang="en-US" sz="1300" b="1" dirty="0">
                <a:solidFill>
                  <a:srgbClr val="388E3C"/>
                </a:solidFill>
                <a:latin typeface="Arial" pitchFamily="34" charset="0"/>
                <a:ea typeface="Arial" pitchFamily="34" charset="-122"/>
                <a:cs typeface="Arial" pitchFamily="34" charset="-120"/>
              </a:rPr>
              <a:t>3</a:t>
            </a:r>
            <a:endParaRPr lang="en-US" sz="1300" dirty="0"/>
          </a:p>
        </p:txBody>
      </p:sp>
      <p:sp>
        <p:nvSpPr>
          <p:cNvPr id="21" name="Text 19"/>
          <p:cNvSpPr/>
          <p:nvPr/>
        </p:nvSpPr>
        <p:spPr>
          <a:xfrm>
            <a:off x="2331720" y="1920240"/>
            <a:ext cx="1115568" cy="38404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Intent Detect</a:t>
            </a:r>
            <a:endParaRPr lang="en-US" sz="900" dirty="0"/>
          </a:p>
        </p:txBody>
      </p:sp>
      <p:sp>
        <p:nvSpPr>
          <p:cNvPr id="22" name="Shape 20"/>
          <p:cNvSpPr/>
          <p:nvPr/>
        </p:nvSpPr>
        <p:spPr>
          <a:xfrm>
            <a:off x="3401568" y="1691640"/>
            <a:ext cx="73152" cy="0"/>
          </a:xfrm>
          <a:prstGeom prst="line">
            <a:avLst/>
          </a:prstGeom>
          <a:noFill/>
          <a:ln w="25400">
            <a:solidFill>
              <a:srgbClr val="546E7A"/>
            </a:solidFill>
            <a:prstDash val="solid"/>
          </a:ln>
        </p:spPr>
      </p:sp>
      <p:sp>
        <p:nvSpPr>
          <p:cNvPr id="23" name="Shape 21"/>
          <p:cNvSpPr/>
          <p:nvPr/>
        </p:nvSpPr>
        <p:spPr>
          <a:xfrm>
            <a:off x="3474720" y="1005840"/>
            <a:ext cx="1024128" cy="1371600"/>
          </a:xfrm>
          <a:prstGeom prst="roundRect">
            <a:avLst>
              <a:gd name="adj" fmla="val 10714"/>
            </a:avLst>
          </a:prstGeom>
          <a:solidFill>
            <a:srgbClr val="FF8F00">
              <a:alpha val="90000"/>
            </a:srgbClr>
          </a:solidFill>
          <a:ln w="12700">
            <a:solidFill>
              <a:srgbClr val="FF8F00"/>
            </a:solidFill>
            <a:prstDash val="solid"/>
          </a:ln>
          <a:effectLst>
            <a:outerShdw blurRad="101600" dist="38100" dir="2700000" algn="bl" rotWithShape="0">
              <a:srgbClr val="000000">
                <a:alpha val="12000"/>
              </a:srgbClr>
            </a:outerShdw>
          </a:effectLst>
        </p:spPr>
      </p:sp>
      <p:sp>
        <p:nvSpPr>
          <p:cNvPr id="24" name="Text 22"/>
          <p:cNvSpPr/>
          <p:nvPr/>
        </p:nvSpPr>
        <p:spPr>
          <a:xfrm>
            <a:off x="3474720" y="1051560"/>
            <a:ext cx="1024128" cy="5486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25" name="Shape 23"/>
          <p:cNvSpPr/>
          <p:nvPr/>
        </p:nvSpPr>
        <p:spPr>
          <a:xfrm>
            <a:off x="3794760" y="1508760"/>
            <a:ext cx="384048" cy="384048"/>
          </a:xfrm>
          <a:prstGeom prst="ellipse">
            <a:avLst/>
          </a:prstGeom>
          <a:solidFill>
            <a:srgbClr val="FFFFFF"/>
          </a:solidFill>
          <a:ln w="12700">
            <a:solidFill>
              <a:srgbClr val="FFFFFF"/>
            </a:solidFill>
            <a:prstDash val="solid"/>
          </a:ln>
        </p:spPr>
      </p:sp>
      <p:sp>
        <p:nvSpPr>
          <p:cNvPr id="26" name="Text 24"/>
          <p:cNvSpPr/>
          <p:nvPr/>
        </p:nvSpPr>
        <p:spPr>
          <a:xfrm>
            <a:off x="3794760" y="1508760"/>
            <a:ext cx="384048" cy="384048"/>
          </a:xfrm>
          <a:prstGeom prst="rect">
            <a:avLst/>
          </a:prstGeom>
          <a:noFill/>
          <a:ln/>
        </p:spPr>
        <p:txBody>
          <a:bodyPr wrap="square" rtlCol="0" anchor="ctr"/>
          <a:lstStyle/>
          <a:p>
            <a:pPr marL="0" indent="0" algn="ctr">
              <a:buNone/>
            </a:pPr>
            <a:r>
              <a:rPr lang="en-US" sz="1300" b="1" dirty="0">
                <a:solidFill>
                  <a:srgbClr val="FF8F00"/>
                </a:solidFill>
                <a:latin typeface="Arial" pitchFamily="34" charset="0"/>
                <a:ea typeface="Arial" pitchFamily="34" charset="-122"/>
                <a:cs typeface="Arial" pitchFamily="34" charset="-120"/>
              </a:rPr>
              <a:t>4</a:t>
            </a:r>
            <a:endParaRPr lang="en-US" sz="1300" dirty="0"/>
          </a:p>
        </p:txBody>
      </p:sp>
      <p:sp>
        <p:nvSpPr>
          <p:cNvPr id="27" name="Text 25"/>
          <p:cNvSpPr/>
          <p:nvPr/>
        </p:nvSpPr>
        <p:spPr>
          <a:xfrm>
            <a:off x="3429000" y="1920240"/>
            <a:ext cx="1115568" cy="38404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Entity Extract</a:t>
            </a:r>
            <a:endParaRPr lang="en-US" sz="900" dirty="0"/>
          </a:p>
        </p:txBody>
      </p:sp>
      <p:sp>
        <p:nvSpPr>
          <p:cNvPr id="28" name="Shape 26"/>
          <p:cNvSpPr/>
          <p:nvPr/>
        </p:nvSpPr>
        <p:spPr>
          <a:xfrm>
            <a:off x="4498848" y="1691640"/>
            <a:ext cx="73152" cy="0"/>
          </a:xfrm>
          <a:prstGeom prst="line">
            <a:avLst/>
          </a:prstGeom>
          <a:noFill/>
          <a:ln w="25400">
            <a:solidFill>
              <a:srgbClr val="546E7A"/>
            </a:solidFill>
            <a:prstDash val="solid"/>
          </a:ln>
        </p:spPr>
      </p:sp>
      <p:sp>
        <p:nvSpPr>
          <p:cNvPr id="29" name="Shape 27"/>
          <p:cNvSpPr/>
          <p:nvPr/>
        </p:nvSpPr>
        <p:spPr>
          <a:xfrm>
            <a:off x="4572000" y="1005840"/>
            <a:ext cx="1024128" cy="1371600"/>
          </a:xfrm>
          <a:prstGeom prst="roundRect">
            <a:avLst>
              <a:gd name="adj" fmla="val 10714"/>
            </a:avLst>
          </a:prstGeom>
          <a:solidFill>
            <a:srgbClr val="E64A19">
              <a:alpha val="90000"/>
            </a:srgbClr>
          </a:solidFill>
          <a:ln w="12700">
            <a:solidFill>
              <a:srgbClr val="E64A19"/>
            </a:solidFill>
            <a:prstDash val="solid"/>
          </a:ln>
          <a:effectLst>
            <a:outerShdw blurRad="101600" dist="38100" dir="2700000" algn="bl" rotWithShape="0">
              <a:srgbClr val="000000">
                <a:alpha val="12000"/>
              </a:srgbClr>
            </a:outerShdw>
          </a:effectLst>
        </p:spPr>
      </p:sp>
      <p:sp>
        <p:nvSpPr>
          <p:cNvPr id="30" name="Text 28"/>
          <p:cNvSpPr/>
          <p:nvPr/>
        </p:nvSpPr>
        <p:spPr>
          <a:xfrm>
            <a:off x="4572000" y="1051560"/>
            <a:ext cx="1024128" cy="5486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31" name="Shape 29"/>
          <p:cNvSpPr/>
          <p:nvPr/>
        </p:nvSpPr>
        <p:spPr>
          <a:xfrm>
            <a:off x="4892040" y="1508760"/>
            <a:ext cx="384048" cy="384048"/>
          </a:xfrm>
          <a:prstGeom prst="ellipse">
            <a:avLst/>
          </a:prstGeom>
          <a:solidFill>
            <a:srgbClr val="FFFFFF"/>
          </a:solidFill>
          <a:ln w="12700">
            <a:solidFill>
              <a:srgbClr val="FFFFFF"/>
            </a:solidFill>
            <a:prstDash val="solid"/>
          </a:ln>
        </p:spPr>
      </p:sp>
      <p:sp>
        <p:nvSpPr>
          <p:cNvPr id="32" name="Text 30"/>
          <p:cNvSpPr/>
          <p:nvPr/>
        </p:nvSpPr>
        <p:spPr>
          <a:xfrm>
            <a:off x="4892040" y="1508760"/>
            <a:ext cx="384048" cy="384048"/>
          </a:xfrm>
          <a:prstGeom prst="rect">
            <a:avLst/>
          </a:prstGeom>
          <a:noFill/>
          <a:ln/>
        </p:spPr>
        <p:txBody>
          <a:bodyPr wrap="square" rtlCol="0" anchor="ctr"/>
          <a:lstStyle/>
          <a:p>
            <a:pPr marL="0" indent="0" algn="ctr">
              <a:buNone/>
            </a:pPr>
            <a:r>
              <a:rPr lang="en-US" sz="1300" b="1" dirty="0">
                <a:solidFill>
                  <a:srgbClr val="E64A19"/>
                </a:solidFill>
                <a:latin typeface="Arial" pitchFamily="34" charset="0"/>
                <a:ea typeface="Arial" pitchFamily="34" charset="-122"/>
                <a:cs typeface="Arial" pitchFamily="34" charset="-120"/>
              </a:rPr>
              <a:t>5</a:t>
            </a:r>
            <a:endParaRPr lang="en-US" sz="1300" dirty="0"/>
          </a:p>
        </p:txBody>
      </p:sp>
      <p:sp>
        <p:nvSpPr>
          <p:cNvPr id="33" name="Text 31"/>
          <p:cNvSpPr/>
          <p:nvPr/>
        </p:nvSpPr>
        <p:spPr>
          <a:xfrm>
            <a:off x="4526280" y="1920240"/>
            <a:ext cx="1115568" cy="38404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Knowledge Query</a:t>
            </a:r>
            <a:endParaRPr lang="en-US" sz="900" dirty="0"/>
          </a:p>
        </p:txBody>
      </p:sp>
      <p:sp>
        <p:nvSpPr>
          <p:cNvPr id="34" name="Shape 32"/>
          <p:cNvSpPr/>
          <p:nvPr/>
        </p:nvSpPr>
        <p:spPr>
          <a:xfrm>
            <a:off x="5596128" y="1691640"/>
            <a:ext cx="73152" cy="0"/>
          </a:xfrm>
          <a:prstGeom prst="line">
            <a:avLst/>
          </a:prstGeom>
          <a:noFill/>
          <a:ln w="25400">
            <a:solidFill>
              <a:srgbClr val="546E7A"/>
            </a:solidFill>
            <a:prstDash val="solid"/>
          </a:ln>
        </p:spPr>
      </p:sp>
      <p:sp>
        <p:nvSpPr>
          <p:cNvPr id="35" name="Shape 33"/>
          <p:cNvSpPr/>
          <p:nvPr/>
        </p:nvSpPr>
        <p:spPr>
          <a:xfrm>
            <a:off x="5669280" y="1005840"/>
            <a:ext cx="1024128" cy="1371600"/>
          </a:xfrm>
          <a:prstGeom prst="roundRect">
            <a:avLst>
              <a:gd name="adj" fmla="val 10714"/>
            </a:avLst>
          </a:prstGeom>
          <a:solidFill>
            <a:srgbClr val="1B5E20">
              <a:alpha val="90000"/>
            </a:srgbClr>
          </a:solidFill>
          <a:ln w="12700">
            <a:solidFill>
              <a:srgbClr val="1B5E20"/>
            </a:solidFill>
            <a:prstDash val="solid"/>
          </a:ln>
          <a:effectLst>
            <a:outerShdw blurRad="101600" dist="38100" dir="2700000" algn="bl" rotWithShape="0">
              <a:srgbClr val="000000">
                <a:alpha val="12000"/>
              </a:srgbClr>
            </a:outerShdw>
          </a:effectLst>
        </p:spPr>
      </p:sp>
      <p:sp>
        <p:nvSpPr>
          <p:cNvPr id="36" name="Text 34"/>
          <p:cNvSpPr/>
          <p:nvPr/>
        </p:nvSpPr>
        <p:spPr>
          <a:xfrm>
            <a:off x="5669280" y="1051560"/>
            <a:ext cx="1024128" cy="5486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37" name="Shape 35"/>
          <p:cNvSpPr/>
          <p:nvPr/>
        </p:nvSpPr>
        <p:spPr>
          <a:xfrm>
            <a:off x="5989320" y="1508760"/>
            <a:ext cx="384048" cy="384048"/>
          </a:xfrm>
          <a:prstGeom prst="ellipse">
            <a:avLst/>
          </a:prstGeom>
          <a:solidFill>
            <a:srgbClr val="FFFFFF"/>
          </a:solidFill>
          <a:ln w="12700">
            <a:solidFill>
              <a:srgbClr val="FFFFFF"/>
            </a:solidFill>
            <a:prstDash val="solid"/>
          </a:ln>
        </p:spPr>
      </p:sp>
      <p:sp>
        <p:nvSpPr>
          <p:cNvPr id="38" name="Text 36"/>
          <p:cNvSpPr/>
          <p:nvPr/>
        </p:nvSpPr>
        <p:spPr>
          <a:xfrm>
            <a:off x="5989320" y="1508760"/>
            <a:ext cx="384048" cy="384048"/>
          </a:xfrm>
          <a:prstGeom prst="rect">
            <a:avLst/>
          </a:prstGeom>
          <a:noFill/>
          <a:ln/>
        </p:spPr>
        <p:txBody>
          <a:bodyPr wrap="square" rtlCol="0" anchor="ctr"/>
          <a:lstStyle/>
          <a:p>
            <a:pPr marL="0" indent="0" algn="ctr">
              <a:buNone/>
            </a:pPr>
            <a:r>
              <a:rPr lang="en-US" sz="1300" b="1" dirty="0">
                <a:solidFill>
                  <a:srgbClr val="1B5E20"/>
                </a:solidFill>
                <a:latin typeface="Arial" pitchFamily="34" charset="0"/>
                <a:ea typeface="Arial" pitchFamily="34" charset="-122"/>
                <a:cs typeface="Arial" pitchFamily="34" charset="-120"/>
              </a:rPr>
              <a:t>6</a:t>
            </a:r>
            <a:endParaRPr lang="en-US" sz="1300" dirty="0"/>
          </a:p>
        </p:txBody>
      </p:sp>
      <p:sp>
        <p:nvSpPr>
          <p:cNvPr id="39" name="Text 37"/>
          <p:cNvSpPr/>
          <p:nvPr/>
        </p:nvSpPr>
        <p:spPr>
          <a:xfrm>
            <a:off x="5623560" y="1920240"/>
            <a:ext cx="1115568" cy="38404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Context Resolve</a:t>
            </a:r>
            <a:endParaRPr lang="en-US" sz="900" dirty="0"/>
          </a:p>
        </p:txBody>
      </p:sp>
      <p:sp>
        <p:nvSpPr>
          <p:cNvPr id="40" name="Shape 38"/>
          <p:cNvSpPr/>
          <p:nvPr/>
        </p:nvSpPr>
        <p:spPr>
          <a:xfrm>
            <a:off x="6693408" y="1691640"/>
            <a:ext cx="73152" cy="0"/>
          </a:xfrm>
          <a:prstGeom prst="line">
            <a:avLst/>
          </a:prstGeom>
          <a:noFill/>
          <a:ln w="25400">
            <a:solidFill>
              <a:srgbClr val="546E7A"/>
            </a:solidFill>
            <a:prstDash val="solid"/>
          </a:ln>
        </p:spPr>
      </p:sp>
      <p:sp>
        <p:nvSpPr>
          <p:cNvPr id="41" name="Shape 39"/>
          <p:cNvSpPr/>
          <p:nvPr/>
        </p:nvSpPr>
        <p:spPr>
          <a:xfrm>
            <a:off x="6766560" y="1005840"/>
            <a:ext cx="1024128" cy="1371600"/>
          </a:xfrm>
          <a:prstGeom prst="roundRect">
            <a:avLst>
              <a:gd name="adj" fmla="val 10714"/>
            </a:avLst>
          </a:prstGeom>
          <a:solidFill>
            <a:srgbClr val="4CAF50">
              <a:alpha val="90000"/>
            </a:srgbClr>
          </a:solidFill>
          <a:ln w="12700">
            <a:solidFill>
              <a:srgbClr val="4CAF50"/>
            </a:solidFill>
            <a:prstDash val="solid"/>
          </a:ln>
          <a:effectLst>
            <a:outerShdw blurRad="101600" dist="38100" dir="2700000" algn="bl" rotWithShape="0">
              <a:srgbClr val="000000">
                <a:alpha val="12000"/>
              </a:srgbClr>
            </a:outerShdw>
          </a:effectLst>
        </p:spPr>
      </p:sp>
      <p:sp>
        <p:nvSpPr>
          <p:cNvPr id="42" name="Text 40"/>
          <p:cNvSpPr/>
          <p:nvPr/>
        </p:nvSpPr>
        <p:spPr>
          <a:xfrm>
            <a:off x="6766560" y="1051560"/>
            <a:ext cx="1024128" cy="5486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43" name="Shape 41"/>
          <p:cNvSpPr/>
          <p:nvPr/>
        </p:nvSpPr>
        <p:spPr>
          <a:xfrm>
            <a:off x="7086600" y="1508760"/>
            <a:ext cx="384048" cy="384048"/>
          </a:xfrm>
          <a:prstGeom prst="ellipse">
            <a:avLst/>
          </a:prstGeom>
          <a:solidFill>
            <a:srgbClr val="FFFFFF"/>
          </a:solidFill>
          <a:ln w="12700">
            <a:solidFill>
              <a:srgbClr val="FFFFFF"/>
            </a:solidFill>
            <a:prstDash val="solid"/>
          </a:ln>
        </p:spPr>
      </p:sp>
      <p:sp>
        <p:nvSpPr>
          <p:cNvPr id="44" name="Text 42"/>
          <p:cNvSpPr/>
          <p:nvPr/>
        </p:nvSpPr>
        <p:spPr>
          <a:xfrm>
            <a:off x="7086600" y="1508760"/>
            <a:ext cx="384048" cy="384048"/>
          </a:xfrm>
          <a:prstGeom prst="rect">
            <a:avLst/>
          </a:prstGeom>
          <a:noFill/>
          <a:ln/>
        </p:spPr>
        <p:txBody>
          <a:bodyPr wrap="square" rtlCol="0" anchor="ctr"/>
          <a:lstStyle/>
          <a:p>
            <a:pPr marL="0" indent="0" algn="ctr">
              <a:buNone/>
            </a:pPr>
            <a:r>
              <a:rPr lang="en-US" sz="1300" b="1" dirty="0">
                <a:solidFill>
                  <a:srgbClr val="4CAF50"/>
                </a:solidFill>
                <a:latin typeface="Arial" pitchFamily="34" charset="0"/>
                <a:ea typeface="Arial" pitchFamily="34" charset="-122"/>
                <a:cs typeface="Arial" pitchFamily="34" charset="-120"/>
              </a:rPr>
              <a:t>7</a:t>
            </a:r>
            <a:endParaRPr lang="en-US" sz="1300" dirty="0"/>
          </a:p>
        </p:txBody>
      </p:sp>
      <p:sp>
        <p:nvSpPr>
          <p:cNvPr id="45" name="Text 43"/>
          <p:cNvSpPr/>
          <p:nvPr/>
        </p:nvSpPr>
        <p:spPr>
          <a:xfrm>
            <a:off x="6720840" y="1920240"/>
            <a:ext cx="1115568" cy="38404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Generate Response</a:t>
            </a:r>
            <a:endParaRPr lang="en-US" sz="900" dirty="0"/>
          </a:p>
        </p:txBody>
      </p:sp>
      <p:sp>
        <p:nvSpPr>
          <p:cNvPr id="46" name="Shape 44"/>
          <p:cNvSpPr/>
          <p:nvPr/>
        </p:nvSpPr>
        <p:spPr>
          <a:xfrm>
            <a:off x="7790688" y="1691640"/>
            <a:ext cx="73152" cy="0"/>
          </a:xfrm>
          <a:prstGeom prst="line">
            <a:avLst/>
          </a:prstGeom>
          <a:noFill/>
          <a:ln w="25400">
            <a:solidFill>
              <a:srgbClr val="546E7A"/>
            </a:solidFill>
            <a:prstDash val="solid"/>
          </a:ln>
        </p:spPr>
      </p:sp>
      <p:sp>
        <p:nvSpPr>
          <p:cNvPr id="47" name="Shape 45"/>
          <p:cNvSpPr/>
          <p:nvPr/>
        </p:nvSpPr>
        <p:spPr>
          <a:xfrm>
            <a:off x="7863840" y="1005840"/>
            <a:ext cx="1024128" cy="1371600"/>
          </a:xfrm>
          <a:prstGeom prst="roundRect">
            <a:avLst>
              <a:gd name="adj" fmla="val 10714"/>
            </a:avLst>
          </a:prstGeom>
          <a:solidFill>
            <a:srgbClr val="0097A7">
              <a:alpha val="90000"/>
            </a:srgbClr>
          </a:solidFill>
          <a:ln w="12700">
            <a:solidFill>
              <a:srgbClr val="0097A7"/>
            </a:solidFill>
            <a:prstDash val="solid"/>
          </a:ln>
          <a:effectLst>
            <a:outerShdw blurRad="101600" dist="38100" dir="2700000" algn="bl" rotWithShape="0">
              <a:srgbClr val="000000">
                <a:alpha val="12000"/>
              </a:srgbClr>
            </a:outerShdw>
          </a:effectLst>
        </p:spPr>
      </p:sp>
      <p:sp>
        <p:nvSpPr>
          <p:cNvPr id="48" name="Text 46"/>
          <p:cNvSpPr/>
          <p:nvPr/>
        </p:nvSpPr>
        <p:spPr>
          <a:xfrm>
            <a:off x="7863840" y="1051560"/>
            <a:ext cx="1024128" cy="5486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49" name="Shape 47"/>
          <p:cNvSpPr/>
          <p:nvPr/>
        </p:nvSpPr>
        <p:spPr>
          <a:xfrm>
            <a:off x="8183880" y="1508760"/>
            <a:ext cx="384048" cy="384048"/>
          </a:xfrm>
          <a:prstGeom prst="ellipse">
            <a:avLst/>
          </a:prstGeom>
          <a:solidFill>
            <a:srgbClr val="FFFFFF"/>
          </a:solidFill>
          <a:ln w="12700">
            <a:solidFill>
              <a:srgbClr val="FFFFFF"/>
            </a:solidFill>
            <a:prstDash val="solid"/>
          </a:ln>
        </p:spPr>
      </p:sp>
      <p:sp>
        <p:nvSpPr>
          <p:cNvPr id="50" name="Text 48"/>
          <p:cNvSpPr/>
          <p:nvPr/>
        </p:nvSpPr>
        <p:spPr>
          <a:xfrm>
            <a:off x="8183880" y="1508760"/>
            <a:ext cx="384048" cy="384048"/>
          </a:xfrm>
          <a:prstGeom prst="rect">
            <a:avLst/>
          </a:prstGeom>
          <a:noFill/>
          <a:ln/>
        </p:spPr>
        <p:txBody>
          <a:bodyPr wrap="square" rtlCol="0" anchor="ctr"/>
          <a:lstStyle/>
          <a:p>
            <a:pPr marL="0" indent="0" algn="ctr">
              <a:buNone/>
            </a:pPr>
            <a:r>
              <a:rPr lang="en-US" sz="1300" b="1" dirty="0">
                <a:solidFill>
                  <a:srgbClr val="0097A7"/>
                </a:solidFill>
                <a:latin typeface="Arial" pitchFamily="34" charset="0"/>
                <a:ea typeface="Arial" pitchFamily="34" charset="-122"/>
                <a:cs typeface="Arial" pitchFamily="34" charset="-120"/>
              </a:rPr>
              <a:t>8</a:t>
            </a:r>
            <a:endParaRPr lang="en-US" sz="1300" dirty="0"/>
          </a:p>
        </p:txBody>
      </p:sp>
      <p:sp>
        <p:nvSpPr>
          <p:cNvPr id="51" name="Text 49"/>
          <p:cNvSpPr/>
          <p:nvPr/>
        </p:nvSpPr>
        <p:spPr>
          <a:xfrm>
            <a:off x="7818120" y="1920240"/>
            <a:ext cx="1115568" cy="38404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Deliver + Learn</a:t>
            </a:r>
            <a:endParaRPr lang="en-US" sz="900" dirty="0"/>
          </a:p>
        </p:txBody>
      </p:sp>
      <p:sp>
        <p:nvSpPr>
          <p:cNvPr id="52" name="Shape 50"/>
          <p:cNvSpPr/>
          <p:nvPr/>
        </p:nvSpPr>
        <p:spPr>
          <a:xfrm>
            <a:off x="365760" y="2651760"/>
            <a:ext cx="8412480" cy="548640"/>
          </a:xfrm>
          <a:prstGeom prst="roundRect">
            <a:avLst>
              <a:gd name="adj" fmla="val 16667"/>
            </a:avLst>
          </a:prstGeom>
          <a:solidFill>
            <a:srgbClr val="F3E5F5"/>
          </a:solidFill>
          <a:ln w="12700">
            <a:solidFill>
              <a:srgbClr val="9C27B0">
                <a:alpha val="50000"/>
              </a:srgbClr>
            </a:solidFill>
            <a:prstDash val="solid"/>
          </a:ln>
        </p:spPr>
      </p:sp>
      <p:sp>
        <p:nvSpPr>
          <p:cNvPr id="53" name="Text 51"/>
          <p:cNvSpPr/>
          <p:nvPr/>
        </p:nvSpPr>
        <p:spPr>
          <a:xfrm>
            <a:off x="457200" y="2651760"/>
            <a:ext cx="8229600" cy="548640"/>
          </a:xfrm>
          <a:prstGeom prst="rect">
            <a:avLst/>
          </a:prstGeom>
          <a:noFill/>
          <a:ln/>
        </p:spPr>
        <p:txBody>
          <a:bodyPr wrap="square" rtlCol="0" anchor="ctr"/>
          <a:lstStyle/>
          <a:p>
            <a:pPr marL="0" indent="0">
              <a:buNone/>
            </a:pPr>
            <a:r>
              <a:rPr lang="en-US" sz="1100" i="1" dirty="0">
                <a:solidFill>
                  <a:srgbClr val="4A148C"/>
                </a:solidFill>
                <a:latin typeface="Calibri" pitchFamily="34" charset="0"/>
                <a:ea typeface="Calibri" pitchFamily="34" charset="-122"/>
                <a:cs typeface="Calibri" pitchFamily="34" charset="-120"/>
              </a:rPr>
              <a:t>📷  Image Path: User uploads photo → Computer Vision detects objects → Material classified → Feeds into Intent Detection (Step 3)</a:t>
            </a:r>
            <a:endParaRPr lang="en-US" sz="1100" dirty="0"/>
          </a:p>
        </p:txBody>
      </p:sp>
      <p:sp>
        <p:nvSpPr>
          <p:cNvPr id="54" name="Text 52"/>
          <p:cNvSpPr/>
          <p:nvPr/>
        </p:nvSpPr>
        <p:spPr>
          <a:xfrm>
            <a:off x="365760" y="3337560"/>
            <a:ext cx="8412480" cy="320040"/>
          </a:xfrm>
          <a:prstGeom prst="rect">
            <a:avLst/>
          </a:prstGeom>
          <a:noFill/>
          <a:ln/>
        </p:spPr>
        <p:txBody>
          <a:bodyPr wrap="square" rtlCol="0" anchor="ctr"/>
          <a:lstStyle/>
          <a:p>
            <a:pPr marL="0" indent="0">
              <a:buNone/>
            </a:pPr>
            <a:r>
              <a:rPr lang="en-US" sz="1300" b="1" dirty="0">
                <a:solidFill>
                  <a:srgbClr val="1B5E20"/>
                </a:solidFill>
                <a:latin typeface="Arial" pitchFamily="34" charset="0"/>
                <a:ea typeface="Arial" pitchFamily="34" charset="-122"/>
                <a:cs typeface="Arial" pitchFamily="34" charset="-120"/>
              </a:rPr>
              <a:t>Intent Types Handled by EcoSort</a:t>
            </a:r>
            <a:endParaRPr lang="en-US" sz="1300" dirty="0"/>
          </a:p>
        </p:txBody>
      </p:sp>
      <p:sp>
        <p:nvSpPr>
          <p:cNvPr id="55" name="Shape 53"/>
          <p:cNvSpPr/>
          <p:nvPr/>
        </p:nvSpPr>
        <p:spPr>
          <a:xfrm>
            <a:off x="365760" y="3749040"/>
            <a:ext cx="2651760" cy="502920"/>
          </a:xfrm>
          <a:prstGeom prst="roundRect">
            <a:avLst>
              <a:gd name="adj" fmla="val 18182"/>
            </a:avLst>
          </a:prstGeom>
          <a:solidFill>
            <a:srgbClr val="F1F8E9"/>
          </a:solidFill>
          <a:ln w="12700">
            <a:solidFill>
              <a:srgbClr val="4CAF50">
                <a:alpha val="40000"/>
              </a:srgbClr>
            </a:solidFill>
            <a:prstDash val="solid"/>
          </a:ln>
        </p:spPr>
      </p:sp>
      <p:sp>
        <p:nvSpPr>
          <p:cNvPr id="56" name="Text 54"/>
          <p:cNvSpPr/>
          <p:nvPr/>
        </p:nvSpPr>
        <p:spPr>
          <a:xfrm>
            <a:off x="365760" y="3749040"/>
            <a:ext cx="2651760" cy="502920"/>
          </a:xfrm>
          <a:prstGeom prst="rect">
            <a:avLst/>
          </a:prstGeom>
          <a:noFill/>
          <a:ln/>
        </p:spPr>
        <p:txBody>
          <a:bodyPr wrap="square" rtlCol="0" anchor="ctr"/>
          <a:lstStyle/>
          <a:p>
            <a:pPr marL="0" indent="0" algn="ctr">
              <a:buNone/>
            </a:pPr>
            <a:r>
              <a:rPr lang="en-US" sz="1150" b="1" dirty="0">
                <a:solidFill>
                  <a:srgbClr val="1B5E20"/>
                </a:solidFill>
                <a:latin typeface="Calibri" pitchFamily="34" charset="0"/>
                <a:ea typeface="Calibri" pitchFamily="34" charset="-122"/>
                <a:cs typeface="Calibri" pitchFamily="34" charset="-120"/>
              </a:rPr>
              <a:t>🗑️ Classify Waste</a:t>
            </a:r>
            <a:endParaRPr lang="en-US" sz="1150" dirty="0"/>
          </a:p>
        </p:txBody>
      </p:sp>
      <p:sp>
        <p:nvSpPr>
          <p:cNvPr id="57" name="Shape 55"/>
          <p:cNvSpPr/>
          <p:nvPr/>
        </p:nvSpPr>
        <p:spPr>
          <a:xfrm>
            <a:off x="3200400" y="3749040"/>
            <a:ext cx="2651760" cy="502920"/>
          </a:xfrm>
          <a:prstGeom prst="roundRect">
            <a:avLst>
              <a:gd name="adj" fmla="val 18182"/>
            </a:avLst>
          </a:prstGeom>
          <a:solidFill>
            <a:srgbClr val="F1F8E9"/>
          </a:solidFill>
          <a:ln w="12700">
            <a:solidFill>
              <a:srgbClr val="4CAF50">
                <a:alpha val="40000"/>
              </a:srgbClr>
            </a:solidFill>
            <a:prstDash val="solid"/>
          </a:ln>
        </p:spPr>
      </p:sp>
      <p:sp>
        <p:nvSpPr>
          <p:cNvPr id="58" name="Text 56"/>
          <p:cNvSpPr/>
          <p:nvPr/>
        </p:nvSpPr>
        <p:spPr>
          <a:xfrm>
            <a:off x="3200400" y="3749040"/>
            <a:ext cx="2651760" cy="502920"/>
          </a:xfrm>
          <a:prstGeom prst="rect">
            <a:avLst/>
          </a:prstGeom>
          <a:noFill/>
          <a:ln/>
        </p:spPr>
        <p:txBody>
          <a:bodyPr wrap="square" rtlCol="0" anchor="ctr"/>
          <a:lstStyle/>
          <a:p>
            <a:pPr marL="0" indent="0" algn="ctr">
              <a:buNone/>
            </a:pPr>
            <a:r>
              <a:rPr lang="en-US" sz="1150" b="1" dirty="0">
                <a:solidFill>
                  <a:srgbClr val="1B5E20"/>
                </a:solidFill>
                <a:latin typeface="Calibri" pitchFamily="34" charset="0"/>
                <a:ea typeface="Calibri" pitchFamily="34" charset="-122"/>
                <a:cs typeface="Calibri" pitchFamily="34" charset="-120"/>
              </a:rPr>
              <a:t>📋 Get Disposal Help</a:t>
            </a:r>
            <a:endParaRPr lang="en-US" sz="1150" dirty="0"/>
          </a:p>
        </p:txBody>
      </p:sp>
      <p:sp>
        <p:nvSpPr>
          <p:cNvPr id="59" name="Shape 57"/>
          <p:cNvSpPr/>
          <p:nvPr/>
        </p:nvSpPr>
        <p:spPr>
          <a:xfrm>
            <a:off x="6035040" y="3749040"/>
            <a:ext cx="2651760" cy="502920"/>
          </a:xfrm>
          <a:prstGeom prst="roundRect">
            <a:avLst>
              <a:gd name="adj" fmla="val 18182"/>
            </a:avLst>
          </a:prstGeom>
          <a:solidFill>
            <a:srgbClr val="F1F8E9"/>
          </a:solidFill>
          <a:ln w="12700">
            <a:solidFill>
              <a:srgbClr val="4CAF50">
                <a:alpha val="40000"/>
              </a:srgbClr>
            </a:solidFill>
            <a:prstDash val="solid"/>
          </a:ln>
        </p:spPr>
      </p:sp>
      <p:sp>
        <p:nvSpPr>
          <p:cNvPr id="60" name="Text 58"/>
          <p:cNvSpPr/>
          <p:nvPr/>
        </p:nvSpPr>
        <p:spPr>
          <a:xfrm>
            <a:off x="6035040" y="3749040"/>
            <a:ext cx="2651760" cy="502920"/>
          </a:xfrm>
          <a:prstGeom prst="rect">
            <a:avLst/>
          </a:prstGeom>
          <a:noFill/>
          <a:ln/>
        </p:spPr>
        <p:txBody>
          <a:bodyPr wrap="square" rtlCol="0" anchor="ctr"/>
          <a:lstStyle/>
          <a:p>
            <a:pPr marL="0" indent="0" algn="ctr">
              <a:buNone/>
            </a:pPr>
            <a:r>
              <a:rPr lang="en-US" sz="1150" b="1" dirty="0">
                <a:solidFill>
                  <a:srgbClr val="1B5E20"/>
                </a:solidFill>
                <a:latin typeface="Calibri" pitchFamily="34" charset="0"/>
                <a:ea typeface="Calibri" pitchFamily="34" charset="-122"/>
                <a:cs typeface="Calibri" pitchFamily="34" charset="-120"/>
              </a:rPr>
              <a:t>📍 Find Center</a:t>
            </a:r>
            <a:endParaRPr lang="en-US" sz="1150" dirty="0"/>
          </a:p>
        </p:txBody>
      </p:sp>
      <p:sp>
        <p:nvSpPr>
          <p:cNvPr id="61" name="Shape 59"/>
          <p:cNvSpPr/>
          <p:nvPr/>
        </p:nvSpPr>
        <p:spPr>
          <a:xfrm>
            <a:off x="365760" y="4389120"/>
            <a:ext cx="2651760" cy="502920"/>
          </a:xfrm>
          <a:prstGeom prst="roundRect">
            <a:avLst>
              <a:gd name="adj" fmla="val 18182"/>
            </a:avLst>
          </a:prstGeom>
          <a:solidFill>
            <a:srgbClr val="F1F8E9"/>
          </a:solidFill>
          <a:ln w="12700">
            <a:solidFill>
              <a:srgbClr val="4CAF50">
                <a:alpha val="40000"/>
              </a:srgbClr>
            </a:solidFill>
            <a:prstDash val="solid"/>
          </a:ln>
        </p:spPr>
      </p:sp>
      <p:sp>
        <p:nvSpPr>
          <p:cNvPr id="62" name="Text 60"/>
          <p:cNvSpPr/>
          <p:nvPr/>
        </p:nvSpPr>
        <p:spPr>
          <a:xfrm>
            <a:off x="365760" y="4389120"/>
            <a:ext cx="2651760" cy="502920"/>
          </a:xfrm>
          <a:prstGeom prst="rect">
            <a:avLst/>
          </a:prstGeom>
          <a:noFill/>
          <a:ln/>
        </p:spPr>
        <p:txBody>
          <a:bodyPr wrap="square" rtlCol="0" anchor="ctr"/>
          <a:lstStyle/>
          <a:p>
            <a:pPr marL="0" indent="0" algn="ctr">
              <a:buNone/>
            </a:pPr>
            <a:r>
              <a:rPr lang="en-US" sz="1150" b="1" dirty="0">
                <a:solidFill>
                  <a:srgbClr val="1B5E20"/>
                </a:solidFill>
                <a:latin typeface="Calibri" pitchFamily="34" charset="0"/>
                <a:ea typeface="Calibri" pitchFamily="34" charset="-122"/>
                <a:cs typeface="Calibri" pitchFamily="34" charset="-120"/>
              </a:rPr>
              <a:t>🌱 Eco Tips</a:t>
            </a:r>
            <a:endParaRPr lang="en-US" sz="1150" dirty="0"/>
          </a:p>
        </p:txBody>
      </p:sp>
      <p:sp>
        <p:nvSpPr>
          <p:cNvPr id="63" name="Shape 61"/>
          <p:cNvSpPr/>
          <p:nvPr/>
        </p:nvSpPr>
        <p:spPr>
          <a:xfrm>
            <a:off x="3200400" y="4389120"/>
            <a:ext cx="2651760" cy="502920"/>
          </a:xfrm>
          <a:prstGeom prst="roundRect">
            <a:avLst>
              <a:gd name="adj" fmla="val 18182"/>
            </a:avLst>
          </a:prstGeom>
          <a:solidFill>
            <a:srgbClr val="F1F8E9"/>
          </a:solidFill>
          <a:ln w="12700">
            <a:solidFill>
              <a:srgbClr val="4CAF50">
                <a:alpha val="40000"/>
              </a:srgbClr>
            </a:solidFill>
            <a:prstDash val="solid"/>
          </a:ln>
        </p:spPr>
      </p:sp>
      <p:sp>
        <p:nvSpPr>
          <p:cNvPr id="64" name="Text 62"/>
          <p:cNvSpPr/>
          <p:nvPr/>
        </p:nvSpPr>
        <p:spPr>
          <a:xfrm>
            <a:off x="3200400" y="4389120"/>
            <a:ext cx="2651760" cy="502920"/>
          </a:xfrm>
          <a:prstGeom prst="rect">
            <a:avLst/>
          </a:prstGeom>
          <a:noFill/>
          <a:ln/>
        </p:spPr>
        <p:txBody>
          <a:bodyPr wrap="square" rtlCol="0" anchor="ctr"/>
          <a:lstStyle/>
          <a:p>
            <a:pPr marL="0" indent="0" algn="ctr">
              <a:buNone/>
            </a:pPr>
            <a:r>
              <a:rPr lang="en-US" sz="1150" b="1" dirty="0">
                <a:solidFill>
                  <a:srgbClr val="1B5E20"/>
                </a:solidFill>
                <a:latin typeface="Calibri" pitchFamily="34" charset="0"/>
                <a:ea typeface="Calibri" pitchFamily="34" charset="-122"/>
                <a:cs typeface="Calibri" pitchFamily="34" charset="-120"/>
              </a:rPr>
              <a:t>📊 Track Progress</a:t>
            </a:r>
            <a:endParaRPr lang="en-US" sz="1150" dirty="0"/>
          </a:p>
        </p:txBody>
      </p:sp>
      <p:sp>
        <p:nvSpPr>
          <p:cNvPr id="65" name="Shape 63"/>
          <p:cNvSpPr/>
          <p:nvPr/>
        </p:nvSpPr>
        <p:spPr>
          <a:xfrm>
            <a:off x="6035040" y="4389120"/>
            <a:ext cx="2651760" cy="502920"/>
          </a:xfrm>
          <a:prstGeom prst="roundRect">
            <a:avLst>
              <a:gd name="adj" fmla="val 18182"/>
            </a:avLst>
          </a:prstGeom>
          <a:solidFill>
            <a:srgbClr val="F1F8E9"/>
          </a:solidFill>
          <a:ln w="12700">
            <a:solidFill>
              <a:srgbClr val="4CAF50">
                <a:alpha val="40000"/>
              </a:srgbClr>
            </a:solidFill>
            <a:prstDash val="solid"/>
          </a:ln>
        </p:spPr>
      </p:sp>
      <p:sp>
        <p:nvSpPr>
          <p:cNvPr id="66" name="Text 64"/>
          <p:cNvSpPr/>
          <p:nvPr/>
        </p:nvSpPr>
        <p:spPr>
          <a:xfrm>
            <a:off x="6035040" y="4389120"/>
            <a:ext cx="2651760" cy="502920"/>
          </a:xfrm>
          <a:prstGeom prst="rect">
            <a:avLst/>
          </a:prstGeom>
          <a:noFill/>
          <a:ln/>
        </p:spPr>
        <p:txBody>
          <a:bodyPr wrap="square" rtlCol="0" anchor="ctr"/>
          <a:lstStyle/>
          <a:p>
            <a:pPr marL="0" indent="0" algn="ctr">
              <a:buNone/>
            </a:pPr>
            <a:r>
              <a:rPr lang="en-US" sz="1150" b="1" dirty="0">
                <a:solidFill>
                  <a:srgbClr val="1B5E20"/>
                </a:solidFill>
                <a:latin typeface="Calibri" pitchFamily="34" charset="0"/>
                <a:ea typeface="Calibri" pitchFamily="34" charset="-122"/>
                <a:cs typeface="Calibri" pitchFamily="34" charset="-120"/>
              </a:rPr>
              <a:t>🎮 EcoChallenge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8E9"/>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5E20"/>
          </a:solidFill>
          <a:ln w="12700">
            <a:solidFill>
              <a:srgbClr val="1B5E20"/>
            </a:solidFill>
            <a:prstDash val="solid"/>
          </a:ln>
        </p:spPr>
      </p:sp>
      <p:sp>
        <p:nvSpPr>
          <p:cNvPr id="3" name="Text 1"/>
          <p:cNvSpPr/>
          <p:nvPr/>
        </p:nvSpPr>
        <p:spPr>
          <a:xfrm>
            <a:off x="365760" y="0"/>
            <a:ext cx="8412480" cy="82296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AI Agent Design &amp; IBM Watson Assistant</a:t>
            </a:r>
            <a:endParaRPr lang="en-US" sz="2600" dirty="0"/>
          </a:p>
        </p:txBody>
      </p:sp>
      <p:sp>
        <p:nvSpPr>
          <p:cNvPr id="4" name="Text 2"/>
          <p:cNvSpPr/>
          <p:nvPr/>
        </p:nvSpPr>
        <p:spPr>
          <a:xfrm>
            <a:off x="7772400" y="91440"/>
            <a:ext cx="1188720" cy="320040"/>
          </a:xfrm>
          <a:prstGeom prst="rect">
            <a:avLst/>
          </a:prstGeom>
          <a:noFill/>
          <a:ln/>
        </p:spPr>
        <p:txBody>
          <a:bodyPr wrap="square" rtlCol="0" anchor="ctr"/>
          <a:lstStyle/>
          <a:p>
            <a:pPr marL="0" indent="0" algn="r">
              <a:buNone/>
            </a:pPr>
            <a:r>
              <a:rPr lang="en-US" sz="900" dirty="0">
                <a:solidFill>
                  <a:srgbClr val="C8E6C9"/>
                </a:solidFill>
                <a:latin typeface="Calibri" pitchFamily="34" charset="0"/>
                <a:ea typeface="Calibri" pitchFamily="34" charset="-122"/>
                <a:cs typeface="Calibri" pitchFamily="34" charset="-120"/>
              </a:rPr>
              <a:t>SLIDE 8 of 12</a:t>
            </a:r>
            <a:endParaRPr lang="en-US" sz="900" dirty="0"/>
          </a:p>
        </p:txBody>
      </p:sp>
      <p:sp>
        <p:nvSpPr>
          <p:cNvPr id="5" name="Shape 3"/>
          <p:cNvSpPr/>
          <p:nvPr/>
        </p:nvSpPr>
        <p:spPr>
          <a:xfrm>
            <a:off x="365760" y="960120"/>
            <a:ext cx="4114800" cy="384048"/>
          </a:xfrm>
          <a:prstGeom prst="roundRect">
            <a:avLst>
              <a:gd name="adj" fmla="val 19048"/>
            </a:avLst>
          </a:prstGeom>
          <a:solidFill>
            <a:srgbClr val="1B5E20"/>
          </a:solidFill>
          <a:ln w="12700">
            <a:solidFill>
              <a:srgbClr val="1B5E20"/>
            </a:solidFill>
            <a:prstDash val="solid"/>
          </a:ln>
        </p:spPr>
      </p:sp>
      <p:sp>
        <p:nvSpPr>
          <p:cNvPr id="6" name="Text 4"/>
          <p:cNvSpPr/>
          <p:nvPr/>
        </p:nvSpPr>
        <p:spPr>
          <a:xfrm>
            <a:off x="365760" y="960120"/>
            <a:ext cx="4114800" cy="38404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Technology Stack</a:t>
            </a:r>
            <a:endParaRPr lang="en-US" sz="1400" dirty="0"/>
          </a:p>
        </p:txBody>
      </p:sp>
      <p:sp>
        <p:nvSpPr>
          <p:cNvPr id="7" name="Shape 5"/>
          <p:cNvSpPr/>
          <p:nvPr/>
        </p:nvSpPr>
        <p:spPr>
          <a:xfrm>
            <a:off x="365760" y="1435608"/>
            <a:ext cx="4114800" cy="502920"/>
          </a:xfrm>
          <a:prstGeom prst="roundRect">
            <a:avLst>
              <a:gd name="adj" fmla="val 14545"/>
            </a:avLst>
          </a:prstGeom>
          <a:solidFill>
            <a:srgbClr val="FFFFFF"/>
          </a:solidFill>
          <a:ln w="12700">
            <a:solidFill>
              <a:srgbClr val="0F62FE">
                <a:alpha val="40000"/>
              </a:srgbClr>
            </a:solidFill>
            <a:prstDash val="solid"/>
          </a:ln>
          <a:effectLst>
            <a:outerShdw blurRad="101600" dist="38100" dir="2700000" algn="bl" rotWithShape="0">
              <a:srgbClr val="000000">
                <a:alpha val="12000"/>
              </a:srgbClr>
            </a:outerShdw>
          </a:effectLst>
        </p:spPr>
      </p:sp>
      <p:sp>
        <p:nvSpPr>
          <p:cNvPr id="8" name="Shape 6"/>
          <p:cNvSpPr/>
          <p:nvPr/>
        </p:nvSpPr>
        <p:spPr>
          <a:xfrm>
            <a:off x="365760" y="1435608"/>
            <a:ext cx="914400" cy="502920"/>
          </a:xfrm>
          <a:prstGeom prst="roundRect">
            <a:avLst>
              <a:gd name="adj" fmla="val 14545"/>
            </a:avLst>
          </a:prstGeom>
          <a:solidFill>
            <a:srgbClr val="0F62FE">
              <a:alpha val="90000"/>
            </a:srgbClr>
          </a:solidFill>
          <a:ln w="12700">
            <a:solidFill>
              <a:srgbClr val="0F62FE">
                <a:alpha val="90000"/>
              </a:srgbClr>
            </a:solidFill>
            <a:prstDash val="solid"/>
          </a:ln>
        </p:spPr>
      </p:sp>
      <p:sp>
        <p:nvSpPr>
          <p:cNvPr id="9" name="Text 7"/>
          <p:cNvSpPr/>
          <p:nvPr/>
        </p:nvSpPr>
        <p:spPr>
          <a:xfrm>
            <a:off x="365760" y="1435608"/>
            <a:ext cx="914400"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LLM</a:t>
            </a:r>
            <a:endParaRPr lang="en-US" sz="1000" dirty="0"/>
          </a:p>
        </p:txBody>
      </p:sp>
      <p:sp>
        <p:nvSpPr>
          <p:cNvPr id="10" name="Text 8"/>
          <p:cNvSpPr/>
          <p:nvPr/>
        </p:nvSpPr>
        <p:spPr>
          <a:xfrm>
            <a:off x="1371600" y="1435608"/>
            <a:ext cx="3017520" cy="502920"/>
          </a:xfrm>
          <a:prstGeom prst="rect">
            <a:avLst/>
          </a:prstGeom>
          <a:noFill/>
          <a:ln/>
        </p:spPr>
        <p:txBody>
          <a:bodyPr wrap="square" rtlCol="0" anchor="ctr"/>
          <a:lstStyle/>
          <a:p>
            <a:pPr marL="0" indent="0">
              <a:buNone/>
            </a:pPr>
            <a:r>
              <a:rPr lang="en-US" sz="1100" dirty="0">
                <a:solidFill>
                  <a:srgbClr val="263238"/>
                </a:solidFill>
                <a:latin typeface="Calibri" pitchFamily="34" charset="0"/>
                <a:ea typeface="Calibri" pitchFamily="34" charset="-122"/>
                <a:cs typeface="Calibri" pitchFamily="34" charset="-120"/>
              </a:rPr>
              <a:t>IBM watsonx.ai  (Granite-13b-chat)</a:t>
            </a:r>
            <a:endParaRPr lang="en-US" sz="1100" dirty="0"/>
          </a:p>
        </p:txBody>
      </p:sp>
      <p:sp>
        <p:nvSpPr>
          <p:cNvPr id="11" name="Shape 9"/>
          <p:cNvSpPr/>
          <p:nvPr/>
        </p:nvSpPr>
        <p:spPr>
          <a:xfrm>
            <a:off x="365760" y="2011680"/>
            <a:ext cx="4114800" cy="502920"/>
          </a:xfrm>
          <a:prstGeom prst="roundRect">
            <a:avLst>
              <a:gd name="adj" fmla="val 14545"/>
            </a:avLst>
          </a:prstGeom>
          <a:solidFill>
            <a:srgbClr val="FFFFFF"/>
          </a:solidFill>
          <a:ln w="12700">
            <a:solidFill>
              <a:srgbClr val="1B5E20">
                <a:alpha val="40000"/>
              </a:srgbClr>
            </a:solidFill>
            <a:prstDash val="solid"/>
          </a:ln>
          <a:effectLst>
            <a:outerShdw blurRad="101600" dist="38100" dir="2700000" algn="bl" rotWithShape="0">
              <a:srgbClr val="000000">
                <a:alpha val="12000"/>
              </a:srgbClr>
            </a:outerShdw>
          </a:effectLst>
        </p:spPr>
      </p:sp>
      <p:sp>
        <p:nvSpPr>
          <p:cNvPr id="12" name="Shape 10"/>
          <p:cNvSpPr/>
          <p:nvPr/>
        </p:nvSpPr>
        <p:spPr>
          <a:xfrm>
            <a:off x="365760" y="2011680"/>
            <a:ext cx="914400" cy="502920"/>
          </a:xfrm>
          <a:prstGeom prst="roundRect">
            <a:avLst>
              <a:gd name="adj" fmla="val 14545"/>
            </a:avLst>
          </a:prstGeom>
          <a:solidFill>
            <a:srgbClr val="1B5E20">
              <a:alpha val="90000"/>
            </a:srgbClr>
          </a:solidFill>
          <a:ln w="12700">
            <a:solidFill>
              <a:srgbClr val="1B5E20">
                <a:alpha val="90000"/>
              </a:srgbClr>
            </a:solidFill>
            <a:prstDash val="solid"/>
          </a:ln>
        </p:spPr>
      </p:sp>
      <p:sp>
        <p:nvSpPr>
          <p:cNvPr id="13" name="Text 11"/>
          <p:cNvSpPr/>
          <p:nvPr/>
        </p:nvSpPr>
        <p:spPr>
          <a:xfrm>
            <a:off x="365760" y="2011680"/>
            <a:ext cx="914400"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Dialog</a:t>
            </a:r>
            <a:endParaRPr lang="en-US" sz="1000" dirty="0"/>
          </a:p>
        </p:txBody>
      </p:sp>
      <p:sp>
        <p:nvSpPr>
          <p:cNvPr id="14" name="Text 12"/>
          <p:cNvSpPr/>
          <p:nvPr/>
        </p:nvSpPr>
        <p:spPr>
          <a:xfrm>
            <a:off x="1371600" y="2011680"/>
            <a:ext cx="3017520" cy="502920"/>
          </a:xfrm>
          <a:prstGeom prst="rect">
            <a:avLst/>
          </a:prstGeom>
          <a:noFill/>
          <a:ln/>
        </p:spPr>
        <p:txBody>
          <a:bodyPr wrap="square" rtlCol="0" anchor="ctr"/>
          <a:lstStyle/>
          <a:p>
            <a:pPr marL="0" indent="0">
              <a:buNone/>
            </a:pPr>
            <a:r>
              <a:rPr lang="en-US" sz="1100" dirty="0">
                <a:solidFill>
                  <a:srgbClr val="263238"/>
                </a:solidFill>
                <a:latin typeface="Calibri" pitchFamily="34" charset="0"/>
                <a:ea typeface="Calibri" pitchFamily="34" charset="-122"/>
                <a:cs typeface="Calibri" pitchFamily="34" charset="-120"/>
              </a:rPr>
              <a:t>IBM Watson Assistant (BOB)</a:t>
            </a:r>
            <a:endParaRPr lang="en-US" sz="1100" dirty="0"/>
          </a:p>
        </p:txBody>
      </p:sp>
      <p:sp>
        <p:nvSpPr>
          <p:cNvPr id="15" name="Shape 13"/>
          <p:cNvSpPr/>
          <p:nvPr/>
        </p:nvSpPr>
        <p:spPr>
          <a:xfrm>
            <a:off x="365760" y="2587752"/>
            <a:ext cx="4114800" cy="502920"/>
          </a:xfrm>
          <a:prstGeom prst="roundRect">
            <a:avLst>
              <a:gd name="adj" fmla="val 14545"/>
            </a:avLst>
          </a:prstGeom>
          <a:solidFill>
            <a:srgbClr val="FFFFFF"/>
          </a:solidFill>
          <a:ln w="12700">
            <a:solidFill>
              <a:srgbClr val="5C6BC0">
                <a:alpha val="40000"/>
              </a:srgbClr>
            </a:solidFill>
            <a:prstDash val="solid"/>
          </a:ln>
          <a:effectLst>
            <a:outerShdw blurRad="101600" dist="38100" dir="2700000" algn="bl" rotWithShape="0">
              <a:srgbClr val="000000">
                <a:alpha val="12000"/>
              </a:srgbClr>
            </a:outerShdw>
          </a:effectLst>
        </p:spPr>
      </p:sp>
      <p:sp>
        <p:nvSpPr>
          <p:cNvPr id="16" name="Shape 14"/>
          <p:cNvSpPr/>
          <p:nvPr/>
        </p:nvSpPr>
        <p:spPr>
          <a:xfrm>
            <a:off x="365760" y="2587752"/>
            <a:ext cx="914400" cy="502920"/>
          </a:xfrm>
          <a:prstGeom prst="roundRect">
            <a:avLst>
              <a:gd name="adj" fmla="val 14545"/>
            </a:avLst>
          </a:prstGeom>
          <a:solidFill>
            <a:srgbClr val="5C6BC0">
              <a:alpha val="90000"/>
            </a:srgbClr>
          </a:solidFill>
          <a:ln w="12700">
            <a:solidFill>
              <a:srgbClr val="5C6BC0">
                <a:alpha val="90000"/>
              </a:srgbClr>
            </a:solidFill>
            <a:prstDash val="solid"/>
          </a:ln>
        </p:spPr>
      </p:sp>
      <p:sp>
        <p:nvSpPr>
          <p:cNvPr id="17" name="Text 15"/>
          <p:cNvSpPr/>
          <p:nvPr/>
        </p:nvSpPr>
        <p:spPr>
          <a:xfrm>
            <a:off x="365760" y="2587752"/>
            <a:ext cx="914400"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Vision</a:t>
            </a:r>
            <a:endParaRPr lang="en-US" sz="1000" dirty="0"/>
          </a:p>
        </p:txBody>
      </p:sp>
      <p:sp>
        <p:nvSpPr>
          <p:cNvPr id="18" name="Text 16"/>
          <p:cNvSpPr/>
          <p:nvPr/>
        </p:nvSpPr>
        <p:spPr>
          <a:xfrm>
            <a:off x="1371600" y="2587752"/>
            <a:ext cx="3017520" cy="502920"/>
          </a:xfrm>
          <a:prstGeom prst="rect">
            <a:avLst/>
          </a:prstGeom>
          <a:noFill/>
          <a:ln/>
        </p:spPr>
        <p:txBody>
          <a:bodyPr wrap="square" rtlCol="0" anchor="ctr"/>
          <a:lstStyle/>
          <a:p>
            <a:pPr marL="0" indent="0">
              <a:buNone/>
            </a:pPr>
            <a:r>
              <a:rPr lang="en-US" sz="1100" dirty="0">
                <a:solidFill>
                  <a:srgbClr val="263238"/>
                </a:solidFill>
                <a:latin typeface="Calibri" pitchFamily="34" charset="0"/>
                <a:ea typeface="Calibri" pitchFamily="34" charset="-122"/>
                <a:cs typeface="Calibri" pitchFamily="34" charset="-120"/>
              </a:rPr>
              <a:t>watsonx.ai Computer Vision</a:t>
            </a:r>
            <a:endParaRPr lang="en-US" sz="1100" dirty="0"/>
          </a:p>
        </p:txBody>
      </p:sp>
      <p:sp>
        <p:nvSpPr>
          <p:cNvPr id="19" name="Shape 17"/>
          <p:cNvSpPr/>
          <p:nvPr/>
        </p:nvSpPr>
        <p:spPr>
          <a:xfrm>
            <a:off x="365760" y="3163824"/>
            <a:ext cx="4114800" cy="502920"/>
          </a:xfrm>
          <a:prstGeom prst="roundRect">
            <a:avLst>
              <a:gd name="adj" fmla="val 14545"/>
            </a:avLst>
          </a:prstGeom>
          <a:solidFill>
            <a:srgbClr val="FFFFFF"/>
          </a:solidFill>
          <a:ln w="12700">
            <a:solidFill>
              <a:srgbClr val="0097A7">
                <a:alpha val="40000"/>
              </a:srgbClr>
            </a:solidFill>
            <a:prstDash val="solid"/>
          </a:ln>
          <a:effectLst>
            <a:outerShdw blurRad="101600" dist="38100" dir="2700000" algn="bl" rotWithShape="0">
              <a:srgbClr val="000000">
                <a:alpha val="12000"/>
              </a:srgbClr>
            </a:outerShdw>
          </a:effectLst>
        </p:spPr>
      </p:sp>
      <p:sp>
        <p:nvSpPr>
          <p:cNvPr id="20" name="Shape 18"/>
          <p:cNvSpPr/>
          <p:nvPr/>
        </p:nvSpPr>
        <p:spPr>
          <a:xfrm>
            <a:off x="365760" y="3163824"/>
            <a:ext cx="914400" cy="502920"/>
          </a:xfrm>
          <a:prstGeom prst="roundRect">
            <a:avLst>
              <a:gd name="adj" fmla="val 14545"/>
            </a:avLst>
          </a:prstGeom>
          <a:solidFill>
            <a:srgbClr val="0097A7">
              <a:alpha val="90000"/>
            </a:srgbClr>
          </a:solidFill>
          <a:ln w="12700">
            <a:solidFill>
              <a:srgbClr val="0097A7">
                <a:alpha val="90000"/>
              </a:srgbClr>
            </a:solidFill>
            <a:prstDash val="solid"/>
          </a:ln>
        </p:spPr>
      </p:sp>
      <p:sp>
        <p:nvSpPr>
          <p:cNvPr id="21" name="Text 19"/>
          <p:cNvSpPr/>
          <p:nvPr/>
        </p:nvSpPr>
        <p:spPr>
          <a:xfrm>
            <a:off x="365760" y="3163824"/>
            <a:ext cx="914400"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Data</a:t>
            </a:r>
            <a:endParaRPr lang="en-US" sz="1000" dirty="0"/>
          </a:p>
        </p:txBody>
      </p:sp>
      <p:sp>
        <p:nvSpPr>
          <p:cNvPr id="22" name="Text 20"/>
          <p:cNvSpPr/>
          <p:nvPr/>
        </p:nvSpPr>
        <p:spPr>
          <a:xfrm>
            <a:off x="1371600" y="3163824"/>
            <a:ext cx="3017520" cy="502920"/>
          </a:xfrm>
          <a:prstGeom prst="rect">
            <a:avLst/>
          </a:prstGeom>
          <a:noFill/>
          <a:ln/>
        </p:spPr>
        <p:txBody>
          <a:bodyPr wrap="square" rtlCol="0" anchor="ctr"/>
          <a:lstStyle/>
          <a:p>
            <a:pPr marL="0" indent="0">
              <a:buNone/>
            </a:pPr>
            <a:r>
              <a:rPr lang="en-US" sz="1100" dirty="0">
                <a:solidFill>
                  <a:srgbClr val="263238"/>
                </a:solidFill>
                <a:latin typeface="Calibri" pitchFamily="34" charset="0"/>
                <a:ea typeface="Calibri" pitchFamily="34" charset="-122"/>
                <a:cs typeface="Calibri" pitchFamily="34" charset="-120"/>
              </a:rPr>
              <a:t>IBM Cloudant + Watson Discovery</a:t>
            </a:r>
            <a:endParaRPr lang="en-US" sz="1100" dirty="0"/>
          </a:p>
        </p:txBody>
      </p:sp>
      <p:sp>
        <p:nvSpPr>
          <p:cNvPr id="23" name="Shape 21"/>
          <p:cNvSpPr/>
          <p:nvPr/>
        </p:nvSpPr>
        <p:spPr>
          <a:xfrm>
            <a:off x="365760" y="3739896"/>
            <a:ext cx="4114800" cy="502920"/>
          </a:xfrm>
          <a:prstGeom prst="roundRect">
            <a:avLst>
              <a:gd name="adj" fmla="val 14545"/>
            </a:avLst>
          </a:prstGeom>
          <a:solidFill>
            <a:srgbClr val="FFFFFF"/>
          </a:solidFill>
          <a:ln w="12700">
            <a:solidFill>
              <a:srgbClr val="FF8F00">
                <a:alpha val="40000"/>
              </a:srgbClr>
            </a:solidFill>
            <a:prstDash val="solid"/>
          </a:ln>
          <a:effectLst>
            <a:outerShdw blurRad="101600" dist="38100" dir="2700000" algn="bl" rotWithShape="0">
              <a:srgbClr val="000000">
                <a:alpha val="12000"/>
              </a:srgbClr>
            </a:outerShdw>
          </a:effectLst>
        </p:spPr>
      </p:sp>
      <p:sp>
        <p:nvSpPr>
          <p:cNvPr id="24" name="Shape 22"/>
          <p:cNvSpPr/>
          <p:nvPr/>
        </p:nvSpPr>
        <p:spPr>
          <a:xfrm>
            <a:off x="365760" y="3739896"/>
            <a:ext cx="914400" cy="502920"/>
          </a:xfrm>
          <a:prstGeom prst="roundRect">
            <a:avLst>
              <a:gd name="adj" fmla="val 14545"/>
            </a:avLst>
          </a:prstGeom>
          <a:solidFill>
            <a:srgbClr val="FF8F00">
              <a:alpha val="90000"/>
            </a:srgbClr>
          </a:solidFill>
          <a:ln w="12700">
            <a:solidFill>
              <a:srgbClr val="FF8F00">
                <a:alpha val="90000"/>
              </a:srgbClr>
            </a:solidFill>
            <a:prstDash val="solid"/>
          </a:ln>
        </p:spPr>
      </p:sp>
      <p:sp>
        <p:nvSpPr>
          <p:cNvPr id="25" name="Text 23"/>
          <p:cNvSpPr/>
          <p:nvPr/>
        </p:nvSpPr>
        <p:spPr>
          <a:xfrm>
            <a:off x="365760" y="3739896"/>
            <a:ext cx="914400"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Backend</a:t>
            </a:r>
            <a:endParaRPr lang="en-US" sz="1000" dirty="0"/>
          </a:p>
        </p:txBody>
      </p:sp>
      <p:sp>
        <p:nvSpPr>
          <p:cNvPr id="26" name="Text 24"/>
          <p:cNvSpPr/>
          <p:nvPr/>
        </p:nvSpPr>
        <p:spPr>
          <a:xfrm>
            <a:off x="1371600" y="3739896"/>
            <a:ext cx="3017520" cy="502920"/>
          </a:xfrm>
          <a:prstGeom prst="rect">
            <a:avLst/>
          </a:prstGeom>
          <a:noFill/>
          <a:ln/>
        </p:spPr>
        <p:txBody>
          <a:bodyPr wrap="square" rtlCol="0" anchor="ctr"/>
          <a:lstStyle/>
          <a:p>
            <a:pPr marL="0" indent="0">
              <a:buNone/>
            </a:pPr>
            <a:r>
              <a:rPr lang="en-US" sz="1100" dirty="0">
                <a:solidFill>
                  <a:srgbClr val="263238"/>
                </a:solidFill>
                <a:latin typeface="Calibri" pitchFamily="34" charset="0"/>
                <a:ea typeface="Calibri" pitchFamily="34" charset="-122"/>
                <a:cs typeface="Calibri" pitchFamily="34" charset="-120"/>
              </a:rPr>
              <a:t>Python + FastAPI</a:t>
            </a:r>
            <a:endParaRPr lang="en-US" sz="1100" dirty="0"/>
          </a:p>
        </p:txBody>
      </p:sp>
      <p:sp>
        <p:nvSpPr>
          <p:cNvPr id="27" name="Shape 25"/>
          <p:cNvSpPr/>
          <p:nvPr/>
        </p:nvSpPr>
        <p:spPr>
          <a:xfrm>
            <a:off x="365760" y="4315968"/>
            <a:ext cx="4114800" cy="502920"/>
          </a:xfrm>
          <a:prstGeom prst="roundRect">
            <a:avLst>
              <a:gd name="adj" fmla="val 14545"/>
            </a:avLst>
          </a:prstGeom>
          <a:solidFill>
            <a:srgbClr val="FFFFFF"/>
          </a:solidFill>
          <a:ln w="12700">
            <a:solidFill>
              <a:srgbClr val="E64A19">
                <a:alpha val="40000"/>
              </a:srgbClr>
            </a:solidFill>
            <a:prstDash val="solid"/>
          </a:ln>
          <a:effectLst>
            <a:outerShdw blurRad="101600" dist="38100" dir="2700000" algn="bl" rotWithShape="0">
              <a:srgbClr val="000000">
                <a:alpha val="12000"/>
              </a:srgbClr>
            </a:outerShdw>
          </a:effectLst>
        </p:spPr>
      </p:sp>
      <p:sp>
        <p:nvSpPr>
          <p:cNvPr id="28" name="Shape 26"/>
          <p:cNvSpPr/>
          <p:nvPr/>
        </p:nvSpPr>
        <p:spPr>
          <a:xfrm>
            <a:off x="365760" y="4315968"/>
            <a:ext cx="914400" cy="502920"/>
          </a:xfrm>
          <a:prstGeom prst="roundRect">
            <a:avLst>
              <a:gd name="adj" fmla="val 14545"/>
            </a:avLst>
          </a:prstGeom>
          <a:solidFill>
            <a:srgbClr val="E64A19">
              <a:alpha val="90000"/>
            </a:srgbClr>
          </a:solidFill>
          <a:ln w="12700">
            <a:solidFill>
              <a:srgbClr val="E64A19">
                <a:alpha val="90000"/>
              </a:srgbClr>
            </a:solidFill>
            <a:prstDash val="solid"/>
          </a:ln>
        </p:spPr>
      </p:sp>
      <p:sp>
        <p:nvSpPr>
          <p:cNvPr id="29" name="Text 27"/>
          <p:cNvSpPr/>
          <p:nvPr/>
        </p:nvSpPr>
        <p:spPr>
          <a:xfrm>
            <a:off x="365760" y="4315968"/>
            <a:ext cx="914400"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Frontend</a:t>
            </a:r>
            <a:endParaRPr lang="en-US" sz="1000" dirty="0"/>
          </a:p>
        </p:txBody>
      </p:sp>
      <p:sp>
        <p:nvSpPr>
          <p:cNvPr id="30" name="Text 28"/>
          <p:cNvSpPr/>
          <p:nvPr/>
        </p:nvSpPr>
        <p:spPr>
          <a:xfrm>
            <a:off x="1371600" y="4315968"/>
            <a:ext cx="3017520" cy="502920"/>
          </a:xfrm>
          <a:prstGeom prst="rect">
            <a:avLst/>
          </a:prstGeom>
          <a:noFill/>
          <a:ln/>
        </p:spPr>
        <p:txBody>
          <a:bodyPr wrap="square" rtlCol="0" anchor="ctr"/>
          <a:lstStyle/>
          <a:p>
            <a:pPr marL="0" indent="0">
              <a:buNone/>
            </a:pPr>
            <a:r>
              <a:rPr lang="en-US" sz="1100" dirty="0">
                <a:solidFill>
                  <a:srgbClr val="263238"/>
                </a:solidFill>
                <a:latin typeface="Calibri" pitchFamily="34" charset="0"/>
                <a:ea typeface="Calibri" pitchFamily="34" charset="-122"/>
                <a:cs typeface="Calibri" pitchFamily="34" charset="-120"/>
              </a:rPr>
              <a:t>React.js + Tailwind CSS</a:t>
            </a:r>
            <a:endParaRPr lang="en-US" sz="1100" dirty="0"/>
          </a:p>
        </p:txBody>
      </p:sp>
      <p:sp>
        <p:nvSpPr>
          <p:cNvPr id="31" name="Shape 29"/>
          <p:cNvSpPr/>
          <p:nvPr/>
        </p:nvSpPr>
        <p:spPr>
          <a:xfrm>
            <a:off x="4663440" y="960120"/>
            <a:ext cx="4114800" cy="384048"/>
          </a:xfrm>
          <a:prstGeom prst="roundRect">
            <a:avLst>
              <a:gd name="adj" fmla="val 19048"/>
            </a:avLst>
          </a:prstGeom>
          <a:solidFill>
            <a:srgbClr val="0F62FE"/>
          </a:solidFill>
          <a:ln w="12700">
            <a:solidFill>
              <a:srgbClr val="0F62FE"/>
            </a:solidFill>
            <a:prstDash val="solid"/>
          </a:ln>
        </p:spPr>
      </p:sp>
      <p:sp>
        <p:nvSpPr>
          <p:cNvPr id="32" name="Text 30"/>
          <p:cNvSpPr/>
          <p:nvPr/>
        </p:nvSpPr>
        <p:spPr>
          <a:xfrm>
            <a:off x="4663440" y="960120"/>
            <a:ext cx="4114800" cy="384048"/>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IBM Watson Assistant (BOB)</a:t>
            </a:r>
            <a:endParaRPr lang="en-US" sz="1300" dirty="0"/>
          </a:p>
        </p:txBody>
      </p:sp>
      <p:sp>
        <p:nvSpPr>
          <p:cNvPr id="33" name="Shape 31"/>
          <p:cNvSpPr/>
          <p:nvPr/>
        </p:nvSpPr>
        <p:spPr>
          <a:xfrm>
            <a:off x="4663440" y="1435608"/>
            <a:ext cx="1965960" cy="1097280"/>
          </a:xfrm>
          <a:prstGeom prst="roundRect">
            <a:avLst>
              <a:gd name="adj" fmla="val 8333"/>
            </a:avLst>
          </a:prstGeom>
          <a:solidFill>
            <a:srgbClr val="EFF6FF"/>
          </a:solidFill>
          <a:ln w="12700">
            <a:solidFill>
              <a:srgbClr val="0F62FE">
                <a:alpha val="30000"/>
              </a:srgbClr>
            </a:solidFill>
            <a:prstDash val="solid"/>
          </a:ln>
          <a:effectLst>
            <a:outerShdw blurRad="101600" dist="38100" dir="2700000" algn="bl" rotWithShape="0">
              <a:srgbClr val="000000">
                <a:alpha val="12000"/>
              </a:srgbClr>
            </a:outerShdw>
          </a:effectLst>
        </p:spPr>
      </p:sp>
      <p:sp>
        <p:nvSpPr>
          <p:cNvPr id="34" name="Text 32"/>
          <p:cNvSpPr/>
          <p:nvPr/>
        </p:nvSpPr>
        <p:spPr>
          <a:xfrm>
            <a:off x="4663440" y="1481328"/>
            <a:ext cx="1965960" cy="45720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35" name="Text 33"/>
          <p:cNvSpPr/>
          <p:nvPr/>
        </p:nvSpPr>
        <p:spPr>
          <a:xfrm>
            <a:off x="4663440" y="1911096"/>
            <a:ext cx="1965960" cy="274320"/>
          </a:xfrm>
          <a:prstGeom prst="rect">
            <a:avLst/>
          </a:prstGeom>
          <a:noFill/>
          <a:ln/>
        </p:spPr>
        <p:txBody>
          <a:bodyPr wrap="square" rtlCol="0" anchor="ctr"/>
          <a:lstStyle/>
          <a:p>
            <a:pPr marL="0" indent="0" algn="ctr">
              <a:buNone/>
            </a:pPr>
            <a:r>
              <a:rPr lang="en-US" sz="1100" b="1" dirty="0">
                <a:solidFill>
                  <a:srgbClr val="0F62FE"/>
                </a:solidFill>
                <a:latin typeface="Arial" pitchFamily="34" charset="0"/>
                <a:ea typeface="Arial" pitchFamily="34" charset="-122"/>
                <a:cs typeface="Arial" pitchFamily="34" charset="-120"/>
              </a:rPr>
              <a:t>Intent Recognition</a:t>
            </a:r>
            <a:endParaRPr lang="en-US" sz="1100" dirty="0"/>
          </a:p>
        </p:txBody>
      </p:sp>
      <p:sp>
        <p:nvSpPr>
          <p:cNvPr id="36" name="Text 34"/>
          <p:cNvSpPr/>
          <p:nvPr/>
        </p:nvSpPr>
        <p:spPr>
          <a:xfrm>
            <a:off x="4663440" y="2185416"/>
            <a:ext cx="1965960" cy="320040"/>
          </a:xfrm>
          <a:prstGeom prst="rect">
            <a:avLst/>
          </a:prstGeom>
          <a:noFill/>
          <a:ln/>
        </p:spPr>
        <p:txBody>
          <a:bodyPr wrap="square" rtlCol="0" anchor="ctr"/>
          <a:lstStyle/>
          <a:p>
            <a:pPr marL="0" indent="0" algn="ctr">
              <a:buNone/>
            </a:pPr>
            <a:r>
              <a:rPr lang="en-US" sz="950" dirty="0">
                <a:solidFill>
                  <a:srgbClr val="263238"/>
                </a:solidFill>
                <a:latin typeface="Calibri" pitchFamily="34" charset="0"/>
                <a:ea typeface="Calibri" pitchFamily="34" charset="-122"/>
                <a:cs typeface="Calibri" pitchFamily="34" charset="-120"/>
              </a:rPr>
              <a:t>15+ waste management intents</a:t>
            </a:r>
            <a:endParaRPr lang="en-US" sz="950" dirty="0"/>
          </a:p>
        </p:txBody>
      </p:sp>
      <p:sp>
        <p:nvSpPr>
          <p:cNvPr id="37" name="Shape 35"/>
          <p:cNvSpPr/>
          <p:nvPr/>
        </p:nvSpPr>
        <p:spPr>
          <a:xfrm>
            <a:off x="6739128" y="1435608"/>
            <a:ext cx="1965960" cy="1097280"/>
          </a:xfrm>
          <a:prstGeom prst="roundRect">
            <a:avLst>
              <a:gd name="adj" fmla="val 8333"/>
            </a:avLst>
          </a:prstGeom>
          <a:solidFill>
            <a:srgbClr val="EFF6FF"/>
          </a:solidFill>
          <a:ln w="12700">
            <a:solidFill>
              <a:srgbClr val="0F62FE">
                <a:alpha val="30000"/>
              </a:srgbClr>
            </a:solidFill>
            <a:prstDash val="solid"/>
          </a:ln>
          <a:effectLst>
            <a:outerShdw blurRad="101600" dist="38100" dir="2700000" algn="bl" rotWithShape="0">
              <a:srgbClr val="000000">
                <a:alpha val="12000"/>
              </a:srgbClr>
            </a:outerShdw>
          </a:effectLst>
        </p:spPr>
      </p:sp>
      <p:sp>
        <p:nvSpPr>
          <p:cNvPr id="38" name="Text 36"/>
          <p:cNvSpPr/>
          <p:nvPr/>
        </p:nvSpPr>
        <p:spPr>
          <a:xfrm>
            <a:off x="6739128" y="1481328"/>
            <a:ext cx="1965960" cy="45720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39" name="Text 37"/>
          <p:cNvSpPr/>
          <p:nvPr/>
        </p:nvSpPr>
        <p:spPr>
          <a:xfrm>
            <a:off x="6739128" y="1911096"/>
            <a:ext cx="1965960" cy="274320"/>
          </a:xfrm>
          <a:prstGeom prst="rect">
            <a:avLst/>
          </a:prstGeom>
          <a:noFill/>
          <a:ln/>
        </p:spPr>
        <p:txBody>
          <a:bodyPr wrap="square" rtlCol="0" anchor="ctr"/>
          <a:lstStyle/>
          <a:p>
            <a:pPr marL="0" indent="0" algn="ctr">
              <a:buNone/>
            </a:pPr>
            <a:r>
              <a:rPr lang="en-US" sz="1100" b="1" dirty="0">
                <a:solidFill>
                  <a:srgbClr val="0F62FE"/>
                </a:solidFill>
                <a:latin typeface="Arial" pitchFamily="34" charset="0"/>
                <a:ea typeface="Arial" pitchFamily="34" charset="-122"/>
                <a:cs typeface="Arial" pitchFamily="34" charset="-120"/>
              </a:rPr>
              <a:t>Entity Extraction</a:t>
            </a:r>
            <a:endParaRPr lang="en-US" sz="1100" dirty="0"/>
          </a:p>
        </p:txBody>
      </p:sp>
      <p:sp>
        <p:nvSpPr>
          <p:cNvPr id="40" name="Text 38"/>
          <p:cNvSpPr/>
          <p:nvPr/>
        </p:nvSpPr>
        <p:spPr>
          <a:xfrm>
            <a:off x="6739128" y="2185416"/>
            <a:ext cx="1965960" cy="320040"/>
          </a:xfrm>
          <a:prstGeom prst="rect">
            <a:avLst/>
          </a:prstGeom>
          <a:noFill/>
          <a:ln/>
        </p:spPr>
        <p:txBody>
          <a:bodyPr wrap="square" rtlCol="0" anchor="ctr"/>
          <a:lstStyle/>
          <a:p>
            <a:pPr marL="0" indent="0" algn="ctr">
              <a:buNone/>
            </a:pPr>
            <a:r>
              <a:rPr lang="en-US" sz="950" dirty="0">
                <a:solidFill>
                  <a:srgbClr val="263238"/>
                </a:solidFill>
                <a:latin typeface="Calibri" pitchFamily="34" charset="0"/>
                <a:ea typeface="Calibri" pitchFamily="34" charset="-122"/>
                <a:cs typeface="Calibri" pitchFamily="34" charset="-120"/>
              </a:rPr>
              <a:t>Waste type, location, quantity</a:t>
            </a:r>
            <a:endParaRPr lang="en-US" sz="950" dirty="0"/>
          </a:p>
        </p:txBody>
      </p:sp>
      <p:sp>
        <p:nvSpPr>
          <p:cNvPr id="41" name="Shape 39"/>
          <p:cNvSpPr/>
          <p:nvPr/>
        </p:nvSpPr>
        <p:spPr>
          <a:xfrm>
            <a:off x="4663440" y="2624328"/>
            <a:ext cx="1965960" cy="1097280"/>
          </a:xfrm>
          <a:prstGeom prst="roundRect">
            <a:avLst>
              <a:gd name="adj" fmla="val 8333"/>
            </a:avLst>
          </a:prstGeom>
          <a:solidFill>
            <a:srgbClr val="EFF6FF"/>
          </a:solidFill>
          <a:ln w="12700">
            <a:solidFill>
              <a:srgbClr val="0F62FE">
                <a:alpha val="30000"/>
              </a:srgbClr>
            </a:solidFill>
            <a:prstDash val="solid"/>
          </a:ln>
          <a:effectLst>
            <a:outerShdw blurRad="101600" dist="38100" dir="2700000" algn="bl" rotWithShape="0">
              <a:srgbClr val="000000">
                <a:alpha val="12000"/>
              </a:srgbClr>
            </a:outerShdw>
          </a:effectLst>
        </p:spPr>
      </p:sp>
      <p:sp>
        <p:nvSpPr>
          <p:cNvPr id="42" name="Text 40"/>
          <p:cNvSpPr/>
          <p:nvPr/>
        </p:nvSpPr>
        <p:spPr>
          <a:xfrm>
            <a:off x="4663440" y="2670048"/>
            <a:ext cx="1965960" cy="45720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43" name="Text 41"/>
          <p:cNvSpPr/>
          <p:nvPr/>
        </p:nvSpPr>
        <p:spPr>
          <a:xfrm>
            <a:off x="4663440" y="3099816"/>
            <a:ext cx="1965960" cy="274320"/>
          </a:xfrm>
          <a:prstGeom prst="rect">
            <a:avLst/>
          </a:prstGeom>
          <a:noFill/>
          <a:ln/>
        </p:spPr>
        <p:txBody>
          <a:bodyPr wrap="square" rtlCol="0" anchor="ctr"/>
          <a:lstStyle/>
          <a:p>
            <a:pPr marL="0" indent="0" algn="ctr">
              <a:buNone/>
            </a:pPr>
            <a:r>
              <a:rPr lang="en-US" sz="1100" b="1" dirty="0">
                <a:solidFill>
                  <a:srgbClr val="0F62FE"/>
                </a:solidFill>
                <a:latin typeface="Arial" pitchFamily="34" charset="0"/>
                <a:ea typeface="Arial" pitchFamily="34" charset="-122"/>
                <a:cs typeface="Arial" pitchFamily="34" charset="-120"/>
              </a:rPr>
              <a:t>Dialog Management</a:t>
            </a:r>
            <a:endParaRPr lang="en-US" sz="1100" dirty="0"/>
          </a:p>
        </p:txBody>
      </p:sp>
      <p:sp>
        <p:nvSpPr>
          <p:cNvPr id="44" name="Text 42"/>
          <p:cNvSpPr/>
          <p:nvPr/>
        </p:nvSpPr>
        <p:spPr>
          <a:xfrm>
            <a:off x="4663440" y="3374136"/>
            <a:ext cx="1965960" cy="320040"/>
          </a:xfrm>
          <a:prstGeom prst="rect">
            <a:avLst/>
          </a:prstGeom>
          <a:noFill/>
          <a:ln/>
        </p:spPr>
        <p:txBody>
          <a:bodyPr wrap="square" rtlCol="0" anchor="ctr"/>
          <a:lstStyle/>
          <a:p>
            <a:pPr marL="0" indent="0" algn="ctr">
              <a:buNone/>
            </a:pPr>
            <a:r>
              <a:rPr lang="en-US" sz="950" dirty="0">
                <a:solidFill>
                  <a:srgbClr val="263238"/>
                </a:solidFill>
                <a:latin typeface="Calibri" pitchFamily="34" charset="0"/>
                <a:ea typeface="Calibri" pitchFamily="34" charset="-122"/>
                <a:cs typeface="Calibri" pitchFamily="34" charset="-120"/>
              </a:rPr>
              <a:t>Multi-turn conversation flows</a:t>
            </a:r>
            <a:endParaRPr lang="en-US" sz="950" dirty="0"/>
          </a:p>
        </p:txBody>
      </p:sp>
      <p:sp>
        <p:nvSpPr>
          <p:cNvPr id="45" name="Shape 43"/>
          <p:cNvSpPr/>
          <p:nvPr/>
        </p:nvSpPr>
        <p:spPr>
          <a:xfrm>
            <a:off x="6739128" y="2624328"/>
            <a:ext cx="1965960" cy="1097280"/>
          </a:xfrm>
          <a:prstGeom prst="roundRect">
            <a:avLst>
              <a:gd name="adj" fmla="val 8333"/>
            </a:avLst>
          </a:prstGeom>
          <a:solidFill>
            <a:srgbClr val="EFF6FF"/>
          </a:solidFill>
          <a:ln w="12700">
            <a:solidFill>
              <a:srgbClr val="0F62FE">
                <a:alpha val="30000"/>
              </a:srgbClr>
            </a:solidFill>
            <a:prstDash val="solid"/>
          </a:ln>
          <a:effectLst>
            <a:outerShdw blurRad="101600" dist="38100" dir="2700000" algn="bl" rotWithShape="0">
              <a:srgbClr val="000000">
                <a:alpha val="12000"/>
              </a:srgbClr>
            </a:outerShdw>
          </a:effectLst>
        </p:spPr>
      </p:sp>
      <p:sp>
        <p:nvSpPr>
          <p:cNvPr id="46" name="Text 44"/>
          <p:cNvSpPr/>
          <p:nvPr/>
        </p:nvSpPr>
        <p:spPr>
          <a:xfrm>
            <a:off x="6739128" y="2670048"/>
            <a:ext cx="1965960" cy="45720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47" name="Text 45"/>
          <p:cNvSpPr/>
          <p:nvPr/>
        </p:nvSpPr>
        <p:spPr>
          <a:xfrm>
            <a:off x="6739128" y="3099816"/>
            <a:ext cx="1965960" cy="274320"/>
          </a:xfrm>
          <a:prstGeom prst="rect">
            <a:avLst/>
          </a:prstGeom>
          <a:noFill/>
          <a:ln/>
        </p:spPr>
        <p:txBody>
          <a:bodyPr wrap="square" rtlCol="0" anchor="ctr"/>
          <a:lstStyle/>
          <a:p>
            <a:pPr marL="0" indent="0" algn="ctr">
              <a:buNone/>
            </a:pPr>
            <a:r>
              <a:rPr lang="en-US" sz="1100" b="1" dirty="0">
                <a:solidFill>
                  <a:srgbClr val="0F62FE"/>
                </a:solidFill>
                <a:latin typeface="Arial" pitchFamily="34" charset="0"/>
                <a:ea typeface="Arial" pitchFamily="34" charset="-122"/>
                <a:cs typeface="Arial" pitchFamily="34" charset="-120"/>
              </a:rPr>
              <a:t>Webhook Actions</a:t>
            </a:r>
            <a:endParaRPr lang="en-US" sz="1100" dirty="0"/>
          </a:p>
        </p:txBody>
      </p:sp>
      <p:sp>
        <p:nvSpPr>
          <p:cNvPr id="48" name="Text 46"/>
          <p:cNvSpPr/>
          <p:nvPr/>
        </p:nvSpPr>
        <p:spPr>
          <a:xfrm>
            <a:off x="6739128" y="3374136"/>
            <a:ext cx="1965960" cy="320040"/>
          </a:xfrm>
          <a:prstGeom prst="rect">
            <a:avLst/>
          </a:prstGeom>
          <a:noFill/>
          <a:ln/>
        </p:spPr>
        <p:txBody>
          <a:bodyPr wrap="square" rtlCol="0" anchor="ctr"/>
          <a:lstStyle/>
          <a:p>
            <a:pPr marL="0" indent="0" algn="ctr">
              <a:buNone/>
            </a:pPr>
            <a:r>
              <a:rPr lang="en-US" sz="950" dirty="0">
                <a:solidFill>
                  <a:srgbClr val="263238"/>
                </a:solidFill>
                <a:latin typeface="Calibri" pitchFamily="34" charset="0"/>
                <a:ea typeface="Calibri" pitchFamily="34" charset="-122"/>
                <a:cs typeface="Calibri" pitchFamily="34" charset="-120"/>
              </a:rPr>
              <a:t>Live location &amp; regulation APIs</a:t>
            </a:r>
            <a:endParaRPr lang="en-US" sz="950" dirty="0"/>
          </a:p>
        </p:txBody>
      </p:sp>
      <p:sp>
        <p:nvSpPr>
          <p:cNvPr id="49" name="Shape 47"/>
          <p:cNvSpPr/>
          <p:nvPr/>
        </p:nvSpPr>
        <p:spPr>
          <a:xfrm>
            <a:off x="4663440" y="3813048"/>
            <a:ext cx="1965960" cy="1097280"/>
          </a:xfrm>
          <a:prstGeom prst="roundRect">
            <a:avLst>
              <a:gd name="adj" fmla="val 8333"/>
            </a:avLst>
          </a:prstGeom>
          <a:solidFill>
            <a:srgbClr val="EFF6FF"/>
          </a:solidFill>
          <a:ln w="12700">
            <a:solidFill>
              <a:srgbClr val="0F62FE">
                <a:alpha val="30000"/>
              </a:srgbClr>
            </a:solidFill>
            <a:prstDash val="solid"/>
          </a:ln>
          <a:effectLst>
            <a:outerShdw blurRad="101600" dist="38100" dir="2700000" algn="bl" rotWithShape="0">
              <a:srgbClr val="000000">
                <a:alpha val="12000"/>
              </a:srgbClr>
            </a:outerShdw>
          </a:effectLst>
        </p:spPr>
      </p:sp>
      <p:sp>
        <p:nvSpPr>
          <p:cNvPr id="50" name="Text 48"/>
          <p:cNvSpPr/>
          <p:nvPr/>
        </p:nvSpPr>
        <p:spPr>
          <a:xfrm>
            <a:off x="4663440" y="3858768"/>
            <a:ext cx="1965960" cy="45720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51" name="Text 49"/>
          <p:cNvSpPr/>
          <p:nvPr/>
        </p:nvSpPr>
        <p:spPr>
          <a:xfrm>
            <a:off x="4663440" y="4288536"/>
            <a:ext cx="1965960" cy="274320"/>
          </a:xfrm>
          <a:prstGeom prst="rect">
            <a:avLst/>
          </a:prstGeom>
          <a:noFill/>
          <a:ln/>
        </p:spPr>
        <p:txBody>
          <a:bodyPr wrap="square" rtlCol="0" anchor="ctr"/>
          <a:lstStyle/>
          <a:p>
            <a:pPr marL="0" indent="0" algn="ctr">
              <a:buNone/>
            </a:pPr>
            <a:r>
              <a:rPr lang="en-US" sz="1100" b="1" dirty="0">
                <a:solidFill>
                  <a:srgbClr val="0F62FE"/>
                </a:solidFill>
                <a:latin typeface="Arial" pitchFamily="34" charset="0"/>
                <a:ea typeface="Arial" pitchFamily="34" charset="-122"/>
                <a:cs typeface="Arial" pitchFamily="34" charset="-120"/>
              </a:rPr>
              <a:t>Multi-Channel</a:t>
            </a:r>
            <a:endParaRPr lang="en-US" sz="1100" dirty="0"/>
          </a:p>
        </p:txBody>
      </p:sp>
      <p:sp>
        <p:nvSpPr>
          <p:cNvPr id="52" name="Text 50"/>
          <p:cNvSpPr/>
          <p:nvPr/>
        </p:nvSpPr>
        <p:spPr>
          <a:xfrm>
            <a:off x="4663440" y="4562856"/>
            <a:ext cx="1965960" cy="320040"/>
          </a:xfrm>
          <a:prstGeom prst="rect">
            <a:avLst/>
          </a:prstGeom>
          <a:noFill/>
          <a:ln/>
        </p:spPr>
        <p:txBody>
          <a:bodyPr wrap="square" rtlCol="0" anchor="ctr"/>
          <a:lstStyle/>
          <a:p>
            <a:pPr marL="0" indent="0" algn="ctr">
              <a:buNone/>
            </a:pPr>
            <a:r>
              <a:rPr lang="en-US" sz="950" dirty="0">
                <a:solidFill>
                  <a:srgbClr val="263238"/>
                </a:solidFill>
                <a:latin typeface="Calibri" pitchFamily="34" charset="0"/>
                <a:ea typeface="Calibri" pitchFamily="34" charset="-122"/>
                <a:cs typeface="Calibri" pitchFamily="34" charset="-120"/>
              </a:rPr>
              <a:t>Web, Mobile, WhatsApp deploy</a:t>
            </a:r>
            <a:endParaRPr lang="en-US" sz="950" dirty="0"/>
          </a:p>
        </p:txBody>
      </p:sp>
      <p:sp>
        <p:nvSpPr>
          <p:cNvPr id="53" name="Shape 51"/>
          <p:cNvSpPr/>
          <p:nvPr/>
        </p:nvSpPr>
        <p:spPr>
          <a:xfrm>
            <a:off x="6739128" y="3813048"/>
            <a:ext cx="1965960" cy="1097280"/>
          </a:xfrm>
          <a:prstGeom prst="roundRect">
            <a:avLst>
              <a:gd name="adj" fmla="val 8333"/>
            </a:avLst>
          </a:prstGeom>
          <a:solidFill>
            <a:srgbClr val="EFF6FF"/>
          </a:solidFill>
          <a:ln w="12700">
            <a:solidFill>
              <a:srgbClr val="0F62FE">
                <a:alpha val="30000"/>
              </a:srgbClr>
            </a:solidFill>
            <a:prstDash val="solid"/>
          </a:ln>
          <a:effectLst>
            <a:outerShdw blurRad="101600" dist="38100" dir="2700000" algn="bl" rotWithShape="0">
              <a:srgbClr val="000000">
                <a:alpha val="12000"/>
              </a:srgbClr>
            </a:outerShdw>
          </a:effectLst>
        </p:spPr>
      </p:sp>
      <p:sp>
        <p:nvSpPr>
          <p:cNvPr id="54" name="Text 52"/>
          <p:cNvSpPr/>
          <p:nvPr/>
        </p:nvSpPr>
        <p:spPr>
          <a:xfrm>
            <a:off x="6739128" y="3858768"/>
            <a:ext cx="1965960" cy="45720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55" name="Text 53"/>
          <p:cNvSpPr/>
          <p:nvPr/>
        </p:nvSpPr>
        <p:spPr>
          <a:xfrm>
            <a:off x="6739128" y="4288536"/>
            <a:ext cx="1965960" cy="274320"/>
          </a:xfrm>
          <a:prstGeom prst="rect">
            <a:avLst/>
          </a:prstGeom>
          <a:noFill/>
          <a:ln/>
        </p:spPr>
        <p:txBody>
          <a:bodyPr wrap="square" rtlCol="0" anchor="ctr"/>
          <a:lstStyle/>
          <a:p>
            <a:pPr marL="0" indent="0" algn="ctr">
              <a:buNone/>
            </a:pPr>
            <a:r>
              <a:rPr lang="en-US" sz="1100" b="1" dirty="0">
                <a:solidFill>
                  <a:srgbClr val="0F62FE"/>
                </a:solidFill>
                <a:latin typeface="Arial" pitchFamily="34" charset="0"/>
                <a:ea typeface="Arial" pitchFamily="34" charset="-122"/>
                <a:cs typeface="Arial" pitchFamily="34" charset="-120"/>
              </a:rPr>
              <a:t>Analytics</a:t>
            </a:r>
            <a:endParaRPr lang="en-US" sz="1100" dirty="0"/>
          </a:p>
        </p:txBody>
      </p:sp>
      <p:sp>
        <p:nvSpPr>
          <p:cNvPr id="56" name="Text 54"/>
          <p:cNvSpPr/>
          <p:nvPr/>
        </p:nvSpPr>
        <p:spPr>
          <a:xfrm>
            <a:off x="6739128" y="4562856"/>
            <a:ext cx="1965960" cy="320040"/>
          </a:xfrm>
          <a:prstGeom prst="rect">
            <a:avLst/>
          </a:prstGeom>
          <a:noFill/>
          <a:ln/>
        </p:spPr>
        <p:txBody>
          <a:bodyPr wrap="square" rtlCol="0" anchor="ctr"/>
          <a:lstStyle/>
          <a:p>
            <a:pPr marL="0" indent="0" algn="ctr">
              <a:buNone/>
            </a:pPr>
            <a:r>
              <a:rPr lang="en-US" sz="950" dirty="0">
                <a:solidFill>
                  <a:srgbClr val="263238"/>
                </a:solidFill>
                <a:latin typeface="Calibri" pitchFamily="34" charset="0"/>
                <a:ea typeface="Calibri" pitchFamily="34" charset="-122"/>
                <a:cs typeface="Calibri" pitchFamily="34" charset="-120"/>
              </a:rPr>
              <a:t>Usage patterns &amp; gap detection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63238"/>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388E3C"/>
          </a:solidFill>
          <a:ln w="12700">
            <a:solidFill>
              <a:srgbClr val="388E3C"/>
            </a:solidFill>
            <a:prstDash val="solid"/>
          </a:ln>
        </p:spPr>
      </p:sp>
      <p:sp>
        <p:nvSpPr>
          <p:cNvPr id="3" name="Text 1"/>
          <p:cNvSpPr/>
          <p:nvPr/>
        </p:nvSpPr>
        <p:spPr>
          <a:xfrm>
            <a:off x="365760" y="0"/>
            <a:ext cx="8412480" cy="822960"/>
          </a:xfrm>
          <a:prstGeom prst="rect">
            <a:avLst/>
          </a:prstGeom>
          <a:noFill/>
          <a:ln/>
        </p:spPr>
        <p:txBody>
          <a:bodyPr wrap="square" rtlCol="0" anchor="ctr"/>
          <a:lstStyle/>
          <a:p>
            <a:pPr marL="0" indent="0">
              <a:buNone/>
            </a:pPr>
            <a:r>
              <a:rPr lang="en-US" sz="2800" b="1" dirty="0">
                <a:solidFill>
                  <a:srgbClr val="FFFFFF"/>
                </a:solidFill>
                <a:latin typeface="Arial" pitchFamily="34" charset="0"/>
                <a:ea typeface="Arial" pitchFamily="34" charset="-122"/>
                <a:cs typeface="Arial" pitchFamily="34" charset="-120"/>
              </a:rPr>
              <a:t>Responsible AI Framework</a:t>
            </a:r>
            <a:endParaRPr lang="en-US" sz="2800" dirty="0"/>
          </a:p>
        </p:txBody>
      </p:sp>
      <p:sp>
        <p:nvSpPr>
          <p:cNvPr id="4" name="Text 2"/>
          <p:cNvSpPr/>
          <p:nvPr/>
        </p:nvSpPr>
        <p:spPr>
          <a:xfrm>
            <a:off x="7772400" y="91440"/>
            <a:ext cx="1188720" cy="320040"/>
          </a:xfrm>
          <a:prstGeom prst="rect">
            <a:avLst/>
          </a:prstGeom>
          <a:noFill/>
          <a:ln/>
        </p:spPr>
        <p:txBody>
          <a:bodyPr wrap="square" rtlCol="0" anchor="ctr"/>
          <a:lstStyle/>
          <a:p>
            <a:pPr marL="0" indent="0" algn="r">
              <a:buNone/>
            </a:pPr>
            <a:r>
              <a:rPr lang="en-US" sz="900" dirty="0">
                <a:solidFill>
                  <a:srgbClr val="C8E6C9"/>
                </a:solidFill>
                <a:latin typeface="Calibri" pitchFamily="34" charset="0"/>
                <a:ea typeface="Calibri" pitchFamily="34" charset="-122"/>
                <a:cs typeface="Calibri" pitchFamily="34" charset="-120"/>
              </a:rPr>
              <a:t>SLIDE 9 of 12</a:t>
            </a:r>
            <a:endParaRPr lang="en-US" sz="900" dirty="0"/>
          </a:p>
        </p:txBody>
      </p:sp>
      <p:sp>
        <p:nvSpPr>
          <p:cNvPr id="5" name="Shape 3"/>
          <p:cNvSpPr/>
          <p:nvPr/>
        </p:nvSpPr>
        <p:spPr>
          <a:xfrm>
            <a:off x="365760" y="960120"/>
            <a:ext cx="2011680" cy="4114800"/>
          </a:xfrm>
          <a:prstGeom prst="roundRect">
            <a:avLst>
              <a:gd name="adj" fmla="val 6818"/>
            </a:avLst>
          </a:prstGeom>
          <a:solidFill>
            <a:srgbClr val="1C2730"/>
          </a:solidFill>
          <a:ln w="12700">
            <a:solidFill>
              <a:srgbClr val="4CAF50">
                <a:alpha val="60000"/>
              </a:srgbClr>
            </a:solidFill>
            <a:prstDash val="solid"/>
          </a:ln>
          <a:effectLst>
            <a:outerShdw blurRad="101600" dist="38100" dir="2700000" algn="bl" rotWithShape="0">
              <a:srgbClr val="000000">
                <a:alpha val="12000"/>
              </a:srgbClr>
            </a:outerShdw>
          </a:effectLst>
        </p:spPr>
      </p:sp>
      <p:sp>
        <p:nvSpPr>
          <p:cNvPr id="6" name="Shape 4"/>
          <p:cNvSpPr/>
          <p:nvPr/>
        </p:nvSpPr>
        <p:spPr>
          <a:xfrm>
            <a:off x="960120" y="1097280"/>
            <a:ext cx="822960" cy="822960"/>
          </a:xfrm>
          <a:prstGeom prst="ellipse">
            <a:avLst/>
          </a:prstGeom>
          <a:solidFill>
            <a:srgbClr val="4CAF50">
              <a:alpha val="80000"/>
            </a:srgbClr>
          </a:solidFill>
          <a:ln w="12700">
            <a:solidFill>
              <a:srgbClr val="4CAF50">
                <a:alpha val="80000"/>
              </a:srgbClr>
            </a:solidFill>
            <a:prstDash val="solid"/>
          </a:ln>
        </p:spPr>
      </p:sp>
      <p:sp>
        <p:nvSpPr>
          <p:cNvPr id="7" name="Text 5"/>
          <p:cNvSpPr/>
          <p:nvPr/>
        </p:nvSpPr>
        <p:spPr>
          <a:xfrm>
            <a:off x="960120" y="1097280"/>
            <a:ext cx="822960" cy="8229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8" name="Text 6"/>
          <p:cNvSpPr/>
          <p:nvPr/>
        </p:nvSpPr>
        <p:spPr>
          <a:xfrm>
            <a:off x="365760" y="2011680"/>
            <a:ext cx="2011680" cy="384048"/>
          </a:xfrm>
          <a:prstGeom prst="rect">
            <a:avLst/>
          </a:prstGeom>
          <a:noFill/>
          <a:ln/>
        </p:spPr>
        <p:txBody>
          <a:bodyPr wrap="square" rtlCol="0" anchor="ctr"/>
          <a:lstStyle/>
          <a:p>
            <a:pPr marL="0" indent="0" algn="ctr">
              <a:buNone/>
            </a:pPr>
            <a:r>
              <a:rPr lang="en-US" sz="1500" b="1" dirty="0">
                <a:solidFill>
                  <a:srgbClr val="4CAF50"/>
                </a:solidFill>
                <a:latin typeface="Arial" pitchFamily="34" charset="0"/>
                <a:ea typeface="Arial" pitchFamily="34" charset="-122"/>
                <a:cs typeface="Arial" pitchFamily="34" charset="-120"/>
              </a:rPr>
              <a:t>Fairness</a:t>
            </a:r>
            <a:endParaRPr lang="en-US" sz="1500" dirty="0"/>
          </a:p>
        </p:txBody>
      </p:sp>
      <p:sp>
        <p:nvSpPr>
          <p:cNvPr id="9" name="Shape 7"/>
          <p:cNvSpPr/>
          <p:nvPr/>
        </p:nvSpPr>
        <p:spPr>
          <a:xfrm>
            <a:off x="457200" y="2487168"/>
            <a:ext cx="1828800" cy="548640"/>
          </a:xfrm>
          <a:prstGeom prst="roundRect">
            <a:avLst>
              <a:gd name="adj" fmla="val 13333"/>
            </a:avLst>
          </a:prstGeom>
          <a:solidFill>
            <a:srgbClr val="4CAF50">
              <a:alpha val="18000"/>
            </a:srgbClr>
          </a:solidFill>
          <a:ln w="12700">
            <a:solidFill>
              <a:srgbClr val="4CAF50">
                <a:alpha val="30000"/>
              </a:srgbClr>
            </a:solidFill>
            <a:prstDash val="solid"/>
          </a:ln>
        </p:spPr>
      </p:sp>
      <p:sp>
        <p:nvSpPr>
          <p:cNvPr id="10" name="Text 8"/>
          <p:cNvSpPr/>
          <p:nvPr/>
        </p:nvSpPr>
        <p:spPr>
          <a:xfrm>
            <a:off x="502920" y="2487168"/>
            <a:ext cx="1737360" cy="54864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10+ regional language support</a:t>
            </a:r>
            <a:endParaRPr lang="en-US" sz="950" dirty="0"/>
          </a:p>
        </p:txBody>
      </p:sp>
      <p:sp>
        <p:nvSpPr>
          <p:cNvPr id="11" name="Shape 9"/>
          <p:cNvSpPr/>
          <p:nvPr/>
        </p:nvSpPr>
        <p:spPr>
          <a:xfrm>
            <a:off x="457200" y="3127248"/>
            <a:ext cx="1828800" cy="548640"/>
          </a:xfrm>
          <a:prstGeom prst="roundRect">
            <a:avLst>
              <a:gd name="adj" fmla="val 13333"/>
            </a:avLst>
          </a:prstGeom>
          <a:solidFill>
            <a:srgbClr val="4CAF50">
              <a:alpha val="18000"/>
            </a:srgbClr>
          </a:solidFill>
          <a:ln w="12700">
            <a:solidFill>
              <a:srgbClr val="4CAF50">
                <a:alpha val="30000"/>
              </a:srgbClr>
            </a:solidFill>
            <a:prstDash val="solid"/>
          </a:ln>
        </p:spPr>
      </p:sp>
      <p:sp>
        <p:nvSpPr>
          <p:cNvPr id="12" name="Text 10"/>
          <p:cNvSpPr/>
          <p:nvPr/>
        </p:nvSpPr>
        <p:spPr>
          <a:xfrm>
            <a:off x="502920" y="3127248"/>
            <a:ext cx="1737360" cy="54864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WCAG 2.1 AA accessibility</a:t>
            </a:r>
            <a:endParaRPr lang="en-US" sz="950" dirty="0"/>
          </a:p>
        </p:txBody>
      </p:sp>
      <p:sp>
        <p:nvSpPr>
          <p:cNvPr id="13" name="Shape 11"/>
          <p:cNvSpPr/>
          <p:nvPr/>
        </p:nvSpPr>
        <p:spPr>
          <a:xfrm>
            <a:off x="457200" y="3767328"/>
            <a:ext cx="1828800" cy="548640"/>
          </a:xfrm>
          <a:prstGeom prst="roundRect">
            <a:avLst>
              <a:gd name="adj" fmla="val 13333"/>
            </a:avLst>
          </a:prstGeom>
          <a:solidFill>
            <a:srgbClr val="4CAF50">
              <a:alpha val="18000"/>
            </a:srgbClr>
          </a:solidFill>
          <a:ln w="12700">
            <a:solidFill>
              <a:srgbClr val="4CAF50">
                <a:alpha val="30000"/>
              </a:srgbClr>
            </a:solidFill>
            <a:prstDash val="solid"/>
          </a:ln>
        </p:spPr>
      </p:sp>
      <p:sp>
        <p:nvSpPr>
          <p:cNvPr id="14" name="Text 12"/>
          <p:cNvSpPr/>
          <p:nvPr/>
        </p:nvSpPr>
        <p:spPr>
          <a:xfrm>
            <a:off x="502920" y="3767328"/>
            <a:ext cx="1737360" cy="54864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Free public disposal options always</a:t>
            </a:r>
            <a:endParaRPr lang="en-US" sz="950" dirty="0"/>
          </a:p>
        </p:txBody>
      </p:sp>
      <p:sp>
        <p:nvSpPr>
          <p:cNvPr id="15" name="Shape 13"/>
          <p:cNvSpPr/>
          <p:nvPr/>
        </p:nvSpPr>
        <p:spPr>
          <a:xfrm>
            <a:off x="457200" y="4407408"/>
            <a:ext cx="1828800" cy="548640"/>
          </a:xfrm>
          <a:prstGeom prst="roundRect">
            <a:avLst>
              <a:gd name="adj" fmla="val 13333"/>
            </a:avLst>
          </a:prstGeom>
          <a:solidFill>
            <a:srgbClr val="4CAF50">
              <a:alpha val="18000"/>
            </a:srgbClr>
          </a:solidFill>
          <a:ln w="12700">
            <a:solidFill>
              <a:srgbClr val="4CAF50">
                <a:alpha val="30000"/>
              </a:srgbClr>
            </a:solidFill>
            <a:prstDash val="solid"/>
          </a:ln>
        </p:spPr>
      </p:sp>
      <p:sp>
        <p:nvSpPr>
          <p:cNvPr id="16" name="Text 14"/>
          <p:cNvSpPr/>
          <p:nvPr/>
        </p:nvSpPr>
        <p:spPr>
          <a:xfrm>
            <a:off x="502920" y="4407408"/>
            <a:ext cx="1737360" cy="54864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Bias monitoring across demographics</a:t>
            </a:r>
            <a:endParaRPr lang="en-US" sz="950" dirty="0"/>
          </a:p>
        </p:txBody>
      </p:sp>
      <p:sp>
        <p:nvSpPr>
          <p:cNvPr id="17" name="Shape 15"/>
          <p:cNvSpPr/>
          <p:nvPr/>
        </p:nvSpPr>
        <p:spPr>
          <a:xfrm>
            <a:off x="2487168" y="960120"/>
            <a:ext cx="2011680" cy="4114800"/>
          </a:xfrm>
          <a:prstGeom prst="roundRect">
            <a:avLst>
              <a:gd name="adj" fmla="val 6818"/>
            </a:avLst>
          </a:prstGeom>
          <a:solidFill>
            <a:srgbClr val="1C2730"/>
          </a:solidFill>
          <a:ln w="12700">
            <a:solidFill>
              <a:srgbClr val="00BCD4">
                <a:alpha val="60000"/>
              </a:srgbClr>
            </a:solidFill>
            <a:prstDash val="solid"/>
          </a:ln>
          <a:effectLst>
            <a:outerShdw blurRad="101600" dist="38100" dir="2700000" algn="bl" rotWithShape="0">
              <a:srgbClr val="000000">
                <a:alpha val="12000"/>
              </a:srgbClr>
            </a:outerShdw>
          </a:effectLst>
        </p:spPr>
      </p:sp>
      <p:sp>
        <p:nvSpPr>
          <p:cNvPr id="18" name="Shape 16"/>
          <p:cNvSpPr/>
          <p:nvPr/>
        </p:nvSpPr>
        <p:spPr>
          <a:xfrm>
            <a:off x="3081528" y="1097280"/>
            <a:ext cx="822960" cy="822960"/>
          </a:xfrm>
          <a:prstGeom prst="ellipse">
            <a:avLst/>
          </a:prstGeom>
          <a:solidFill>
            <a:srgbClr val="00BCD4">
              <a:alpha val="80000"/>
            </a:srgbClr>
          </a:solidFill>
          <a:ln w="12700">
            <a:solidFill>
              <a:srgbClr val="00BCD4">
                <a:alpha val="80000"/>
              </a:srgbClr>
            </a:solidFill>
            <a:prstDash val="solid"/>
          </a:ln>
        </p:spPr>
      </p:sp>
      <p:sp>
        <p:nvSpPr>
          <p:cNvPr id="19" name="Text 17"/>
          <p:cNvSpPr/>
          <p:nvPr/>
        </p:nvSpPr>
        <p:spPr>
          <a:xfrm>
            <a:off x="3081528" y="1097280"/>
            <a:ext cx="822960" cy="8229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0" name="Text 18"/>
          <p:cNvSpPr/>
          <p:nvPr/>
        </p:nvSpPr>
        <p:spPr>
          <a:xfrm>
            <a:off x="2487168" y="2011680"/>
            <a:ext cx="2011680" cy="384048"/>
          </a:xfrm>
          <a:prstGeom prst="rect">
            <a:avLst/>
          </a:prstGeom>
          <a:noFill/>
          <a:ln/>
        </p:spPr>
        <p:txBody>
          <a:bodyPr wrap="square" rtlCol="0" anchor="ctr"/>
          <a:lstStyle/>
          <a:p>
            <a:pPr marL="0" indent="0" algn="ctr">
              <a:buNone/>
            </a:pPr>
            <a:r>
              <a:rPr lang="en-US" sz="1500" b="1" dirty="0">
                <a:solidFill>
                  <a:srgbClr val="00BCD4"/>
                </a:solidFill>
                <a:latin typeface="Arial" pitchFamily="34" charset="0"/>
                <a:ea typeface="Arial" pitchFamily="34" charset="-122"/>
                <a:cs typeface="Arial" pitchFamily="34" charset="-120"/>
              </a:rPr>
              <a:t>Transparency</a:t>
            </a:r>
            <a:endParaRPr lang="en-US" sz="1500" dirty="0"/>
          </a:p>
        </p:txBody>
      </p:sp>
      <p:sp>
        <p:nvSpPr>
          <p:cNvPr id="21" name="Shape 19"/>
          <p:cNvSpPr/>
          <p:nvPr/>
        </p:nvSpPr>
        <p:spPr>
          <a:xfrm>
            <a:off x="2578608" y="2487168"/>
            <a:ext cx="1828800" cy="548640"/>
          </a:xfrm>
          <a:prstGeom prst="roundRect">
            <a:avLst>
              <a:gd name="adj" fmla="val 13333"/>
            </a:avLst>
          </a:prstGeom>
          <a:solidFill>
            <a:srgbClr val="00BCD4">
              <a:alpha val="18000"/>
            </a:srgbClr>
          </a:solidFill>
          <a:ln w="12700">
            <a:solidFill>
              <a:srgbClr val="00BCD4">
                <a:alpha val="30000"/>
              </a:srgbClr>
            </a:solidFill>
            <a:prstDash val="solid"/>
          </a:ln>
        </p:spPr>
      </p:sp>
      <p:sp>
        <p:nvSpPr>
          <p:cNvPr id="22" name="Text 20"/>
          <p:cNvSpPr/>
          <p:nvPr/>
        </p:nvSpPr>
        <p:spPr>
          <a:xfrm>
            <a:off x="2624328" y="2487168"/>
            <a:ext cx="1737360" cy="54864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Always explains classification reasoning</a:t>
            </a:r>
            <a:endParaRPr lang="en-US" sz="950" dirty="0"/>
          </a:p>
        </p:txBody>
      </p:sp>
      <p:sp>
        <p:nvSpPr>
          <p:cNvPr id="23" name="Shape 21"/>
          <p:cNvSpPr/>
          <p:nvPr/>
        </p:nvSpPr>
        <p:spPr>
          <a:xfrm>
            <a:off x="2578608" y="3127248"/>
            <a:ext cx="1828800" cy="548640"/>
          </a:xfrm>
          <a:prstGeom prst="roundRect">
            <a:avLst>
              <a:gd name="adj" fmla="val 13333"/>
            </a:avLst>
          </a:prstGeom>
          <a:solidFill>
            <a:srgbClr val="00BCD4">
              <a:alpha val="18000"/>
            </a:srgbClr>
          </a:solidFill>
          <a:ln w="12700">
            <a:solidFill>
              <a:srgbClr val="00BCD4">
                <a:alpha val="30000"/>
              </a:srgbClr>
            </a:solidFill>
            <a:prstDash val="solid"/>
          </a:ln>
        </p:spPr>
      </p:sp>
      <p:sp>
        <p:nvSpPr>
          <p:cNvPr id="24" name="Text 22"/>
          <p:cNvSpPr/>
          <p:nvPr/>
        </p:nvSpPr>
        <p:spPr>
          <a:xfrm>
            <a:off x="2624328" y="3127248"/>
            <a:ext cx="1737360" cy="54864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Discloses confidence level openly</a:t>
            </a:r>
            <a:endParaRPr lang="en-US" sz="950" dirty="0"/>
          </a:p>
        </p:txBody>
      </p:sp>
      <p:sp>
        <p:nvSpPr>
          <p:cNvPr id="25" name="Shape 23"/>
          <p:cNvSpPr/>
          <p:nvPr/>
        </p:nvSpPr>
        <p:spPr>
          <a:xfrm>
            <a:off x="2578608" y="3767328"/>
            <a:ext cx="1828800" cy="548640"/>
          </a:xfrm>
          <a:prstGeom prst="roundRect">
            <a:avLst>
              <a:gd name="adj" fmla="val 13333"/>
            </a:avLst>
          </a:prstGeom>
          <a:solidFill>
            <a:srgbClr val="00BCD4">
              <a:alpha val="18000"/>
            </a:srgbClr>
          </a:solidFill>
          <a:ln w="12700">
            <a:solidFill>
              <a:srgbClr val="00BCD4">
                <a:alpha val="30000"/>
              </a:srgbClr>
            </a:solidFill>
            <a:prstDash val="solid"/>
          </a:ln>
        </p:spPr>
      </p:sp>
      <p:sp>
        <p:nvSpPr>
          <p:cNvPr id="26" name="Text 24"/>
          <p:cNvSpPr/>
          <p:nvPr/>
        </p:nvSpPr>
        <p:spPr>
          <a:xfrm>
            <a:off x="2624328" y="3767328"/>
            <a:ext cx="1737360" cy="54864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Identifies itself as AI, not human</a:t>
            </a:r>
            <a:endParaRPr lang="en-US" sz="950" dirty="0"/>
          </a:p>
        </p:txBody>
      </p:sp>
      <p:sp>
        <p:nvSpPr>
          <p:cNvPr id="27" name="Shape 25"/>
          <p:cNvSpPr/>
          <p:nvPr/>
        </p:nvSpPr>
        <p:spPr>
          <a:xfrm>
            <a:off x="2578608" y="4407408"/>
            <a:ext cx="1828800" cy="548640"/>
          </a:xfrm>
          <a:prstGeom prst="roundRect">
            <a:avLst>
              <a:gd name="adj" fmla="val 13333"/>
            </a:avLst>
          </a:prstGeom>
          <a:solidFill>
            <a:srgbClr val="00BCD4">
              <a:alpha val="18000"/>
            </a:srgbClr>
          </a:solidFill>
          <a:ln w="12700">
            <a:solidFill>
              <a:srgbClr val="00BCD4">
                <a:alpha val="30000"/>
              </a:srgbClr>
            </a:solidFill>
            <a:prstDash val="solid"/>
          </a:ln>
        </p:spPr>
      </p:sp>
      <p:sp>
        <p:nvSpPr>
          <p:cNvPr id="28" name="Text 26"/>
          <p:cNvSpPr/>
          <p:nvPr/>
        </p:nvSpPr>
        <p:spPr>
          <a:xfrm>
            <a:off x="2624328" y="4407408"/>
            <a:ext cx="1737360" cy="54864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Clear data usage disclosure</a:t>
            </a:r>
            <a:endParaRPr lang="en-US" sz="950" dirty="0"/>
          </a:p>
        </p:txBody>
      </p:sp>
      <p:sp>
        <p:nvSpPr>
          <p:cNvPr id="29" name="Shape 27"/>
          <p:cNvSpPr/>
          <p:nvPr/>
        </p:nvSpPr>
        <p:spPr>
          <a:xfrm>
            <a:off x="4608576" y="960120"/>
            <a:ext cx="2011680" cy="4114800"/>
          </a:xfrm>
          <a:prstGeom prst="roundRect">
            <a:avLst>
              <a:gd name="adj" fmla="val 6818"/>
            </a:avLst>
          </a:prstGeom>
          <a:solidFill>
            <a:srgbClr val="1C2730"/>
          </a:solidFill>
          <a:ln w="12700">
            <a:solidFill>
              <a:srgbClr val="FF8F00">
                <a:alpha val="60000"/>
              </a:srgbClr>
            </a:solidFill>
            <a:prstDash val="solid"/>
          </a:ln>
          <a:effectLst>
            <a:outerShdw blurRad="101600" dist="38100" dir="2700000" algn="bl" rotWithShape="0">
              <a:srgbClr val="000000">
                <a:alpha val="12000"/>
              </a:srgbClr>
            </a:outerShdw>
          </a:effectLst>
        </p:spPr>
      </p:sp>
      <p:sp>
        <p:nvSpPr>
          <p:cNvPr id="30" name="Shape 28"/>
          <p:cNvSpPr/>
          <p:nvPr/>
        </p:nvSpPr>
        <p:spPr>
          <a:xfrm>
            <a:off x="5202936" y="1097280"/>
            <a:ext cx="822960" cy="822960"/>
          </a:xfrm>
          <a:prstGeom prst="ellipse">
            <a:avLst/>
          </a:prstGeom>
          <a:solidFill>
            <a:srgbClr val="FF8F00">
              <a:alpha val="80000"/>
            </a:srgbClr>
          </a:solidFill>
          <a:ln w="12700">
            <a:solidFill>
              <a:srgbClr val="FF8F00">
                <a:alpha val="80000"/>
              </a:srgbClr>
            </a:solidFill>
            <a:prstDash val="solid"/>
          </a:ln>
        </p:spPr>
      </p:sp>
      <p:sp>
        <p:nvSpPr>
          <p:cNvPr id="31" name="Text 29"/>
          <p:cNvSpPr/>
          <p:nvPr/>
        </p:nvSpPr>
        <p:spPr>
          <a:xfrm>
            <a:off x="5202936" y="1097280"/>
            <a:ext cx="822960" cy="8229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32" name="Text 30"/>
          <p:cNvSpPr/>
          <p:nvPr/>
        </p:nvSpPr>
        <p:spPr>
          <a:xfrm>
            <a:off x="4608576" y="2011680"/>
            <a:ext cx="2011680" cy="384048"/>
          </a:xfrm>
          <a:prstGeom prst="rect">
            <a:avLst/>
          </a:prstGeom>
          <a:noFill/>
          <a:ln/>
        </p:spPr>
        <p:txBody>
          <a:bodyPr wrap="square" rtlCol="0" anchor="ctr"/>
          <a:lstStyle/>
          <a:p>
            <a:pPr marL="0" indent="0" algn="ctr">
              <a:buNone/>
            </a:pPr>
            <a:r>
              <a:rPr lang="en-US" sz="1500" b="1" dirty="0">
                <a:solidFill>
                  <a:srgbClr val="FF8F00"/>
                </a:solidFill>
                <a:latin typeface="Arial" pitchFamily="34" charset="0"/>
                <a:ea typeface="Arial" pitchFamily="34" charset="-122"/>
                <a:cs typeface="Arial" pitchFamily="34" charset="-120"/>
              </a:rPr>
              <a:t>Ethics</a:t>
            </a:r>
            <a:endParaRPr lang="en-US" sz="1500" dirty="0"/>
          </a:p>
        </p:txBody>
      </p:sp>
      <p:sp>
        <p:nvSpPr>
          <p:cNvPr id="33" name="Shape 31"/>
          <p:cNvSpPr/>
          <p:nvPr/>
        </p:nvSpPr>
        <p:spPr>
          <a:xfrm>
            <a:off x="4700016" y="2487168"/>
            <a:ext cx="1828800" cy="548640"/>
          </a:xfrm>
          <a:prstGeom prst="roundRect">
            <a:avLst>
              <a:gd name="adj" fmla="val 13333"/>
            </a:avLst>
          </a:prstGeom>
          <a:solidFill>
            <a:srgbClr val="FF8F00">
              <a:alpha val="18000"/>
            </a:srgbClr>
          </a:solidFill>
          <a:ln w="12700">
            <a:solidFill>
              <a:srgbClr val="FF8F00">
                <a:alpha val="30000"/>
              </a:srgbClr>
            </a:solidFill>
            <a:prstDash val="solid"/>
          </a:ln>
        </p:spPr>
      </p:sp>
      <p:sp>
        <p:nvSpPr>
          <p:cNvPr id="34" name="Text 32"/>
          <p:cNvSpPr/>
          <p:nvPr/>
        </p:nvSpPr>
        <p:spPr>
          <a:xfrm>
            <a:off x="4745736" y="2487168"/>
            <a:ext cx="1737360" cy="54864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Environmental safety always prioritized</a:t>
            </a:r>
            <a:endParaRPr lang="en-US" sz="950" dirty="0"/>
          </a:p>
        </p:txBody>
      </p:sp>
      <p:sp>
        <p:nvSpPr>
          <p:cNvPr id="35" name="Shape 33"/>
          <p:cNvSpPr/>
          <p:nvPr/>
        </p:nvSpPr>
        <p:spPr>
          <a:xfrm>
            <a:off x="4700016" y="3127248"/>
            <a:ext cx="1828800" cy="548640"/>
          </a:xfrm>
          <a:prstGeom prst="roundRect">
            <a:avLst>
              <a:gd name="adj" fmla="val 13333"/>
            </a:avLst>
          </a:prstGeom>
          <a:solidFill>
            <a:srgbClr val="FF8F00">
              <a:alpha val="18000"/>
            </a:srgbClr>
          </a:solidFill>
          <a:ln w="12700">
            <a:solidFill>
              <a:srgbClr val="FF8F00">
                <a:alpha val="30000"/>
              </a:srgbClr>
            </a:solidFill>
            <a:prstDash val="solid"/>
          </a:ln>
        </p:spPr>
      </p:sp>
      <p:sp>
        <p:nvSpPr>
          <p:cNvPr id="36" name="Text 34"/>
          <p:cNvSpPr/>
          <p:nvPr/>
        </p:nvSpPr>
        <p:spPr>
          <a:xfrm>
            <a:off x="4745736" y="3127248"/>
            <a:ext cx="1737360" cy="54864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No greenwashing or false eco-claims</a:t>
            </a:r>
            <a:endParaRPr lang="en-US" sz="950" dirty="0"/>
          </a:p>
        </p:txBody>
      </p:sp>
      <p:sp>
        <p:nvSpPr>
          <p:cNvPr id="37" name="Shape 35"/>
          <p:cNvSpPr/>
          <p:nvPr/>
        </p:nvSpPr>
        <p:spPr>
          <a:xfrm>
            <a:off x="4700016" y="3767328"/>
            <a:ext cx="1828800" cy="548640"/>
          </a:xfrm>
          <a:prstGeom prst="roundRect">
            <a:avLst>
              <a:gd name="adj" fmla="val 13333"/>
            </a:avLst>
          </a:prstGeom>
          <a:solidFill>
            <a:srgbClr val="FF8F00">
              <a:alpha val="18000"/>
            </a:srgbClr>
          </a:solidFill>
          <a:ln w="12700">
            <a:solidFill>
              <a:srgbClr val="FF8F00">
                <a:alpha val="30000"/>
              </a:srgbClr>
            </a:solidFill>
            <a:prstDash val="solid"/>
          </a:ln>
        </p:spPr>
      </p:sp>
      <p:sp>
        <p:nvSpPr>
          <p:cNvPr id="38" name="Text 36"/>
          <p:cNvSpPr/>
          <p:nvPr/>
        </p:nvSpPr>
        <p:spPr>
          <a:xfrm>
            <a:off x="4745736" y="3767328"/>
            <a:ext cx="1737360" cy="54864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Balances individual + systemic action</a:t>
            </a:r>
            <a:endParaRPr lang="en-US" sz="950" dirty="0"/>
          </a:p>
        </p:txBody>
      </p:sp>
      <p:sp>
        <p:nvSpPr>
          <p:cNvPr id="39" name="Shape 37"/>
          <p:cNvSpPr/>
          <p:nvPr/>
        </p:nvSpPr>
        <p:spPr>
          <a:xfrm>
            <a:off x="4700016" y="4407408"/>
            <a:ext cx="1828800" cy="548640"/>
          </a:xfrm>
          <a:prstGeom prst="roundRect">
            <a:avLst>
              <a:gd name="adj" fmla="val 13333"/>
            </a:avLst>
          </a:prstGeom>
          <a:solidFill>
            <a:srgbClr val="FF8F00">
              <a:alpha val="18000"/>
            </a:srgbClr>
          </a:solidFill>
          <a:ln w="12700">
            <a:solidFill>
              <a:srgbClr val="FF8F00">
                <a:alpha val="30000"/>
              </a:srgbClr>
            </a:solidFill>
            <a:prstDash val="solid"/>
          </a:ln>
        </p:spPr>
      </p:sp>
      <p:sp>
        <p:nvSpPr>
          <p:cNvPr id="40" name="Text 38"/>
          <p:cNvSpPr/>
          <p:nvPr/>
        </p:nvSpPr>
        <p:spPr>
          <a:xfrm>
            <a:off x="4745736" y="4407408"/>
            <a:ext cx="1737360" cy="54864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Safety escalation for hazardous items</a:t>
            </a:r>
            <a:endParaRPr lang="en-US" sz="950" dirty="0"/>
          </a:p>
        </p:txBody>
      </p:sp>
      <p:sp>
        <p:nvSpPr>
          <p:cNvPr id="41" name="Shape 39"/>
          <p:cNvSpPr/>
          <p:nvPr/>
        </p:nvSpPr>
        <p:spPr>
          <a:xfrm>
            <a:off x="6729984" y="960120"/>
            <a:ext cx="2011680" cy="4114800"/>
          </a:xfrm>
          <a:prstGeom prst="roundRect">
            <a:avLst>
              <a:gd name="adj" fmla="val 6818"/>
            </a:avLst>
          </a:prstGeom>
          <a:solidFill>
            <a:srgbClr val="1C2730"/>
          </a:solidFill>
          <a:ln w="12700">
            <a:solidFill>
              <a:srgbClr val="AB47BC">
                <a:alpha val="60000"/>
              </a:srgbClr>
            </a:solidFill>
            <a:prstDash val="solid"/>
          </a:ln>
          <a:effectLst>
            <a:outerShdw blurRad="101600" dist="38100" dir="2700000" algn="bl" rotWithShape="0">
              <a:srgbClr val="000000">
                <a:alpha val="12000"/>
              </a:srgbClr>
            </a:outerShdw>
          </a:effectLst>
        </p:spPr>
      </p:sp>
      <p:sp>
        <p:nvSpPr>
          <p:cNvPr id="42" name="Shape 40"/>
          <p:cNvSpPr/>
          <p:nvPr/>
        </p:nvSpPr>
        <p:spPr>
          <a:xfrm>
            <a:off x="7324344" y="1097280"/>
            <a:ext cx="822960" cy="822960"/>
          </a:xfrm>
          <a:prstGeom prst="ellipse">
            <a:avLst/>
          </a:prstGeom>
          <a:solidFill>
            <a:srgbClr val="AB47BC">
              <a:alpha val="80000"/>
            </a:srgbClr>
          </a:solidFill>
          <a:ln w="12700">
            <a:solidFill>
              <a:srgbClr val="AB47BC">
                <a:alpha val="80000"/>
              </a:srgbClr>
            </a:solidFill>
            <a:prstDash val="solid"/>
          </a:ln>
        </p:spPr>
      </p:sp>
      <p:sp>
        <p:nvSpPr>
          <p:cNvPr id="43" name="Text 41"/>
          <p:cNvSpPr/>
          <p:nvPr/>
        </p:nvSpPr>
        <p:spPr>
          <a:xfrm>
            <a:off x="7324344" y="1097280"/>
            <a:ext cx="822960" cy="8229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44" name="Text 42"/>
          <p:cNvSpPr/>
          <p:nvPr/>
        </p:nvSpPr>
        <p:spPr>
          <a:xfrm>
            <a:off x="6729984" y="2011680"/>
            <a:ext cx="2011680" cy="384048"/>
          </a:xfrm>
          <a:prstGeom prst="rect">
            <a:avLst/>
          </a:prstGeom>
          <a:noFill/>
          <a:ln/>
        </p:spPr>
        <p:txBody>
          <a:bodyPr wrap="square" rtlCol="0" anchor="ctr"/>
          <a:lstStyle/>
          <a:p>
            <a:pPr marL="0" indent="0" algn="ctr">
              <a:buNone/>
            </a:pPr>
            <a:r>
              <a:rPr lang="en-US" sz="1500" b="1" dirty="0">
                <a:solidFill>
                  <a:srgbClr val="AB47BC"/>
                </a:solidFill>
                <a:latin typeface="Arial" pitchFamily="34" charset="0"/>
                <a:ea typeface="Arial" pitchFamily="34" charset="-122"/>
                <a:cs typeface="Arial" pitchFamily="34" charset="-120"/>
              </a:rPr>
              <a:t>Privacy</a:t>
            </a:r>
            <a:endParaRPr lang="en-US" sz="1500" dirty="0"/>
          </a:p>
        </p:txBody>
      </p:sp>
      <p:sp>
        <p:nvSpPr>
          <p:cNvPr id="45" name="Shape 43"/>
          <p:cNvSpPr/>
          <p:nvPr/>
        </p:nvSpPr>
        <p:spPr>
          <a:xfrm>
            <a:off x="6821424" y="2487168"/>
            <a:ext cx="1828800" cy="548640"/>
          </a:xfrm>
          <a:prstGeom prst="roundRect">
            <a:avLst>
              <a:gd name="adj" fmla="val 13333"/>
            </a:avLst>
          </a:prstGeom>
          <a:solidFill>
            <a:srgbClr val="AB47BC">
              <a:alpha val="18000"/>
            </a:srgbClr>
          </a:solidFill>
          <a:ln w="12700">
            <a:solidFill>
              <a:srgbClr val="AB47BC">
                <a:alpha val="30000"/>
              </a:srgbClr>
            </a:solidFill>
            <a:prstDash val="solid"/>
          </a:ln>
        </p:spPr>
      </p:sp>
      <p:sp>
        <p:nvSpPr>
          <p:cNvPr id="46" name="Text 44"/>
          <p:cNvSpPr/>
          <p:nvPr/>
        </p:nvSpPr>
        <p:spPr>
          <a:xfrm>
            <a:off x="6867144" y="2487168"/>
            <a:ext cx="1737360" cy="54864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Data minimization by design</a:t>
            </a:r>
            <a:endParaRPr lang="en-US" sz="950" dirty="0"/>
          </a:p>
        </p:txBody>
      </p:sp>
      <p:sp>
        <p:nvSpPr>
          <p:cNvPr id="47" name="Shape 45"/>
          <p:cNvSpPr/>
          <p:nvPr/>
        </p:nvSpPr>
        <p:spPr>
          <a:xfrm>
            <a:off x="6821424" y="3127248"/>
            <a:ext cx="1828800" cy="548640"/>
          </a:xfrm>
          <a:prstGeom prst="roundRect">
            <a:avLst>
              <a:gd name="adj" fmla="val 13333"/>
            </a:avLst>
          </a:prstGeom>
          <a:solidFill>
            <a:srgbClr val="AB47BC">
              <a:alpha val="18000"/>
            </a:srgbClr>
          </a:solidFill>
          <a:ln w="12700">
            <a:solidFill>
              <a:srgbClr val="AB47BC">
                <a:alpha val="30000"/>
              </a:srgbClr>
            </a:solidFill>
            <a:prstDash val="solid"/>
          </a:ln>
        </p:spPr>
      </p:sp>
      <p:sp>
        <p:nvSpPr>
          <p:cNvPr id="48" name="Text 46"/>
          <p:cNvSpPr/>
          <p:nvPr/>
        </p:nvSpPr>
        <p:spPr>
          <a:xfrm>
            <a:off x="6867144" y="3127248"/>
            <a:ext cx="1737360" cy="54864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Location data not persisted</a:t>
            </a:r>
            <a:endParaRPr lang="en-US" sz="950" dirty="0"/>
          </a:p>
        </p:txBody>
      </p:sp>
      <p:sp>
        <p:nvSpPr>
          <p:cNvPr id="49" name="Shape 47"/>
          <p:cNvSpPr/>
          <p:nvPr/>
        </p:nvSpPr>
        <p:spPr>
          <a:xfrm>
            <a:off x="6821424" y="3767328"/>
            <a:ext cx="1828800" cy="548640"/>
          </a:xfrm>
          <a:prstGeom prst="roundRect">
            <a:avLst>
              <a:gd name="adj" fmla="val 13333"/>
            </a:avLst>
          </a:prstGeom>
          <a:solidFill>
            <a:srgbClr val="AB47BC">
              <a:alpha val="18000"/>
            </a:srgbClr>
          </a:solidFill>
          <a:ln w="12700">
            <a:solidFill>
              <a:srgbClr val="AB47BC">
                <a:alpha val="30000"/>
              </a:srgbClr>
            </a:solidFill>
            <a:prstDash val="solid"/>
          </a:ln>
        </p:spPr>
      </p:sp>
      <p:sp>
        <p:nvSpPr>
          <p:cNvPr id="50" name="Text 48"/>
          <p:cNvSpPr/>
          <p:nvPr/>
        </p:nvSpPr>
        <p:spPr>
          <a:xfrm>
            <a:off x="6867144" y="3767328"/>
            <a:ext cx="1737360" cy="54864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Interaction logs anonymized</a:t>
            </a:r>
            <a:endParaRPr lang="en-US" sz="950" dirty="0"/>
          </a:p>
        </p:txBody>
      </p:sp>
      <p:sp>
        <p:nvSpPr>
          <p:cNvPr id="51" name="Shape 49"/>
          <p:cNvSpPr/>
          <p:nvPr/>
        </p:nvSpPr>
        <p:spPr>
          <a:xfrm>
            <a:off x="6821424" y="4407408"/>
            <a:ext cx="1828800" cy="548640"/>
          </a:xfrm>
          <a:prstGeom prst="roundRect">
            <a:avLst>
              <a:gd name="adj" fmla="val 13333"/>
            </a:avLst>
          </a:prstGeom>
          <a:solidFill>
            <a:srgbClr val="AB47BC">
              <a:alpha val="18000"/>
            </a:srgbClr>
          </a:solidFill>
          <a:ln w="12700">
            <a:solidFill>
              <a:srgbClr val="AB47BC">
                <a:alpha val="30000"/>
              </a:srgbClr>
            </a:solidFill>
            <a:prstDash val="solid"/>
          </a:ln>
        </p:spPr>
      </p:sp>
      <p:sp>
        <p:nvSpPr>
          <p:cNvPr id="52" name="Text 50"/>
          <p:cNvSpPr/>
          <p:nvPr/>
        </p:nvSpPr>
        <p:spPr>
          <a:xfrm>
            <a:off x="6867144" y="4407408"/>
            <a:ext cx="1737360" cy="54864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 GDPR &amp; India PDPB compliant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5E20"/>
          </a:solidFill>
          <a:ln w="12700">
            <a:solidFill>
              <a:srgbClr val="1B5E20"/>
            </a:solidFill>
            <a:prstDash val="solid"/>
          </a:ln>
        </p:spPr>
      </p:sp>
      <p:sp>
        <p:nvSpPr>
          <p:cNvPr id="3" name="Text 1"/>
          <p:cNvSpPr/>
          <p:nvPr/>
        </p:nvSpPr>
        <p:spPr>
          <a:xfrm>
            <a:off x="365760" y="0"/>
            <a:ext cx="8412480" cy="822960"/>
          </a:xfrm>
          <a:prstGeom prst="rect">
            <a:avLst/>
          </a:prstGeom>
          <a:noFill/>
          <a:ln/>
        </p:spPr>
        <p:txBody>
          <a:bodyPr wrap="square" rtlCol="0" anchor="ctr"/>
          <a:lstStyle/>
          <a:p>
            <a:pPr marL="0" indent="0">
              <a:buNone/>
            </a:pPr>
            <a:r>
              <a:rPr lang="en-US" sz="2800" b="1" dirty="0">
                <a:solidFill>
                  <a:srgbClr val="FFFFFF"/>
                </a:solidFill>
                <a:latin typeface="Arial" pitchFamily="34" charset="0"/>
                <a:ea typeface="Arial" pitchFamily="34" charset="-122"/>
                <a:cs typeface="Arial" pitchFamily="34" charset="-120"/>
              </a:rPr>
              <a:t>Expected Impact</a:t>
            </a:r>
            <a:endParaRPr lang="en-US" sz="2800" dirty="0"/>
          </a:p>
        </p:txBody>
      </p:sp>
      <p:sp>
        <p:nvSpPr>
          <p:cNvPr id="4" name="Text 2"/>
          <p:cNvSpPr/>
          <p:nvPr/>
        </p:nvSpPr>
        <p:spPr>
          <a:xfrm>
            <a:off x="7772400" y="91440"/>
            <a:ext cx="1188720" cy="320040"/>
          </a:xfrm>
          <a:prstGeom prst="rect">
            <a:avLst/>
          </a:prstGeom>
          <a:noFill/>
          <a:ln/>
        </p:spPr>
        <p:txBody>
          <a:bodyPr wrap="square" rtlCol="0" anchor="ctr"/>
          <a:lstStyle/>
          <a:p>
            <a:pPr marL="0" indent="0" algn="r">
              <a:buNone/>
            </a:pPr>
            <a:r>
              <a:rPr lang="en-US" sz="900" dirty="0">
                <a:solidFill>
                  <a:srgbClr val="C8E6C9"/>
                </a:solidFill>
                <a:latin typeface="Calibri" pitchFamily="34" charset="0"/>
                <a:ea typeface="Calibri" pitchFamily="34" charset="-122"/>
                <a:cs typeface="Calibri" pitchFamily="34" charset="-120"/>
              </a:rPr>
              <a:t>SLIDE 10 of 12</a:t>
            </a:r>
            <a:endParaRPr lang="en-US" sz="900" dirty="0"/>
          </a:p>
        </p:txBody>
      </p:sp>
      <p:sp>
        <p:nvSpPr>
          <p:cNvPr id="5" name="Shape 3"/>
          <p:cNvSpPr/>
          <p:nvPr/>
        </p:nvSpPr>
        <p:spPr>
          <a:xfrm>
            <a:off x="274320" y="960120"/>
            <a:ext cx="2011680" cy="1371600"/>
          </a:xfrm>
          <a:prstGeom prst="roundRect">
            <a:avLst>
              <a:gd name="adj" fmla="val 10000"/>
            </a:avLst>
          </a:prstGeom>
          <a:solidFill>
            <a:srgbClr val="F1F8E9"/>
          </a:solidFill>
          <a:ln w="12700">
            <a:solidFill>
              <a:srgbClr val="1B5E20">
                <a:alpha val="50000"/>
              </a:srgbClr>
            </a:solidFill>
            <a:prstDash val="solid"/>
          </a:ln>
          <a:effectLst>
            <a:outerShdw blurRad="101600" dist="38100" dir="2700000" algn="bl" rotWithShape="0">
              <a:srgbClr val="000000">
                <a:alpha val="12000"/>
              </a:srgbClr>
            </a:outerShdw>
          </a:effectLst>
        </p:spPr>
      </p:sp>
      <p:sp>
        <p:nvSpPr>
          <p:cNvPr id="6" name="Text 4"/>
          <p:cNvSpPr/>
          <p:nvPr/>
        </p:nvSpPr>
        <p:spPr>
          <a:xfrm>
            <a:off x="274320" y="1005840"/>
            <a:ext cx="2011680" cy="685800"/>
          </a:xfrm>
          <a:prstGeom prst="rect">
            <a:avLst/>
          </a:prstGeom>
          <a:noFill/>
          <a:ln/>
        </p:spPr>
        <p:txBody>
          <a:bodyPr wrap="square" rtlCol="0" anchor="ctr"/>
          <a:lstStyle/>
          <a:p>
            <a:pPr marL="0" indent="0" algn="ctr">
              <a:buNone/>
            </a:pPr>
            <a:r>
              <a:rPr lang="en-US" sz="3800" b="1" dirty="0">
                <a:solidFill>
                  <a:srgbClr val="1B5E20"/>
                </a:solidFill>
                <a:latin typeface="Arial" pitchFamily="34" charset="0"/>
                <a:ea typeface="Arial" pitchFamily="34" charset="-122"/>
                <a:cs typeface="Arial" pitchFamily="34" charset="-120"/>
              </a:rPr>
              <a:t>50K</a:t>
            </a:r>
            <a:endParaRPr lang="en-US" sz="3800" dirty="0"/>
          </a:p>
        </p:txBody>
      </p:sp>
      <p:sp>
        <p:nvSpPr>
          <p:cNvPr id="7" name="Text 5"/>
          <p:cNvSpPr/>
          <p:nvPr/>
        </p:nvSpPr>
        <p:spPr>
          <a:xfrm>
            <a:off x="274320" y="1664208"/>
            <a:ext cx="2011680" cy="256032"/>
          </a:xfrm>
          <a:prstGeom prst="rect">
            <a:avLst/>
          </a:prstGeom>
          <a:noFill/>
          <a:ln/>
        </p:spPr>
        <p:txBody>
          <a:bodyPr wrap="square" rtlCol="0" anchor="ctr"/>
          <a:lstStyle/>
          <a:p>
            <a:pPr marL="0" indent="0" algn="ctr">
              <a:buNone/>
            </a:pPr>
            <a:r>
              <a:rPr lang="en-US" sz="1100" b="1" dirty="0">
                <a:solidFill>
                  <a:srgbClr val="1B5E20"/>
                </a:solidFill>
                <a:latin typeface="Calibri" pitchFamily="34" charset="0"/>
                <a:ea typeface="Calibri" pitchFamily="34" charset="-122"/>
                <a:cs typeface="Calibri" pitchFamily="34" charset="-120"/>
              </a:rPr>
              <a:t>Tonnes</a:t>
            </a:r>
            <a:endParaRPr lang="en-US" sz="1100" dirty="0"/>
          </a:p>
        </p:txBody>
      </p:sp>
      <p:sp>
        <p:nvSpPr>
          <p:cNvPr id="8" name="Text 6"/>
          <p:cNvSpPr/>
          <p:nvPr/>
        </p:nvSpPr>
        <p:spPr>
          <a:xfrm>
            <a:off x="365760" y="1920240"/>
            <a:ext cx="1828800" cy="347472"/>
          </a:xfrm>
          <a:prstGeom prst="rect">
            <a:avLst/>
          </a:prstGeom>
          <a:noFill/>
          <a:ln/>
        </p:spPr>
        <p:txBody>
          <a:bodyPr wrap="square" rtlCol="0" anchor="ctr"/>
          <a:lstStyle/>
          <a:p>
            <a:pPr marL="0" indent="0" algn="ctr">
              <a:buNone/>
            </a:pPr>
            <a:r>
              <a:rPr lang="en-US" sz="950" dirty="0">
                <a:solidFill>
                  <a:srgbClr val="546E7A"/>
                </a:solidFill>
                <a:latin typeface="Calibri" pitchFamily="34" charset="0"/>
                <a:ea typeface="Calibri" pitchFamily="34" charset="-122"/>
                <a:cs typeface="Calibri" pitchFamily="34" charset="-120"/>
              </a:rPr>
              <a:t>Waste correctly sorted (Yr 1)</a:t>
            </a:r>
            <a:endParaRPr lang="en-US" sz="950" dirty="0"/>
          </a:p>
        </p:txBody>
      </p:sp>
      <p:sp>
        <p:nvSpPr>
          <p:cNvPr id="9" name="Shape 7"/>
          <p:cNvSpPr/>
          <p:nvPr/>
        </p:nvSpPr>
        <p:spPr>
          <a:xfrm>
            <a:off x="2450592" y="960120"/>
            <a:ext cx="2011680" cy="1371600"/>
          </a:xfrm>
          <a:prstGeom prst="roundRect">
            <a:avLst>
              <a:gd name="adj" fmla="val 10000"/>
            </a:avLst>
          </a:prstGeom>
          <a:solidFill>
            <a:srgbClr val="F1F8E9"/>
          </a:solidFill>
          <a:ln w="12700">
            <a:solidFill>
              <a:srgbClr val="388E3C">
                <a:alpha val="50000"/>
              </a:srgbClr>
            </a:solidFill>
            <a:prstDash val="solid"/>
          </a:ln>
          <a:effectLst>
            <a:outerShdw blurRad="101600" dist="38100" dir="2700000" algn="bl" rotWithShape="0">
              <a:srgbClr val="000000">
                <a:alpha val="12000"/>
              </a:srgbClr>
            </a:outerShdw>
          </a:effectLst>
        </p:spPr>
      </p:sp>
      <p:sp>
        <p:nvSpPr>
          <p:cNvPr id="10" name="Text 8"/>
          <p:cNvSpPr/>
          <p:nvPr/>
        </p:nvSpPr>
        <p:spPr>
          <a:xfrm>
            <a:off x="2450592" y="1005840"/>
            <a:ext cx="2011680" cy="685800"/>
          </a:xfrm>
          <a:prstGeom prst="rect">
            <a:avLst/>
          </a:prstGeom>
          <a:noFill/>
          <a:ln/>
        </p:spPr>
        <p:txBody>
          <a:bodyPr wrap="square" rtlCol="0" anchor="ctr"/>
          <a:lstStyle/>
          <a:p>
            <a:pPr marL="0" indent="0" algn="ctr">
              <a:buNone/>
            </a:pPr>
            <a:r>
              <a:rPr lang="en-US" sz="3800" b="1" dirty="0">
                <a:solidFill>
                  <a:srgbClr val="388E3C"/>
                </a:solidFill>
                <a:latin typeface="Arial" pitchFamily="34" charset="0"/>
                <a:ea typeface="Arial" pitchFamily="34" charset="-122"/>
                <a:cs typeface="Arial" pitchFamily="34" charset="-120"/>
              </a:rPr>
              <a:t>92%</a:t>
            </a:r>
            <a:endParaRPr lang="en-US" sz="3800" dirty="0"/>
          </a:p>
        </p:txBody>
      </p:sp>
      <p:sp>
        <p:nvSpPr>
          <p:cNvPr id="11" name="Text 9"/>
          <p:cNvSpPr/>
          <p:nvPr/>
        </p:nvSpPr>
        <p:spPr>
          <a:xfrm>
            <a:off x="2450592" y="1664208"/>
            <a:ext cx="2011680" cy="256032"/>
          </a:xfrm>
          <a:prstGeom prst="rect">
            <a:avLst/>
          </a:prstGeom>
          <a:noFill/>
          <a:ln/>
        </p:spPr>
        <p:txBody>
          <a:bodyPr wrap="square" rtlCol="0" anchor="ctr"/>
          <a:lstStyle/>
          <a:p>
            <a:pPr marL="0" indent="0" algn="ctr">
              <a:buNone/>
            </a:pPr>
            <a:r>
              <a:rPr lang="en-US" sz="1100" b="1" dirty="0">
                <a:solidFill>
                  <a:srgbClr val="388E3C"/>
                </a:solidFill>
                <a:latin typeface="Calibri" pitchFamily="34" charset="0"/>
                <a:ea typeface="Calibri" pitchFamily="34" charset="-122"/>
                <a:cs typeface="Calibri" pitchFamily="34" charset="-120"/>
              </a:rPr>
              <a:t>Accuracy</a:t>
            </a:r>
            <a:endParaRPr lang="en-US" sz="1100" dirty="0"/>
          </a:p>
        </p:txBody>
      </p:sp>
      <p:sp>
        <p:nvSpPr>
          <p:cNvPr id="12" name="Text 10"/>
          <p:cNvSpPr/>
          <p:nvPr/>
        </p:nvSpPr>
        <p:spPr>
          <a:xfrm>
            <a:off x="2542032" y="1920240"/>
            <a:ext cx="1828800" cy="347472"/>
          </a:xfrm>
          <a:prstGeom prst="rect">
            <a:avLst/>
          </a:prstGeom>
          <a:noFill/>
          <a:ln/>
        </p:spPr>
        <p:txBody>
          <a:bodyPr wrap="square" rtlCol="0" anchor="ctr"/>
          <a:lstStyle/>
          <a:p>
            <a:pPr marL="0" indent="0" algn="ctr">
              <a:buNone/>
            </a:pPr>
            <a:r>
              <a:rPr lang="en-US" sz="950" dirty="0">
                <a:solidFill>
                  <a:srgbClr val="546E7A"/>
                </a:solidFill>
                <a:latin typeface="Calibri" pitchFamily="34" charset="0"/>
                <a:ea typeface="Calibri" pitchFamily="34" charset="-122"/>
                <a:cs typeface="Calibri" pitchFamily="34" charset="-120"/>
              </a:rPr>
              <a:t>Waste classification precision</a:t>
            </a:r>
            <a:endParaRPr lang="en-US" sz="950" dirty="0"/>
          </a:p>
        </p:txBody>
      </p:sp>
      <p:sp>
        <p:nvSpPr>
          <p:cNvPr id="13" name="Shape 11"/>
          <p:cNvSpPr/>
          <p:nvPr/>
        </p:nvSpPr>
        <p:spPr>
          <a:xfrm>
            <a:off x="4626864" y="960120"/>
            <a:ext cx="2011680" cy="1371600"/>
          </a:xfrm>
          <a:prstGeom prst="roundRect">
            <a:avLst>
              <a:gd name="adj" fmla="val 10000"/>
            </a:avLst>
          </a:prstGeom>
          <a:solidFill>
            <a:srgbClr val="F1F8E9"/>
          </a:solidFill>
          <a:ln w="12700">
            <a:solidFill>
              <a:srgbClr val="0097A7">
                <a:alpha val="50000"/>
              </a:srgbClr>
            </a:solidFill>
            <a:prstDash val="solid"/>
          </a:ln>
          <a:effectLst>
            <a:outerShdw blurRad="101600" dist="38100" dir="2700000" algn="bl" rotWithShape="0">
              <a:srgbClr val="000000">
                <a:alpha val="12000"/>
              </a:srgbClr>
            </a:outerShdw>
          </a:effectLst>
        </p:spPr>
      </p:sp>
      <p:sp>
        <p:nvSpPr>
          <p:cNvPr id="14" name="Text 12"/>
          <p:cNvSpPr/>
          <p:nvPr/>
        </p:nvSpPr>
        <p:spPr>
          <a:xfrm>
            <a:off x="4626864" y="1005840"/>
            <a:ext cx="2011680" cy="685800"/>
          </a:xfrm>
          <a:prstGeom prst="rect">
            <a:avLst/>
          </a:prstGeom>
          <a:noFill/>
          <a:ln/>
        </p:spPr>
        <p:txBody>
          <a:bodyPr wrap="square" rtlCol="0" anchor="ctr"/>
          <a:lstStyle/>
          <a:p>
            <a:pPr marL="0" indent="0" algn="ctr">
              <a:buNone/>
            </a:pPr>
            <a:r>
              <a:rPr lang="en-US" sz="3800" b="1" dirty="0">
                <a:solidFill>
                  <a:srgbClr val="0097A7"/>
                </a:solidFill>
                <a:latin typeface="Arial" pitchFamily="34" charset="0"/>
                <a:ea typeface="Arial" pitchFamily="34" charset="-122"/>
                <a:cs typeface="Arial" pitchFamily="34" charset="-120"/>
              </a:rPr>
              <a:t>1M</a:t>
            </a:r>
            <a:endParaRPr lang="en-US" sz="3800" dirty="0"/>
          </a:p>
        </p:txBody>
      </p:sp>
      <p:sp>
        <p:nvSpPr>
          <p:cNvPr id="15" name="Text 13"/>
          <p:cNvSpPr/>
          <p:nvPr/>
        </p:nvSpPr>
        <p:spPr>
          <a:xfrm>
            <a:off x="4626864" y="1664208"/>
            <a:ext cx="2011680" cy="256032"/>
          </a:xfrm>
          <a:prstGeom prst="rect">
            <a:avLst/>
          </a:prstGeom>
          <a:noFill/>
          <a:ln/>
        </p:spPr>
        <p:txBody>
          <a:bodyPr wrap="square" rtlCol="0" anchor="ctr"/>
          <a:lstStyle/>
          <a:p>
            <a:pPr marL="0" indent="0" algn="ctr">
              <a:buNone/>
            </a:pPr>
            <a:r>
              <a:rPr lang="en-US" sz="1100" b="1" dirty="0">
                <a:solidFill>
                  <a:srgbClr val="0097A7"/>
                </a:solidFill>
                <a:latin typeface="Calibri" pitchFamily="34" charset="0"/>
                <a:ea typeface="Calibri" pitchFamily="34" charset="-122"/>
                <a:cs typeface="Calibri" pitchFamily="34" charset="-120"/>
              </a:rPr>
              <a:t>Lessons</a:t>
            </a:r>
            <a:endParaRPr lang="en-US" sz="1100" dirty="0"/>
          </a:p>
        </p:txBody>
      </p:sp>
      <p:sp>
        <p:nvSpPr>
          <p:cNvPr id="16" name="Text 14"/>
          <p:cNvSpPr/>
          <p:nvPr/>
        </p:nvSpPr>
        <p:spPr>
          <a:xfrm>
            <a:off x="4718304" y="1920240"/>
            <a:ext cx="1828800" cy="347472"/>
          </a:xfrm>
          <a:prstGeom prst="rect">
            <a:avLst/>
          </a:prstGeom>
          <a:noFill/>
          <a:ln/>
        </p:spPr>
        <p:txBody>
          <a:bodyPr wrap="square" rtlCol="0" anchor="ctr"/>
          <a:lstStyle/>
          <a:p>
            <a:pPr marL="0" indent="0" algn="ctr">
              <a:buNone/>
            </a:pPr>
            <a:r>
              <a:rPr lang="en-US" sz="950" dirty="0">
                <a:solidFill>
                  <a:srgbClr val="546E7A"/>
                </a:solidFill>
                <a:latin typeface="Calibri" pitchFamily="34" charset="0"/>
                <a:ea typeface="Calibri" pitchFamily="34" charset="-122"/>
                <a:cs typeface="Calibri" pitchFamily="34" charset="-120"/>
              </a:rPr>
              <a:t>Sustainability education sessions</a:t>
            </a:r>
            <a:endParaRPr lang="en-US" sz="950" dirty="0"/>
          </a:p>
        </p:txBody>
      </p:sp>
      <p:sp>
        <p:nvSpPr>
          <p:cNvPr id="17" name="Shape 15"/>
          <p:cNvSpPr/>
          <p:nvPr/>
        </p:nvSpPr>
        <p:spPr>
          <a:xfrm>
            <a:off x="6803136" y="960120"/>
            <a:ext cx="2011680" cy="1371600"/>
          </a:xfrm>
          <a:prstGeom prst="roundRect">
            <a:avLst>
              <a:gd name="adj" fmla="val 10000"/>
            </a:avLst>
          </a:prstGeom>
          <a:solidFill>
            <a:srgbClr val="F1F8E9"/>
          </a:solidFill>
          <a:ln w="12700">
            <a:solidFill>
              <a:srgbClr val="FF8F00">
                <a:alpha val="50000"/>
              </a:srgbClr>
            </a:solidFill>
            <a:prstDash val="solid"/>
          </a:ln>
          <a:effectLst>
            <a:outerShdw blurRad="101600" dist="38100" dir="2700000" algn="bl" rotWithShape="0">
              <a:srgbClr val="000000">
                <a:alpha val="12000"/>
              </a:srgbClr>
            </a:outerShdw>
          </a:effectLst>
        </p:spPr>
      </p:sp>
      <p:sp>
        <p:nvSpPr>
          <p:cNvPr id="18" name="Text 16"/>
          <p:cNvSpPr/>
          <p:nvPr/>
        </p:nvSpPr>
        <p:spPr>
          <a:xfrm>
            <a:off x="6803136" y="1005840"/>
            <a:ext cx="2011680" cy="685800"/>
          </a:xfrm>
          <a:prstGeom prst="rect">
            <a:avLst/>
          </a:prstGeom>
          <a:noFill/>
          <a:ln/>
        </p:spPr>
        <p:txBody>
          <a:bodyPr wrap="square" rtlCol="0" anchor="ctr"/>
          <a:lstStyle/>
          <a:p>
            <a:pPr marL="0" indent="0" algn="ctr">
              <a:buNone/>
            </a:pPr>
            <a:r>
              <a:rPr lang="en-US" sz="3800" b="1" dirty="0">
                <a:solidFill>
                  <a:srgbClr val="FF8F00"/>
                </a:solidFill>
                <a:latin typeface="Arial" pitchFamily="34" charset="0"/>
                <a:ea typeface="Arial" pitchFamily="34" charset="-122"/>
                <a:cs typeface="Arial" pitchFamily="34" charset="-120"/>
              </a:rPr>
              <a:t>5K</a:t>
            </a:r>
            <a:endParaRPr lang="en-US" sz="3800" dirty="0"/>
          </a:p>
        </p:txBody>
      </p:sp>
      <p:sp>
        <p:nvSpPr>
          <p:cNvPr id="19" name="Text 17"/>
          <p:cNvSpPr/>
          <p:nvPr/>
        </p:nvSpPr>
        <p:spPr>
          <a:xfrm>
            <a:off x="6803136" y="1664208"/>
            <a:ext cx="2011680" cy="256032"/>
          </a:xfrm>
          <a:prstGeom prst="rect">
            <a:avLst/>
          </a:prstGeom>
          <a:noFill/>
          <a:ln/>
        </p:spPr>
        <p:txBody>
          <a:bodyPr wrap="square" rtlCol="0" anchor="ctr"/>
          <a:lstStyle/>
          <a:p>
            <a:pPr marL="0" indent="0" algn="ctr">
              <a:buNone/>
            </a:pPr>
            <a:r>
              <a:rPr lang="en-US" sz="1100" b="1" dirty="0">
                <a:solidFill>
                  <a:srgbClr val="FF8F00"/>
                </a:solidFill>
                <a:latin typeface="Calibri" pitchFamily="34" charset="0"/>
                <a:ea typeface="Calibri" pitchFamily="34" charset="-122"/>
                <a:cs typeface="Calibri" pitchFamily="34" charset="-120"/>
              </a:rPr>
              <a:t>Tonnes CO₂e</a:t>
            </a:r>
            <a:endParaRPr lang="en-US" sz="1100" dirty="0"/>
          </a:p>
        </p:txBody>
      </p:sp>
      <p:sp>
        <p:nvSpPr>
          <p:cNvPr id="20" name="Text 18"/>
          <p:cNvSpPr/>
          <p:nvPr/>
        </p:nvSpPr>
        <p:spPr>
          <a:xfrm>
            <a:off x="6894576" y="1920240"/>
            <a:ext cx="1828800" cy="347472"/>
          </a:xfrm>
          <a:prstGeom prst="rect">
            <a:avLst/>
          </a:prstGeom>
          <a:noFill/>
          <a:ln/>
        </p:spPr>
        <p:txBody>
          <a:bodyPr wrap="square" rtlCol="0" anchor="ctr"/>
          <a:lstStyle/>
          <a:p>
            <a:pPr marL="0" indent="0" algn="ctr">
              <a:buNone/>
            </a:pPr>
            <a:r>
              <a:rPr lang="en-US" sz="950" dirty="0">
                <a:solidFill>
                  <a:srgbClr val="546E7A"/>
                </a:solidFill>
                <a:latin typeface="Calibri" pitchFamily="34" charset="0"/>
                <a:ea typeface="Calibri" pitchFamily="34" charset="-122"/>
                <a:cs typeface="Calibri" pitchFamily="34" charset="-120"/>
              </a:rPr>
              <a:t>Carbon emissions saved (Yr 1)</a:t>
            </a:r>
            <a:endParaRPr lang="en-US" sz="950" dirty="0"/>
          </a:p>
        </p:txBody>
      </p:sp>
      <p:sp>
        <p:nvSpPr>
          <p:cNvPr id="21" name="Text 19"/>
          <p:cNvSpPr/>
          <p:nvPr/>
        </p:nvSpPr>
        <p:spPr>
          <a:xfrm>
            <a:off x="365760" y="2468880"/>
            <a:ext cx="8412480" cy="347472"/>
          </a:xfrm>
          <a:prstGeom prst="rect">
            <a:avLst/>
          </a:prstGeom>
          <a:noFill/>
          <a:ln/>
        </p:spPr>
        <p:txBody>
          <a:bodyPr wrap="square" rtlCol="0" anchor="ctr"/>
          <a:lstStyle/>
          <a:p>
            <a:pPr marL="0" indent="0">
              <a:buNone/>
            </a:pPr>
            <a:r>
              <a:rPr lang="en-US" sz="1300" b="1" dirty="0">
                <a:solidFill>
                  <a:srgbClr val="1B5E20"/>
                </a:solidFill>
                <a:latin typeface="Arial" pitchFamily="34" charset="0"/>
                <a:ea typeface="Arial" pitchFamily="34" charset="-122"/>
                <a:cs typeface="Arial" pitchFamily="34" charset="-120"/>
              </a:rPr>
              <a:t>Impact Projections: Waste Diverted from Landfill (Tonnes)</a:t>
            </a:r>
            <a:endParaRPr lang="en-US" sz="1300" dirty="0"/>
          </a:p>
        </p:txBody>
      </p:sp>
      <p:graphicFrame>
        <p:nvGraphicFramePr>
          <p:cNvPr id="22" name="Chart 0"/>
          <p:cNvGraphicFramePr/>
          <p:nvPr/>
        </p:nvGraphicFramePr>
        <p:xfrm>
          <a:off x="365760" y="2834640"/>
          <a:ext cx="4114800" cy="2103120"/>
        </p:xfrm>
        <a:graphic>
          <a:graphicData uri="http://schemas.openxmlformats.org/drawingml/2006/chart">
            <c:chart xmlns:c="http://schemas.openxmlformats.org/drawingml/2006/chart" xmlns:r="http://schemas.openxmlformats.org/officeDocument/2006/relationships" r:id="rId3"/>
          </a:graphicData>
        </a:graphic>
      </p:graphicFrame>
      <p:sp>
        <p:nvSpPr>
          <p:cNvPr id="23" name="Shape 20"/>
          <p:cNvSpPr/>
          <p:nvPr/>
        </p:nvSpPr>
        <p:spPr>
          <a:xfrm>
            <a:off x="4663440" y="2834640"/>
            <a:ext cx="1371600" cy="2103120"/>
          </a:xfrm>
          <a:prstGeom prst="roundRect">
            <a:avLst>
              <a:gd name="adj" fmla="val 6667"/>
            </a:avLst>
          </a:prstGeom>
          <a:solidFill>
            <a:srgbClr val="F1F8E9"/>
          </a:solidFill>
          <a:ln w="12700">
            <a:solidFill>
              <a:srgbClr val="4CAF50">
                <a:alpha val="50000"/>
              </a:srgbClr>
            </a:solidFill>
            <a:prstDash val="solid"/>
          </a:ln>
          <a:effectLst>
            <a:outerShdw blurRad="101600" dist="38100" dir="2700000" algn="bl" rotWithShape="0">
              <a:srgbClr val="000000">
                <a:alpha val="12000"/>
              </a:srgbClr>
            </a:outerShdw>
          </a:effectLst>
        </p:spPr>
      </p:sp>
      <p:sp>
        <p:nvSpPr>
          <p:cNvPr id="24" name="Text 21"/>
          <p:cNvSpPr/>
          <p:nvPr/>
        </p:nvSpPr>
        <p:spPr>
          <a:xfrm>
            <a:off x="4663440" y="2880360"/>
            <a:ext cx="1371600" cy="50292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25" name="Text 22"/>
          <p:cNvSpPr/>
          <p:nvPr/>
        </p:nvSpPr>
        <p:spPr>
          <a:xfrm>
            <a:off x="4663440" y="3364992"/>
            <a:ext cx="1371600" cy="292608"/>
          </a:xfrm>
          <a:prstGeom prst="rect">
            <a:avLst/>
          </a:prstGeom>
          <a:noFill/>
          <a:ln/>
        </p:spPr>
        <p:txBody>
          <a:bodyPr wrap="square" rtlCol="0" anchor="ctr"/>
          <a:lstStyle/>
          <a:p>
            <a:pPr marL="0" indent="0" algn="ctr">
              <a:buNone/>
            </a:pPr>
            <a:r>
              <a:rPr lang="en-US" sz="1100" b="1" dirty="0">
                <a:solidFill>
                  <a:srgbClr val="1B5E20"/>
                </a:solidFill>
                <a:latin typeface="Arial" pitchFamily="34" charset="0"/>
                <a:ea typeface="Arial" pitchFamily="34" charset="-122"/>
                <a:cs typeface="Arial" pitchFamily="34" charset="-120"/>
              </a:rPr>
              <a:t>Environmental</a:t>
            </a:r>
            <a:endParaRPr lang="en-US" sz="1100" dirty="0"/>
          </a:p>
        </p:txBody>
      </p:sp>
      <p:sp>
        <p:nvSpPr>
          <p:cNvPr id="26" name="Text 23"/>
          <p:cNvSpPr/>
          <p:nvPr/>
        </p:nvSpPr>
        <p:spPr>
          <a:xfrm>
            <a:off x="4709160" y="3703320"/>
            <a:ext cx="1280160" cy="365760"/>
          </a:xfrm>
          <a:prstGeom prst="rect">
            <a:avLst/>
          </a:prstGeom>
          <a:noFill/>
          <a:ln/>
        </p:spPr>
        <p:txBody>
          <a:bodyPr wrap="square" rtlCol="0" anchor="ctr"/>
          <a:lstStyle/>
          <a:p>
            <a:pPr marL="0" indent="0">
              <a:buNone/>
            </a:pPr>
            <a:r>
              <a:rPr lang="en-US" sz="900" dirty="0">
                <a:solidFill>
                  <a:srgbClr val="263238"/>
                </a:solidFill>
                <a:latin typeface="Calibri" pitchFamily="34" charset="0"/>
                <a:ea typeface="Calibri" pitchFamily="34" charset="-122"/>
                <a:cs typeface="Calibri" pitchFamily="34" charset="-120"/>
              </a:rPr>
              <a:t>• 15% recycling rate increase</a:t>
            </a:r>
            <a:endParaRPr lang="en-US" sz="900" dirty="0"/>
          </a:p>
        </p:txBody>
      </p:sp>
      <p:sp>
        <p:nvSpPr>
          <p:cNvPr id="27" name="Text 24"/>
          <p:cNvSpPr/>
          <p:nvPr/>
        </p:nvSpPr>
        <p:spPr>
          <a:xfrm>
            <a:off x="4709160" y="4096512"/>
            <a:ext cx="1280160" cy="365760"/>
          </a:xfrm>
          <a:prstGeom prst="rect">
            <a:avLst/>
          </a:prstGeom>
          <a:noFill/>
          <a:ln/>
        </p:spPr>
        <p:txBody>
          <a:bodyPr wrap="square" rtlCol="0" anchor="ctr"/>
          <a:lstStyle/>
          <a:p>
            <a:pPr marL="0" indent="0">
              <a:buNone/>
            </a:pPr>
            <a:r>
              <a:rPr lang="en-US" sz="900" dirty="0">
                <a:solidFill>
                  <a:srgbClr val="263238"/>
                </a:solidFill>
                <a:latin typeface="Calibri" pitchFamily="34" charset="0"/>
                <a:ea typeface="Calibri" pitchFamily="34" charset="-122"/>
                <a:cs typeface="Calibri" pitchFamily="34" charset="-120"/>
              </a:rPr>
              <a:t>• 100K tonnes from landfill by Yr 3</a:t>
            </a:r>
            <a:endParaRPr lang="en-US" sz="900" dirty="0"/>
          </a:p>
        </p:txBody>
      </p:sp>
      <p:sp>
        <p:nvSpPr>
          <p:cNvPr id="28" name="Text 25"/>
          <p:cNvSpPr/>
          <p:nvPr/>
        </p:nvSpPr>
        <p:spPr>
          <a:xfrm>
            <a:off x="4709160" y="4489704"/>
            <a:ext cx="1280160" cy="365760"/>
          </a:xfrm>
          <a:prstGeom prst="rect">
            <a:avLst/>
          </a:prstGeom>
          <a:noFill/>
          <a:ln/>
        </p:spPr>
        <p:txBody>
          <a:bodyPr wrap="square" rtlCol="0" anchor="ctr"/>
          <a:lstStyle/>
          <a:p>
            <a:pPr marL="0" indent="0">
              <a:buNone/>
            </a:pPr>
            <a:r>
              <a:rPr lang="en-US" sz="900" dirty="0">
                <a:solidFill>
                  <a:srgbClr val="263238"/>
                </a:solidFill>
                <a:latin typeface="Calibri" pitchFamily="34" charset="0"/>
                <a:ea typeface="Calibri" pitchFamily="34" charset="-122"/>
                <a:cs typeface="Calibri" pitchFamily="34" charset="-120"/>
              </a:rPr>
              <a:t>• 5K e-waste items properly handled</a:t>
            </a:r>
            <a:endParaRPr lang="en-US" sz="900" dirty="0"/>
          </a:p>
        </p:txBody>
      </p:sp>
      <p:sp>
        <p:nvSpPr>
          <p:cNvPr id="29" name="Shape 26"/>
          <p:cNvSpPr/>
          <p:nvPr/>
        </p:nvSpPr>
        <p:spPr>
          <a:xfrm>
            <a:off x="6172200" y="2834640"/>
            <a:ext cx="1371600" cy="2103120"/>
          </a:xfrm>
          <a:prstGeom prst="roundRect">
            <a:avLst>
              <a:gd name="adj" fmla="val 6667"/>
            </a:avLst>
          </a:prstGeom>
          <a:solidFill>
            <a:srgbClr val="F1F8E9"/>
          </a:solidFill>
          <a:ln w="12700">
            <a:solidFill>
              <a:srgbClr val="4CAF50">
                <a:alpha val="50000"/>
              </a:srgbClr>
            </a:solidFill>
            <a:prstDash val="solid"/>
          </a:ln>
          <a:effectLst>
            <a:outerShdw blurRad="101600" dist="38100" dir="2700000" algn="bl" rotWithShape="0">
              <a:srgbClr val="000000">
                <a:alpha val="12000"/>
              </a:srgbClr>
            </a:outerShdw>
          </a:effectLst>
        </p:spPr>
      </p:sp>
      <p:sp>
        <p:nvSpPr>
          <p:cNvPr id="30" name="Text 27"/>
          <p:cNvSpPr/>
          <p:nvPr/>
        </p:nvSpPr>
        <p:spPr>
          <a:xfrm>
            <a:off x="6172200" y="2880360"/>
            <a:ext cx="1371600" cy="50292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31" name="Text 28"/>
          <p:cNvSpPr/>
          <p:nvPr/>
        </p:nvSpPr>
        <p:spPr>
          <a:xfrm>
            <a:off x="6172200" y="3364992"/>
            <a:ext cx="1371600" cy="292608"/>
          </a:xfrm>
          <a:prstGeom prst="rect">
            <a:avLst/>
          </a:prstGeom>
          <a:noFill/>
          <a:ln/>
        </p:spPr>
        <p:txBody>
          <a:bodyPr wrap="square" rtlCol="0" anchor="ctr"/>
          <a:lstStyle/>
          <a:p>
            <a:pPr marL="0" indent="0" algn="ctr">
              <a:buNone/>
            </a:pPr>
            <a:r>
              <a:rPr lang="en-US" sz="1100" b="1" dirty="0">
                <a:solidFill>
                  <a:srgbClr val="1B5E20"/>
                </a:solidFill>
                <a:latin typeface="Arial" pitchFamily="34" charset="0"/>
                <a:ea typeface="Arial" pitchFamily="34" charset="-122"/>
                <a:cs typeface="Arial" pitchFamily="34" charset="-120"/>
              </a:rPr>
              <a:t>Social</a:t>
            </a:r>
            <a:endParaRPr lang="en-US" sz="1100" dirty="0"/>
          </a:p>
        </p:txBody>
      </p:sp>
      <p:sp>
        <p:nvSpPr>
          <p:cNvPr id="32" name="Text 29"/>
          <p:cNvSpPr/>
          <p:nvPr/>
        </p:nvSpPr>
        <p:spPr>
          <a:xfrm>
            <a:off x="6217920" y="3703320"/>
            <a:ext cx="1280160" cy="365760"/>
          </a:xfrm>
          <a:prstGeom prst="rect">
            <a:avLst/>
          </a:prstGeom>
          <a:noFill/>
          <a:ln/>
        </p:spPr>
        <p:txBody>
          <a:bodyPr wrap="square" rtlCol="0" anchor="ctr"/>
          <a:lstStyle/>
          <a:p>
            <a:pPr marL="0" indent="0">
              <a:buNone/>
            </a:pPr>
            <a:r>
              <a:rPr lang="en-US" sz="900" dirty="0">
                <a:solidFill>
                  <a:srgbClr val="263238"/>
                </a:solidFill>
                <a:latin typeface="Calibri" pitchFamily="34" charset="0"/>
                <a:ea typeface="Calibri" pitchFamily="34" charset="-122"/>
                <a:cs typeface="Calibri" pitchFamily="34" charset="-120"/>
              </a:rPr>
              <a:t>• 30% behavior change in users</a:t>
            </a:r>
            <a:endParaRPr lang="en-US" sz="900" dirty="0"/>
          </a:p>
        </p:txBody>
      </p:sp>
      <p:sp>
        <p:nvSpPr>
          <p:cNvPr id="33" name="Text 30"/>
          <p:cNvSpPr/>
          <p:nvPr/>
        </p:nvSpPr>
        <p:spPr>
          <a:xfrm>
            <a:off x="6217920" y="4096512"/>
            <a:ext cx="1280160" cy="365760"/>
          </a:xfrm>
          <a:prstGeom prst="rect">
            <a:avLst/>
          </a:prstGeom>
          <a:noFill/>
          <a:ln/>
        </p:spPr>
        <p:txBody>
          <a:bodyPr wrap="square" rtlCol="0" anchor="ctr"/>
          <a:lstStyle/>
          <a:p>
            <a:pPr marL="0" indent="0">
              <a:buNone/>
            </a:pPr>
            <a:r>
              <a:rPr lang="en-US" sz="900" dirty="0">
                <a:solidFill>
                  <a:srgbClr val="263238"/>
                </a:solidFill>
                <a:latin typeface="Calibri" pitchFamily="34" charset="0"/>
                <a:ea typeface="Calibri" pitchFamily="34" charset="-122"/>
                <a:cs typeface="Calibri" pitchFamily="34" charset="-120"/>
              </a:rPr>
              <a:t>• 10K+ community participants</a:t>
            </a:r>
            <a:endParaRPr lang="en-US" sz="900" dirty="0"/>
          </a:p>
        </p:txBody>
      </p:sp>
      <p:sp>
        <p:nvSpPr>
          <p:cNvPr id="34" name="Text 31"/>
          <p:cNvSpPr/>
          <p:nvPr/>
        </p:nvSpPr>
        <p:spPr>
          <a:xfrm>
            <a:off x="6217920" y="4489704"/>
            <a:ext cx="1280160" cy="365760"/>
          </a:xfrm>
          <a:prstGeom prst="rect">
            <a:avLst/>
          </a:prstGeom>
          <a:noFill/>
          <a:ln/>
        </p:spPr>
        <p:txBody>
          <a:bodyPr wrap="square" rtlCol="0" anchor="ctr"/>
          <a:lstStyle/>
          <a:p>
            <a:pPr marL="0" indent="0">
              <a:buNone/>
            </a:pPr>
            <a:r>
              <a:rPr lang="en-US" sz="900" dirty="0">
                <a:solidFill>
                  <a:srgbClr val="263238"/>
                </a:solidFill>
                <a:latin typeface="Calibri" pitchFamily="34" charset="0"/>
                <a:ea typeface="Calibri" pitchFamily="34" charset="-122"/>
                <a:cs typeface="Calibri" pitchFamily="34" charset="-120"/>
              </a:rPr>
              <a:t>• Improved livelihood for waste pickers</a:t>
            </a:r>
            <a:endParaRPr lang="en-US" sz="900" dirty="0"/>
          </a:p>
        </p:txBody>
      </p:sp>
      <p:sp>
        <p:nvSpPr>
          <p:cNvPr id="35" name="Shape 32"/>
          <p:cNvSpPr/>
          <p:nvPr/>
        </p:nvSpPr>
        <p:spPr>
          <a:xfrm>
            <a:off x="7680960" y="2834640"/>
            <a:ext cx="1371600" cy="2103120"/>
          </a:xfrm>
          <a:prstGeom prst="roundRect">
            <a:avLst>
              <a:gd name="adj" fmla="val 6667"/>
            </a:avLst>
          </a:prstGeom>
          <a:solidFill>
            <a:srgbClr val="F1F8E9"/>
          </a:solidFill>
          <a:ln w="12700">
            <a:solidFill>
              <a:srgbClr val="4CAF50">
                <a:alpha val="50000"/>
              </a:srgbClr>
            </a:solidFill>
            <a:prstDash val="solid"/>
          </a:ln>
          <a:effectLst>
            <a:outerShdw blurRad="101600" dist="38100" dir="2700000" algn="bl" rotWithShape="0">
              <a:srgbClr val="000000">
                <a:alpha val="12000"/>
              </a:srgbClr>
            </a:outerShdw>
          </a:effectLst>
        </p:spPr>
      </p:sp>
      <p:sp>
        <p:nvSpPr>
          <p:cNvPr id="36" name="Text 33"/>
          <p:cNvSpPr/>
          <p:nvPr/>
        </p:nvSpPr>
        <p:spPr>
          <a:xfrm>
            <a:off x="7680960" y="2880360"/>
            <a:ext cx="1371600" cy="50292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37" name="Text 34"/>
          <p:cNvSpPr/>
          <p:nvPr/>
        </p:nvSpPr>
        <p:spPr>
          <a:xfrm>
            <a:off x="7680960" y="3364992"/>
            <a:ext cx="1371600" cy="292608"/>
          </a:xfrm>
          <a:prstGeom prst="rect">
            <a:avLst/>
          </a:prstGeom>
          <a:noFill/>
          <a:ln/>
        </p:spPr>
        <p:txBody>
          <a:bodyPr wrap="square" rtlCol="0" anchor="ctr"/>
          <a:lstStyle/>
          <a:p>
            <a:pPr marL="0" indent="0" algn="ctr">
              <a:buNone/>
            </a:pPr>
            <a:r>
              <a:rPr lang="en-US" sz="1100" b="1" dirty="0">
                <a:solidFill>
                  <a:srgbClr val="1B5E20"/>
                </a:solidFill>
                <a:latin typeface="Arial" pitchFamily="34" charset="0"/>
                <a:ea typeface="Arial" pitchFamily="34" charset="-122"/>
                <a:cs typeface="Arial" pitchFamily="34" charset="-120"/>
              </a:rPr>
              <a:t>Economic</a:t>
            </a:r>
            <a:endParaRPr lang="en-US" sz="1100" dirty="0"/>
          </a:p>
        </p:txBody>
      </p:sp>
      <p:sp>
        <p:nvSpPr>
          <p:cNvPr id="38" name="Text 35"/>
          <p:cNvSpPr/>
          <p:nvPr/>
        </p:nvSpPr>
        <p:spPr>
          <a:xfrm>
            <a:off x="7726680" y="3703320"/>
            <a:ext cx="1280160" cy="365760"/>
          </a:xfrm>
          <a:prstGeom prst="rect">
            <a:avLst/>
          </a:prstGeom>
          <a:noFill/>
          <a:ln/>
        </p:spPr>
        <p:txBody>
          <a:bodyPr wrap="square" rtlCol="0" anchor="ctr"/>
          <a:lstStyle/>
          <a:p>
            <a:pPr marL="0" indent="0">
              <a:buNone/>
            </a:pPr>
            <a:r>
              <a:rPr lang="en-US" sz="900" dirty="0">
                <a:solidFill>
                  <a:srgbClr val="263238"/>
                </a:solidFill>
                <a:latin typeface="Calibri" pitchFamily="34" charset="0"/>
                <a:ea typeface="Calibri" pitchFamily="34" charset="-122"/>
                <a:cs typeface="Calibri" pitchFamily="34" charset="-120"/>
              </a:rPr>
              <a:t>• $2M recovered materials (Yr 1)</a:t>
            </a:r>
            <a:endParaRPr lang="en-US" sz="900" dirty="0"/>
          </a:p>
        </p:txBody>
      </p:sp>
      <p:sp>
        <p:nvSpPr>
          <p:cNvPr id="39" name="Text 36"/>
          <p:cNvSpPr/>
          <p:nvPr/>
        </p:nvSpPr>
        <p:spPr>
          <a:xfrm>
            <a:off x="7726680" y="4096512"/>
            <a:ext cx="1280160" cy="365760"/>
          </a:xfrm>
          <a:prstGeom prst="rect">
            <a:avLst/>
          </a:prstGeom>
          <a:noFill/>
          <a:ln/>
        </p:spPr>
        <p:txBody>
          <a:bodyPr wrap="square" rtlCol="0" anchor="ctr"/>
          <a:lstStyle/>
          <a:p>
            <a:pPr marL="0" indent="0">
              <a:buNone/>
            </a:pPr>
            <a:r>
              <a:rPr lang="en-US" sz="900" dirty="0">
                <a:solidFill>
                  <a:srgbClr val="263238"/>
                </a:solidFill>
                <a:latin typeface="Calibri" pitchFamily="34" charset="0"/>
                <a:ea typeface="Calibri" pitchFamily="34" charset="-122"/>
                <a:cs typeface="Calibri" pitchFamily="34" charset="-120"/>
              </a:rPr>
              <a:t>• Reduced municipal sorting costs</a:t>
            </a:r>
            <a:endParaRPr lang="en-US" sz="900" dirty="0"/>
          </a:p>
        </p:txBody>
      </p:sp>
      <p:sp>
        <p:nvSpPr>
          <p:cNvPr id="40" name="Text 37"/>
          <p:cNvSpPr/>
          <p:nvPr/>
        </p:nvSpPr>
        <p:spPr>
          <a:xfrm>
            <a:off x="7726680" y="4489704"/>
            <a:ext cx="1280160" cy="365760"/>
          </a:xfrm>
          <a:prstGeom prst="rect">
            <a:avLst/>
          </a:prstGeom>
          <a:noFill/>
          <a:ln/>
        </p:spPr>
        <p:txBody>
          <a:bodyPr wrap="square" rtlCol="0" anchor="ctr"/>
          <a:lstStyle/>
          <a:p>
            <a:pPr marL="0" indent="0">
              <a:buNone/>
            </a:pPr>
            <a:r>
              <a:rPr lang="en-US" sz="900" dirty="0">
                <a:solidFill>
                  <a:srgbClr val="263238"/>
                </a:solidFill>
                <a:latin typeface="Calibri" pitchFamily="34" charset="0"/>
                <a:ea typeface="Calibri" pitchFamily="34" charset="-122"/>
                <a:cs typeface="Calibri" pitchFamily="34" charset="-120"/>
              </a:rPr>
              <a:t>• $500 SME savings per business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8E9"/>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388E3C"/>
          </a:solidFill>
          <a:ln w="12700">
            <a:solidFill>
              <a:srgbClr val="388E3C"/>
            </a:solidFill>
            <a:prstDash val="solid"/>
          </a:ln>
        </p:spPr>
      </p:sp>
      <p:sp>
        <p:nvSpPr>
          <p:cNvPr id="3" name="Text 1"/>
          <p:cNvSpPr/>
          <p:nvPr/>
        </p:nvSpPr>
        <p:spPr>
          <a:xfrm>
            <a:off x="365760" y="0"/>
            <a:ext cx="8412480" cy="822960"/>
          </a:xfrm>
          <a:prstGeom prst="rect">
            <a:avLst/>
          </a:prstGeom>
          <a:noFill/>
          <a:ln/>
        </p:spPr>
        <p:txBody>
          <a:bodyPr wrap="square" rtlCol="0" anchor="ctr"/>
          <a:lstStyle/>
          <a:p>
            <a:pPr marL="0" indent="0">
              <a:buNone/>
            </a:pPr>
            <a:r>
              <a:rPr lang="en-US" sz="2800" b="1" dirty="0">
                <a:solidFill>
                  <a:srgbClr val="FFFFFF"/>
                </a:solidFill>
                <a:latin typeface="Arial" pitchFamily="34" charset="0"/>
                <a:ea typeface="Arial" pitchFamily="34" charset="-122"/>
                <a:cs typeface="Arial" pitchFamily="34" charset="-120"/>
              </a:rPr>
              <a:t>Future Enhancements</a:t>
            </a:r>
            <a:endParaRPr lang="en-US" sz="2800" dirty="0"/>
          </a:p>
        </p:txBody>
      </p:sp>
      <p:sp>
        <p:nvSpPr>
          <p:cNvPr id="4" name="Text 2"/>
          <p:cNvSpPr/>
          <p:nvPr/>
        </p:nvSpPr>
        <p:spPr>
          <a:xfrm>
            <a:off x="7772400" y="91440"/>
            <a:ext cx="1188720" cy="320040"/>
          </a:xfrm>
          <a:prstGeom prst="rect">
            <a:avLst/>
          </a:prstGeom>
          <a:noFill/>
          <a:ln/>
        </p:spPr>
        <p:txBody>
          <a:bodyPr wrap="square" rtlCol="0" anchor="ctr"/>
          <a:lstStyle/>
          <a:p>
            <a:pPr marL="0" indent="0" algn="r">
              <a:buNone/>
            </a:pPr>
            <a:r>
              <a:rPr lang="en-US" sz="900" dirty="0">
                <a:solidFill>
                  <a:srgbClr val="C8E6C9"/>
                </a:solidFill>
                <a:latin typeface="Calibri" pitchFamily="34" charset="0"/>
                <a:ea typeface="Calibri" pitchFamily="34" charset="-122"/>
                <a:cs typeface="Calibri" pitchFamily="34" charset="-120"/>
              </a:rPr>
              <a:t>SLIDE 11 of 12</a:t>
            </a:r>
            <a:endParaRPr lang="en-US" sz="900" dirty="0"/>
          </a:p>
        </p:txBody>
      </p:sp>
      <p:sp>
        <p:nvSpPr>
          <p:cNvPr id="5" name="Shape 3"/>
          <p:cNvSpPr/>
          <p:nvPr/>
        </p:nvSpPr>
        <p:spPr>
          <a:xfrm>
            <a:off x="365760" y="960120"/>
            <a:ext cx="2697480" cy="4114800"/>
          </a:xfrm>
          <a:prstGeom prst="roundRect">
            <a:avLst>
              <a:gd name="adj" fmla="val 5085"/>
            </a:avLst>
          </a:prstGeom>
          <a:solidFill>
            <a:srgbClr val="FFFFFF"/>
          </a:solidFill>
          <a:ln w="12700">
            <a:solidFill>
              <a:srgbClr val="4CAF50">
                <a:alpha val="50000"/>
              </a:srgbClr>
            </a:solidFill>
            <a:prstDash val="solid"/>
          </a:ln>
          <a:effectLst>
            <a:outerShdw blurRad="101600" dist="38100" dir="2700000" algn="bl" rotWithShape="0">
              <a:srgbClr val="000000">
                <a:alpha val="12000"/>
              </a:srgbClr>
            </a:outerShdw>
          </a:effectLst>
        </p:spPr>
      </p:sp>
      <p:sp>
        <p:nvSpPr>
          <p:cNvPr id="6" name="Shape 4"/>
          <p:cNvSpPr/>
          <p:nvPr/>
        </p:nvSpPr>
        <p:spPr>
          <a:xfrm>
            <a:off x="365760" y="960120"/>
            <a:ext cx="2697480" cy="685800"/>
          </a:xfrm>
          <a:prstGeom prst="roundRect">
            <a:avLst>
              <a:gd name="adj" fmla="val 20000"/>
            </a:avLst>
          </a:prstGeom>
          <a:solidFill>
            <a:srgbClr val="4CAF50">
              <a:alpha val="90000"/>
            </a:srgbClr>
          </a:solidFill>
          <a:ln w="12700">
            <a:solidFill>
              <a:srgbClr val="4CAF50">
                <a:alpha val="90000"/>
              </a:srgbClr>
            </a:solidFill>
            <a:prstDash val="solid"/>
          </a:ln>
        </p:spPr>
      </p:sp>
      <p:sp>
        <p:nvSpPr>
          <p:cNvPr id="7" name="Text 5"/>
          <p:cNvSpPr/>
          <p:nvPr/>
        </p:nvSpPr>
        <p:spPr>
          <a:xfrm>
            <a:off x="365760" y="960120"/>
            <a:ext cx="2697480" cy="6858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Phase 2</a:t>
            </a:r>
            <a:endParaRPr lang="en-US" sz="1300" dirty="0"/>
          </a:p>
          <a:p>
            <a:pPr marL="0" indent="0" algn="ctr">
              <a:buNone/>
            </a:pPr>
            <a:r>
              <a:rPr lang="en-US" sz="1300" b="1" dirty="0">
                <a:solidFill>
                  <a:srgbClr val="FFFFFF"/>
                </a:solidFill>
                <a:latin typeface="Arial" pitchFamily="34" charset="0"/>
                <a:ea typeface="Arial" pitchFamily="34" charset="-122"/>
                <a:cs typeface="Arial" pitchFamily="34" charset="-120"/>
              </a:rPr>
              <a:t>(Months 4-6)</a:t>
            </a:r>
            <a:endParaRPr lang="en-US" sz="1300" dirty="0"/>
          </a:p>
        </p:txBody>
      </p:sp>
      <p:sp>
        <p:nvSpPr>
          <p:cNvPr id="8" name="Shape 6"/>
          <p:cNvSpPr/>
          <p:nvPr/>
        </p:nvSpPr>
        <p:spPr>
          <a:xfrm>
            <a:off x="475488" y="1755648"/>
            <a:ext cx="2478024" cy="685800"/>
          </a:xfrm>
          <a:prstGeom prst="roundRect">
            <a:avLst>
              <a:gd name="adj" fmla="val 10667"/>
            </a:avLst>
          </a:prstGeom>
          <a:solidFill>
            <a:srgbClr val="4CAF50">
              <a:alpha val="12000"/>
            </a:srgbClr>
          </a:solidFill>
          <a:ln w="12700">
            <a:solidFill>
              <a:srgbClr val="4CAF50">
                <a:alpha val="30000"/>
              </a:srgbClr>
            </a:solidFill>
            <a:prstDash val="solid"/>
          </a:ln>
        </p:spPr>
      </p:sp>
      <p:sp>
        <p:nvSpPr>
          <p:cNvPr id="9" name="Text 7"/>
          <p:cNvSpPr/>
          <p:nvPr/>
        </p:nvSpPr>
        <p:spPr>
          <a:xfrm>
            <a:off x="521208" y="1755648"/>
            <a:ext cx="2377440" cy="685800"/>
          </a:xfrm>
          <a:prstGeom prst="rect">
            <a:avLst/>
          </a:prstGeom>
          <a:noFill/>
          <a:ln/>
        </p:spPr>
        <p:txBody>
          <a:bodyPr wrap="square" rtlCol="0" anchor="ctr"/>
          <a:lstStyle/>
          <a:p>
            <a:pPr marL="0" indent="0">
              <a:buNone/>
            </a:pPr>
            <a:r>
              <a:rPr lang="en-US" sz="1100" dirty="0">
                <a:solidFill>
                  <a:srgbClr val="263238"/>
                </a:solidFill>
                <a:latin typeface="Calibri" pitchFamily="34" charset="0"/>
                <a:ea typeface="Calibri" pitchFamily="34" charset="-122"/>
                <a:cs typeface="Calibri" pitchFamily="34" charset="-120"/>
              </a:rPr>
              <a:t>📷 AR camera mode for instant waste ID</a:t>
            </a:r>
            <a:endParaRPr lang="en-US" sz="1100" dirty="0"/>
          </a:p>
        </p:txBody>
      </p:sp>
      <p:sp>
        <p:nvSpPr>
          <p:cNvPr id="10" name="Shape 8"/>
          <p:cNvSpPr/>
          <p:nvPr/>
        </p:nvSpPr>
        <p:spPr>
          <a:xfrm>
            <a:off x="475488" y="2532888"/>
            <a:ext cx="2478024" cy="685800"/>
          </a:xfrm>
          <a:prstGeom prst="roundRect">
            <a:avLst>
              <a:gd name="adj" fmla="val 10667"/>
            </a:avLst>
          </a:prstGeom>
          <a:solidFill>
            <a:srgbClr val="4CAF50">
              <a:alpha val="12000"/>
            </a:srgbClr>
          </a:solidFill>
          <a:ln w="12700">
            <a:solidFill>
              <a:srgbClr val="4CAF50">
                <a:alpha val="30000"/>
              </a:srgbClr>
            </a:solidFill>
            <a:prstDash val="solid"/>
          </a:ln>
        </p:spPr>
      </p:sp>
      <p:sp>
        <p:nvSpPr>
          <p:cNvPr id="11" name="Text 9"/>
          <p:cNvSpPr/>
          <p:nvPr/>
        </p:nvSpPr>
        <p:spPr>
          <a:xfrm>
            <a:off x="521208" y="2532888"/>
            <a:ext cx="2377440" cy="685800"/>
          </a:xfrm>
          <a:prstGeom prst="rect">
            <a:avLst/>
          </a:prstGeom>
          <a:noFill/>
          <a:ln/>
        </p:spPr>
        <p:txBody>
          <a:bodyPr wrap="square" rtlCol="0" anchor="ctr"/>
          <a:lstStyle/>
          <a:p>
            <a:pPr marL="0" indent="0">
              <a:buNone/>
            </a:pPr>
            <a:r>
              <a:rPr lang="en-US" sz="1100" dirty="0">
                <a:solidFill>
                  <a:srgbClr val="263238"/>
                </a:solidFill>
                <a:latin typeface="Calibri" pitchFamily="34" charset="0"/>
                <a:ea typeface="Calibri" pitchFamily="34" charset="-122"/>
                <a:cs typeface="Calibri" pitchFamily="34" charset="-120"/>
              </a:rPr>
              <a:t>🔇 Full voice interface &amp; smart speaker</a:t>
            </a:r>
            <a:endParaRPr lang="en-US" sz="1100" dirty="0"/>
          </a:p>
        </p:txBody>
      </p:sp>
      <p:sp>
        <p:nvSpPr>
          <p:cNvPr id="12" name="Shape 10"/>
          <p:cNvSpPr/>
          <p:nvPr/>
        </p:nvSpPr>
        <p:spPr>
          <a:xfrm>
            <a:off x="475488" y="3310128"/>
            <a:ext cx="2478024" cy="685800"/>
          </a:xfrm>
          <a:prstGeom prst="roundRect">
            <a:avLst>
              <a:gd name="adj" fmla="val 10667"/>
            </a:avLst>
          </a:prstGeom>
          <a:solidFill>
            <a:srgbClr val="4CAF50">
              <a:alpha val="12000"/>
            </a:srgbClr>
          </a:solidFill>
          <a:ln w="12700">
            <a:solidFill>
              <a:srgbClr val="4CAF50">
                <a:alpha val="30000"/>
              </a:srgbClr>
            </a:solidFill>
            <a:prstDash val="solid"/>
          </a:ln>
        </p:spPr>
      </p:sp>
      <p:sp>
        <p:nvSpPr>
          <p:cNvPr id="13" name="Text 11"/>
          <p:cNvSpPr/>
          <p:nvPr/>
        </p:nvSpPr>
        <p:spPr>
          <a:xfrm>
            <a:off x="521208" y="3310128"/>
            <a:ext cx="2377440" cy="685800"/>
          </a:xfrm>
          <a:prstGeom prst="rect">
            <a:avLst/>
          </a:prstGeom>
          <a:noFill/>
          <a:ln/>
        </p:spPr>
        <p:txBody>
          <a:bodyPr wrap="square" rtlCol="0" anchor="ctr"/>
          <a:lstStyle/>
          <a:p>
            <a:pPr marL="0" indent="0">
              <a:buNone/>
            </a:pPr>
            <a:r>
              <a:rPr lang="en-US" sz="1100" dirty="0">
                <a:solidFill>
                  <a:srgbClr val="263238"/>
                </a:solidFill>
                <a:latin typeface="Calibri" pitchFamily="34" charset="0"/>
                <a:ea typeface="Calibri" pitchFamily="34" charset="-122"/>
                <a:cs typeface="Calibri" pitchFamily="34" charset="-120"/>
              </a:rPr>
              <a:t>📶 Offline classification capability</a:t>
            </a:r>
            <a:endParaRPr lang="en-US" sz="1100" dirty="0"/>
          </a:p>
        </p:txBody>
      </p:sp>
      <p:sp>
        <p:nvSpPr>
          <p:cNvPr id="14" name="Shape 12"/>
          <p:cNvSpPr/>
          <p:nvPr/>
        </p:nvSpPr>
        <p:spPr>
          <a:xfrm>
            <a:off x="475488" y="4087368"/>
            <a:ext cx="2478024" cy="685800"/>
          </a:xfrm>
          <a:prstGeom prst="roundRect">
            <a:avLst>
              <a:gd name="adj" fmla="val 10667"/>
            </a:avLst>
          </a:prstGeom>
          <a:solidFill>
            <a:srgbClr val="4CAF50">
              <a:alpha val="12000"/>
            </a:srgbClr>
          </a:solidFill>
          <a:ln w="12700">
            <a:solidFill>
              <a:srgbClr val="4CAF50">
                <a:alpha val="30000"/>
              </a:srgbClr>
            </a:solidFill>
            <a:prstDash val="solid"/>
          </a:ln>
        </p:spPr>
      </p:sp>
      <p:sp>
        <p:nvSpPr>
          <p:cNvPr id="15" name="Text 13"/>
          <p:cNvSpPr/>
          <p:nvPr/>
        </p:nvSpPr>
        <p:spPr>
          <a:xfrm>
            <a:off x="521208" y="4087368"/>
            <a:ext cx="2377440" cy="685800"/>
          </a:xfrm>
          <a:prstGeom prst="rect">
            <a:avLst/>
          </a:prstGeom>
          <a:noFill/>
          <a:ln/>
        </p:spPr>
        <p:txBody>
          <a:bodyPr wrap="square" rtlCol="0" anchor="ctr"/>
          <a:lstStyle/>
          <a:p>
            <a:pPr marL="0" indent="0">
              <a:buNone/>
            </a:pPr>
            <a:r>
              <a:rPr lang="en-US" sz="1100" dirty="0">
                <a:solidFill>
                  <a:srgbClr val="263238"/>
                </a:solidFill>
                <a:latin typeface="Calibri" pitchFamily="34" charset="0"/>
                <a:ea typeface="Calibri" pitchFamily="34" charset="-122"/>
                <a:cs typeface="Calibri" pitchFamily="34" charset="-120"/>
              </a:rPr>
              <a:t>🏙️ 5 more city-specific modules</a:t>
            </a:r>
            <a:endParaRPr lang="en-US" sz="1100" dirty="0"/>
          </a:p>
        </p:txBody>
      </p:sp>
      <p:sp>
        <p:nvSpPr>
          <p:cNvPr id="16" name="Shape 14"/>
          <p:cNvSpPr/>
          <p:nvPr/>
        </p:nvSpPr>
        <p:spPr>
          <a:xfrm>
            <a:off x="3246120" y="960120"/>
            <a:ext cx="2697480" cy="4114800"/>
          </a:xfrm>
          <a:prstGeom prst="roundRect">
            <a:avLst>
              <a:gd name="adj" fmla="val 5085"/>
            </a:avLst>
          </a:prstGeom>
          <a:solidFill>
            <a:srgbClr val="FFFFFF"/>
          </a:solidFill>
          <a:ln w="12700">
            <a:solidFill>
              <a:srgbClr val="00BCD4">
                <a:alpha val="50000"/>
              </a:srgbClr>
            </a:solidFill>
            <a:prstDash val="solid"/>
          </a:ln>
          <a:effectLst>
            <a:outerShdw blurRad="101600" dist="38100" dir="2700000" algn="bl" rotWithShape="0">
              <a:srgbClr val="000000">
                <a:alpha val="12000"/>
              </a:srgbClr>
            </a:outerShdw>
          </a:effectLst>
        </p:spPr>
      </p:sp>
      <p:sp>
        <p:nvSpPr>
          <p:cNvPr id="17" name="Shape 15"/>
          <p:cNvSpPr/>
          <p:nvPr/>
        </p:nvSpPr>
        <p:spPr>
          <a:xfrm>
            <a:off x="3246120" y="960120"/>
            <a:ext cx="2697480" cy="685800"/>
          </a:xfrm>
          <a:prstGeom prst="roundRect">
            <a:avLst>
              <a:gd name="adj" fmla="val 20000"/>
            </a:avLst>
          </a:prstGeom>
          <a:solidFill>
            <a:srgbClr val="00BCD4">
              <a:alpha val="90000"/>
            </a:srgbClr>
          </a:solidFill>
          <a:ln w="12700">
            <a:solidFill>
              <a:srgbClr val="00BCD4">
                <a:alpha val="90000"/>
              </a:srgbClr>
            </a:solidFill>
            <a:prstDash val="solid"/>
          </a:ln>
        </p:spPr>
      </p:sp>
      <p:sp>
        <p:nvSpPr>
          <p:cNvPr id="18" name="Text 16"/>
          <p:cNvSpPr/>
          <p:nvPr/>
        </p:nvSpPr>
        <p:spPr>
          <a:xfrm>
            <a:off x="3246120" y="960120"/>
            <a:ext cx="2697480" cy="6858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Phase 3</a:t>
            </a:r>
            <a:endParaRPr lang="en-US" sz="1300" dirty="0"/>
          </a:p>
          <a:p>
            <a:pPr marL="0" indent="0" algn="ctr">
              <a:buNone/>
            </a:pPr>
            <a:r>
              <a:rPr lang="en-US" sz="1300" b="1" dirty="0">
                <a:solidFill>
                  <a:srgbClr val="FFFFFF"/>
                </a:solidFill>
                <a:latin typeface="Arial" pitchFamily="34" charset="0"/>
                <a:ea typeface="Arial" pitchFamily="34" charset="-122"/>
                <a:cs typeface="Arial" pitchFamily="34" charset="-120"/>
              </a:rPr>
              <a:t>(Months 7-12)</a:t>
            </a:r>
            <a:endParaRPr lang="en-US" sz="1300" dirty="0"/>
          </a:p>
        </p:txBody>
      </p:sp>
      <p:sp>
        <p:nvSpPr>
          <p:cNvPr id="19" name="Shape 17"/>
          <p:cNvSpPr/>
          <p:nvPr/>
        </p:nvSpPr>
        <p:spPr>
          <a:xfrm>
            <a:off x="3355848" y="1755648"/>
            <a:ext cx="2478024" cy="685800"/>
          </a:xfrm>
          <a:prstGeom prst="roundRect">
            <a:avLst>
              <a:gd name="adj" fmla="val 10667"/>
            </a:avLst>
          </a:prstGeom>
          <a:solidFill>
            <a:srgbClr val="00BCD4">
              <a:alpha val="12000"/>
            </a:srgbClr>
          </a:solidFill>
          <a:ln w="12700">
            <a:solidFill>
              <a:srgbClr val="00BCD4">
                <a:alpha val="30000"/>
              </a:srgbClr>
            </a:solidFill>
            <a:prstDash val="solid"/>
          </a:ln>
        </p:spPr>
      </p:sp>
      <p:sp>
        <p:nvSpPr>
          <p:cNvPr id="20" name="Text 18"/>
          <p:cNvSpPr/>
          <p:nvPr/>
        </p:nvSpPr>
        <p:spPr>
          <a:xfrm>
            <a:off x="3401568" y="1755648"/>
            <a:ext cx="2377440" cy="685800"/>
          </a:xfrm>
          <a:prstGeom prst="rect">
            <a:avLst/>
          </a:prstGeom>
          <a:noFill/>
          <a:ln/>
        </p:spPr>
        <p:txBody>
          <a:bodyPr wrap="square" rtlCol="0" anchor="ctr"/>
          <a:lstStyle/>
          <a:p>
            <a:pPr marL="0" indent="0">
              <a:buNone/>
            </a:pPr>
            <a:r>
              <a:rPr lang="en-US" sz="1100" dirty="0">
                <a:solidFill>
                  <a:srgbClr val="263238"/>
                </a:solidFill>
                <a:latin typeface="Calibri" pitchFamily="34" charset="0"/>
                <a:ea typeface="Calibri" pitchFamily="34" charset="-122"/>
                <a:cs typeface="Calibri" pitchFamily="34" charset="-120"/>
              </a:rPr>
              <a:t>📡 Smart bin IoT sensor integration</a:t>
            </a:r>
            <a:endParaRPr lang="en-US" sz="1100" dirty="0"/>
          </a:p>
        </p:txBody>
      </p:sp>
      <p:sp>
        <p:nvSpPr>
          <p:cNvPr id="21" name="Shape 19"/>
          <p:cNvSpPr/>
          <p:nvPr/>
        </p:nvSpPr>
        <p:spPr>
          <a:xfrm>
            <a:off x="3355848" y="2532888"/>
            <a:ext cx="2478024" cy="685800"/>
          </a:xfrm>
          <a:prstGeom prst="roundRect">
            <a:avLst>
              <a:gd name="adj" fmla="val 10667"/>
            </a:avLst>
          </a:prstGeom>
          <a:solidFill>
            <a:srgbClr val="00BCD4">
              <a:alpha val="12000"/>
            </a:srgbClr>
          </a:solidFill>
          <a:ln w="12700">
            <a:solidFill>
              <a:srgbClr val="00BCD4">
                <a:alpha val="30000"/>
              </a:srgbClr>
            </a:solidFill>
            <a:prstDash val="solid"/>
          </a:ln>
        </p:spPr>
      </p:sp>
      <p:sp>
        <p:nvSpPr>
          <p:cNvPr id="22" name="Text 20"/>
          <p:cNvSpPr/>
          <p:nvPr/>
        </p:nvSpPr>
        <p:spPr>
          <a:xfrm>
            <a:off x="3401568" y="2532888"/>
            <a:ext cx="2377440" cy="685800"/>
          </a:xfrm>
          <a:prstGeom prst="rect">
            <a:avLst/>
          </a:prstGeom>
          <a:noFill/>
          <a:ln/>
        </p:spPr>
        <p:txBody>
          <a:bodyPr wrap="square" rtlCol="0" anchor="ctr"/>
          <a:lstStyle/>
          <a:p>
            <a:pPr marL="0" indent="0">
              <a:buNone/>
            </a:pPr>
            <a:r>
              <a:rPr lang="en-US" sz="1100" dirty="0">
                <a:solidFill>
                  <a:srgbClr val="263238"/>
                </a:solidFill>
                <a:latin typeface="Calibri" pitchFamily="34" charset="0"/>
                <a:ea typeface="Calibri" pitchFamily="34" charset="-122"/>
                <a:cs typeface="Calibri" pitchFamily="34" charset="-120"/>
              </a:rPr>
              <a:t>🏢 Corporate ESG waste dashboard</a:t>
            </a:r>
            <a:endParaRPr lang="en-US" sz="1100" dirty="0"/>
          </a:p>
        </p:txBody>
      </p:sp>
      <p:sp>
        <p:nvSpPr>
          <p:cNvPr id="23" name="Shape 21"/>
          <p:cNvSpPr/>
          <p:nvPr/>
        </p:nvSpPr>
        <p:spPr>
          <a:xfrm>
            <a:off x="3355848" y="3310128"/>
            <a:ext cx="2478024" cy="685800"/>
          </a:xfrm>
          <a:prstGeom prst="roundRect">
            <a:avLst>
              <a:gd name="adj" fmla="val 10667"/>
            </a:avLst>
          </a:prstGeom>
          <a:solidFill>
            <a:srgbClr val="00BCD4">
              <a:alpha val="12000"/>
            </a:srgbClr>
          </a:solidFill>
          <a:ln w="12700">
            <a:solidFill>
              <a:srgbClr val="00BCD4">
                <a:alpha val="30000"/>
              </a:srgbClr>
            </a:solidFill>
            <a:prstDash val="solid"/>
          </a:ln>
        </p:spPr>
      </p:sp>
      <p:sp>
        <p:nvSpPr>
          <p:cNvPr id="24" name="Text 22"/>
          <p:cNvSpPr/>
          <p:nvPr/>
        </p:nvSpPr>
        <p:spPr>
          <a:xfrm>
            <a:off x="3401568" y="3310128"/>
            <a:ext cx="2377440" cy="685800"/>
          </a:xfrm>
          <a:prstGeom prst="rect">
            <a:avLst/>
          </a:prstGeom>
          <a:noFill/>
          <a:ln/>
        </p:spPr>
        <p:txBody>
          <a:bodyPr wrap="square" rtlCol="0" anchor="ctr"/>
          <a:lstStyle/>
          <a:p>
            <a:pPr marL="0" indent="0">
              <a:buNone/>
            </a:pPr>
            <a:r>
              <a:rPr lang="en-US" sz="1100" dirty="0">
                <a:solidFill>
                  <a:srgbClr val="263238"/>
                </a:solidFill>
                <a:latin typeface="Calibri" pitchFamily="34" charset="0"/>
                <a:ea typeface="Calibri" pitchFamily="34" charset="-122"/>
                <a:cs typeface="Calibri" pitchFamily="34" charset="-120"/>
              </a:rPr>
              <a:t>⛓️ Blockchain waste tracking records</a:t>
            </a:r>
            <a:endParaRPr lang="en-US" sz="1100" dirty="0"/>
          </a:p>
        </p:txBody>
      </p:sp>
      <p:sp>
        <p:nvSpPr>
          <p:cNvPr id="25" name="Shape 23"/>
          <p:cNvSpPr/>
          <p:nvPr/>
        </p:nvSpPr>
        <p:spPr>
          <a:xfrm>
            <a:off x="3355848" y="4087368"/>
            <a:ext cx="2478024" cy="685800"/>
          </a:xfrm>
          <a:prstGeom prst="roundRect">
            <a:avLst>
              <a:gd name="adj" fmla="val 10667"/>
            </a:avLst>
          </a:prstGeom>
          <a:solidFill>
            <a:srgbClr val="00BCD4">
              <a:alpha val="12000"/>
            </a:srgbClr>
          </a:solidFill>
          <a:ln w="12700">
            <a:solidFill>
              <a:srgbClr val="00BCD4">
                <a:alpha val="30000"/>
              </a:srgbClr>
            </a:solidFill>
            <a:prstDash val="solid"/>
          </a:ln>
        </p:spPr>
      </p:sp>
      <p:sp>
        <p:nvSpPr>
          <p:cNvPr id="26" name="Text 24"/>
          <p:cNvSpPr/>
          <p:nvPr/>
        </p:nvSpPr>
        <p:spPr>
          <a:xfrm>
            <a:off x="3401568" y="4087368"/>
            <a:ext cx="2377440" cy="685800"/>
          </a:xfrm>
          <a:prstGeom prst="rect">
            <a:avLst/>
          </a:prstGeom>
          <a:noFill/>
          <a:ln/>
        </p:spPr>
        <p:txBody>
          <a:bodyPr wrap="square" rtlCol="0" anchor="ctr"/>
          <a:lstStyle/>
          <a:p>
            <a:pPr marL="0" indent="0">
              <a:buNone/>
            </a:pPr>
            <a:r>
              <a:rPr lang="en-US" sz="1100" dirty="0">
                <a:solidFill>
                  <a:srgbClr val="263238"/>
                </a:solidFill>
                <a:latin typeface="Calibri" pitchFamily="34" charset="0"/>
                <a:ea typeface="Calibri" pitchFamily="34" charset="-122"/>
                <a:cs typeface="Calibri" pitchFamily="34" charset="-120"/>
              </a:rPr>
              <a:t>🔮 Waste generation prediction AI</a:t>
            </a:r>
            <a:endParaRPr lang="en-US" sz="1100" dirty="0"/>
          </a:p>
        </p:txBody>
      </p:sp>
      <p:sp>
        <p:nvSpPr>
          <p:cNvPr id="27" name="Shape 25"/>
          <p:cNvSpPr/>
          <p:nvPr/>
        </p:nvSpPr>
        <p:spPr>
          <a:xfrm>
            <a:off x="6126480" y="960120"/>
            <a:ext cx="2697480" cy="4114800"/>
          </a:xfrm>
          <a:prstGeom prst="roundRect">
            <a:avLst>
              <a:gd name="adj" fmla="val 5085"/>
            </a:avLst>
          </a:prstGeom>
          <a:solidFill>
            <a:srgbClr val="FFFFFF"/>
          </a:solidFill>
          <a:ln w="12700">
            <a:solidFill>
              <a:srgbClr val="FF8F00">
                <a:alpha val="50000"/>
              </a:srgbClr>
            </a:solidFill>
            <a:prstDash val="solid"/>
          </a:ln>
          <a:effectLst>
            <a:outerShdw blurRad="101600" dist="38100" dir="2700000" algn="bl" rotWithShape="0">
              <a:srgbClr val="000000">
                <a:alpha val="12000"/>
              </a:srgbClr>
            </a:outerShdw>
          </a:effectLst>
        </p:spPr>
      </p:sp>
      <p:sp>
        <p:nvSpPr>
          <p:cNvPr id="28" name="Shape 26"/>
          <p:cNvSpPr/>
          <p:nvPr/>
        </p:nvSpPr>
        <p:spPr>
          <a:xfrm>
            <a:off x="6126480" y="960120"/>
            <a:ext cx="2697480" cy="685800"/>
          </a:xfrm>
          <a:prstGeom prst="roundRect">
            <a:avLst>
              <a:gd name="adj" fmla="val 20000"/>
            </a:avLst>
          </a:prstGeom>
          <a:solidFill>
            <a:srgbClr val="FF8F00">
              <a:alpha val="90000"/>
            </a:srgbClr>
          </a:solidFill>
          <a:ln w="12700">
            <a:solidFill>
              <a:srgbClr val="FF8F00">
                <a:alpha val="90000"/>
              </a:srgbClr>
            </a:solidFill>
            <a:prstDash val="solid"/>
          </a:ln>
        </p:spPr>
      </p:sp>
      <p:sp>
        <p:nvSpPr>
          <p:cNvPr id="29" name="Text 27"/>
          <p:cNvSpPr/>
          <p:nvPr/>
        </p:nvSpPr>
        <p:spPr>
          <a:xfrm>
            <a:off x="6126480" y="960120"/>
            <a:ext cx="2697480" cy="6858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Phase 4</a:t>
            </a:r>
            <a:endParaRPr lang="en-US" sz="1300" dirty="0"/>
          </a:p>
          <a:p>
            <a:pPr marL="0" indent="0" algn="ctr">
              <a:buNone/>
            </a:pPr>
            <a:r>
              <a:rPr lang="en-US" sz="1300" b="1" dirty="0">
                <a:solidFill>
                  <a:srgbClr val="FFFFFF"/>
                </a:solidFill>
                <a:latin typeface="Arial" pitchFamily="34" charset="0"/>
                <a:ea typeface="Arial" pitchFamily="34" charset="-122"/>
                <a:cs typeface="Arial" pitchFamily="34" charset="-120"/>
              </a:rPr>
              <a:t>(Year 2+)</a:t>
            </a:r>
            <a:endParaRPr lang="en-US" sz="1300" dirty="0"/>
          </a:p>
        </p:txBody>
      </p:sp>
      <p:sp>
        <p:nvSpPr>
          <p:cNvPr id="30" name="Shape 28"/>
          <p:cNvSpPr/>
          <p:nvPr/>
        </p:nvSpPr>
        <p:spPr>
          <a:xfrm>
            <a:off x="6236208" y="1755648"/>
            <a:ext cx="2478024" cy="685800"/>
          </a:xfrm>
          <a:prstGeom prst="roundRect">
            <a:avLst>
              <a:gd name="adj" fmla="val 10667"/>
            </a:avLst>
          </a:prstGeom>
          <a:solidFill>
            <a:srgbClr val="FF8F00">
              <a:alpha val="12000"/>
            </a:srgbClr>
          </a:solidFill>
          <a:ln w="12700">
            <a:solidFill>
              <a:srgbClr val="FF8F00">
                <a:alpha val="30000"/>
              </a:srgbClr>
            </a:solidFill>
            <a:prstDash val="solid"/>
          </a:ln>
        </p:spPr>
      </p:sp>
      <p:sp>
        <p:nvSpPr>
          <p:cNvPr id="31" name="Text 29"/>
          <p:cNvSpPr/>
          <p:nvPr/>
        </p:nvSpPr>
        <p:spPr>
          <a:xfrm>
            <a:off x="6281928" y="1755648"/>
            <a:ext cx="2377440" cy="685800"/>
          </a:xfrm>
          <a:prstGeom prst="rect">
            <a:avLst/>
          </a:prstGeom>
          <a:noFill/>
          <a:ln/>
        </p:spPr>
        <p:txBody>
          <a:bodyPr wrap="square" rtlCol="0" anchor="ctr"/>
          <a:lstStyle/>
          <a:p>
            <a:pPr marL="0" indent="0">
              <a:buNone/>
            </a:pPr>
            <a:r>
              <a:rPr lang="en-US" sz="1100" dirty="0">
                <a:solidFill>
                  <a:srgbClr val="263238"/>
                </a:solidFill>
                <a:latin typeface="Calibri" pitchFamily="34" charset="0"/>
                <a:ea typeface="Calibri" pitchFamily="34" charset="-122"/>
                <a:cs typeface="Calibri" pitchFamily="34" charset="-120"/>
              </a:rPr>
              <a:t>🌐 25 language support globally</a:t>
            </a:r>
            <a:endParaRPr lang="en-US" sz="1100" dirty="0"/>
          </a:p>
        </p:txBody>
      </p:sp>
      <p:sp>
        <p:nvSpPr>
          <p:cNvPr id="32" name="Shape 30"/>
          <p:cNvSpPr/>
          <p:nvPr/>
        </p:nvSpPr>
        <p:spPr>
          <a:xfrm>
            <a:off x="6236208" y="2532888"/>
            <a:ext cx="2478024" cy="685800"/>
          </a:xfrm>
          <a:prstGeom prst="roundRect">
            <a:avLst>
              <a:gd name="adj" fmla="val 10667"/>
            </a:avLst>
          </a:prstGeom>
          <a:solidFill>
            <a:srgbClr val="FF8F00">
              <a:alpha val="12000"/>
            </a:srgbClr>
          </a:solidFill>
          <a:ln w="12700">
            <a:solidFill>
              <a:srgbClr val="FF8F00">
                <a:alpha val="30000"/>
              </a:srgbClr>
            </a:solidFill>
            <a:prstDash val="solid"/>
          </a:ln>
        </p:spPr>
      </p:sp>
      <p:sp>
        <p:nvSpPr>
          <p:cNvPr id="33" name="Text 31"/>
          <p:cNvSpPr/>
          <p:nvPr/>
        </p:nvSpPr>
        <p:spPr>
          <a:xfrm>
            <a:off x="6281928" y="2532888"/>
            <a:ext cx="2377440" cy="685800"/>
          </a:xfrm>
          <a:prstGeom prst="rect">
            <a:avLst/>
          </a:prstGeom>
          <a:noFill/>
          <a:ln/>
        </p:spPr>
        <p:txBody>
          <a:bodyPr wrap="square" rtlCol="0" anchor="ctr"/>
          <a:lstStyle/>
          <a:p>
            <a:pPr marL="0" indent="0">
              <a:buNone/>
            </a:pPr>
            <a:r>
              <a:rPr lang="en-US" sz="1100" dirty="0">
                <a:solidFill>
                  <a:srgbClr val="263238"/>
                </a:solidFill>
                <a:latin typeface="Calibri" pitchFamily="34" charset="0"/>
                <a:ea typeface="Calibri" pitchFamily="34" charset="-122"/>
                <a:cs typeface="Calibri" pitchFamily="34" charset="-120"/>
              </a:rPr>
              <a:t>🛒 Zero-waste shopping integration</a:t>
            </a:r>
            <a:endParaRPr lang="en-US" sz="1100" dirty="0"/>
          </a:p>
        </p:txBody>
      </p:sp>
      <p:sp>
        <p:nvSpPr>
          <p:cNvPr id="34" name="Shape 32"/>
          <p:cNvSpPr/>
          <p:nvPr/>
        </p:nvSpPr>
        <p:spPr>
          <a:xfrm>
            <a:off x="6236208" y="3310128"/>
            <a:ext cx="2478024" cy="685800"/>
          </a:xfrm>
          <a:prstGeom prst="roundRect">
            <a:avLst>
              <a:gd name="adj" fmla="val 10667"/>
            </a:avLst>
          </a:prstGeom>
          <a:solidFill>
            <a:srgbClr val="FF8F00">
              <a:alpha val="12000"/>
            </a:srgbClr>
          </a:solidFill>
          <a:ln w="12700">
            <a:solidFill>
              <a:srgbClr val="FF8F00">
                <a:alpha val="30000"/>
              </a:srgbClr>
            </a:solidFill>
            <a:prstDash val="solid"/>
          </a:ln>
        </p:spPr>
      </p:sp>
      <p:sp>
        <p:nvSpPr>
          <p:cNvPr id="35" name="Text 33"/>
          <p:cNvSpPr/>
          <p:nvPr/>
        </p:nvSpPr>
        <p:spPr>
          <a:xfrm>
            <a:off x="6281928" y="3310128"/>
            <a:ext cx="2377440" cy="685800"/>
          </a:xfrm>
          <a:prstGeom prst="rect">
            <a:avLst/>
          </a:prstGeom>
          <a:noFill/>
          <a:ln/>
        </p:spPr>
        <p:txBody>
          <a:bodyPr wrap="square" rtlCol="0" anchor="ctr"/>
          <a:lstStyle/>
          <a:p>
            <a:pPr marL="0" indent="0">
              <a:buNone/>
            </a:pPr>
            <a:r>
              <a:rPr lang="en-US" sz="1100" dirty="0">
                <a:solidFill>
                  <a:srgbClr val="263238"/>
                </a:solidFill>
                <a:latin typeface="Calibri" pitchFamily="34" charset="0"/>
                <a:ea typeface="Calibri" pitchFamily="34" charset="-122"/>
                <a:cs typeface="Calibri" pitchFamily="34" charset="-120"/>
              </a:rPr>
              <a:t>🏛️ Municipal API direct connections</a:t>
            </a:r>
            <a:endParaRPr lang="en-US" sz="1100" dirty="0"/>
          </a:p>
        </p:txBody>
      </p:sp>
      <p:sp>
        <p:nvSpPr>
          <p:cNvPr id="36" name="Shape 34"/>
          <p:cNvSpPr/>
          <p:nvPr/>
        </p:nvSpPr>
        <p:spPr>
          <a:xfrm>
            <a:off x="6236208" y="4087368"/>
            <a:ext cx="2478024" cy="685800"/>
          </a:xfrm>
          <a:prstGeom prst="roundRect">
            <a:avLst>
              <a:gd name="adj" fmla="val 10667"/>
            </a:avLst>
          </a:prstGeom>
          <a:solidFill>
            <a:srgbClr val="FF8F00">
              <a:alpha val="12000"/>
            </a:srgbClr>
          </a:solidFill>
          <a:ln w="12700">
            <a:solidFill>
              <a:srgbClr val="FF8F00">
                <a:alpha val="30000"/>
              </a:srgbClr>
            </a:solidFill>
            <a:prstDash val="solid"/>
          </a:ln>
        </p:spPr>
      </p:sp>
      <p:sp>
        <p:nvSpPr>
          <p:cNvPr id="37" name="Text 35"/>
          <p:cNvSpPr/>
          <p:nvPr/>
        </p:nvSpPr>
        <p:spPr>
          <a:xfrm>
            <a:off x="6281928" y="4087368"/>
            <a:ext cx="2377440" cy="685800"/>
          </a:xfrm>
          <a:prstGeom prst="rect">
            <a:avLst/>
          </a:prstGeom>
          <a:noFill/>
          <a:ln/>
        </p:spPr>
        <p:txBody>
          <a:bodyPr wrap="square" rtlCol="0" anchor="ctr"/>
          <a:lstStyle/>
          <a:p>
            <a:pPr marL="0" indent="0">
              <a:buNone/>
            </a:pPr>
            <a:r>
              <a:rPr lang="en-US" sz="1100" dirty="0">
                <a:solidFill>
                  <a:srgbClr val="263238"/>
                </a:solidFill>
                <a:latin typeface="Calibri" pitchFamily="34" charset="0"/>
                <a:ea typeface="Calibri" pitchFamily="34" charset="-122"/>
                <a:cs typeface="Calibri" pitchFamily="34" charset="-120"/>
              </a:rPr>
              <a:t>🔬 Life Cycle Assessment integration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5E20"/>
        </a:solidFill>
        <a:effectLst/>
      </p:bgPr>
    </p:bg>
    <p:spTree>
      <p:nvGrpSpPr>
        <p:cNvPr id="1" name=""/>
        <p:cNvGrpSpPr/>
        <p:nvPr/>
      </p:nvGrpSpPr>
      <p:grpSpPr>
        <a:xfrm>
          <a:off x="0" y="0"/>
          <a:ext cx="0" cy="0"/>
          <a:chOff x="0" y="0"/>
          <a:chExt cx="0" cy="0"/>
        </a:xfrm>
      </p:grpSpPr>
      <p:sp>
        <p:nvSpPr>
          <p:cNvPr id="2" name="Shape 0"/>
          <p:cNvSpPr/>
          <p:nvPr/>
        </p:nvSpPr>
        <p:spPr>
          <a:xfrm>
            <a:off x="6858000" y="-457200"/>
            <a:ext cx="3657600" cy="3657600"/>
          </a:xfrm>
          <a:prstGeom prst="ellipse">
            <a:avLst/>
          </a:prstGeom>
          <a:solidFill>
            <a:srgbClr val="388E3C">
              <a:alpha val="40000"/>
            </a:srgbClr>
          </a:solidFill>
          <a:ln w="12700">
            <a:solidFill>
              <a:srgbClr val="388E3C">
                <a:alpha val="40000"/>
              </a:srgbClr>
            </a:solidFill>
            <a:prstDash val="solid"/>
          </a:ln>
        </p:spPr>
      </p:sp>
      <p:sp>
        <p:nvSpPr>
          <p:cNvPr id="3" name="Shape 1"/>
          <p:cNvSpPr/>
          <p:nvPr/>
        </p:nvSpPr>
        <p:spPr>
          <a:xfrm>
            <a:off x="-914400" y="3200400"/>
            <a:ext cx="2743200" cy="2743200"/>
          </a:xfrm>
          <a:prstGeom prst="ellipse">
            <a:avLst/>
          </a:prstGeom>
          <a:solidFill>
            <a:srgbClr val="4CAF50">
              <a:alpha val="30000"/>
            </a:srgbClr>
          </a:solidFill>
          <a:ln w="12700">
            <a:solidFill>
              <a:srgbClr val="4CAF50">
                <a:alpha val="30000"/>
              </a:srgbClr>
            </a:solidFill>
            <a:prstDash val="solid"/>
          </a:ln>
        </p:spPr>
      </p:sp>
      <p:sp>
        <p:nvSpPr>
          <p:cNvPr id="4" name="Text 2"/>
          <p:cNvSpPr/>
          <p:nvPr/>
        </p:nvSpPr>
        <p:spPr>
          <a:xfrm>
            <a:off x="457200" y="320040"/>
            <a:ext cx="8229600" cy="594360"/>
          </a:xfrm>
          <a:prstGeom prst="rect">
            <a:avLst/>
          </a:prstGeom>
          <a:noFill/>
          <a:ln/>
        </p:spPr>
        <p:txBody>
          <a:bodyPr wrap="square" rtlCol="0" anchor="ctr"/>
          <a:lstStyle/>
          <a:p>
            <a:pPr marL="0" indent="0" algn="ctr">
              <a:buNone/>
            </a:pPr>
            <a:r>
              <a:rPr lang="en-US" sz="3200" b="1" dirty="0">
                <a:solidFill>
                  <a:srgbClr val="FFFFFF"/>
                </a:solidFill>
                <a:latin typeface="Arial" pitchFamily="34" charset="0"/>
                <a:ea typeface="Arial" pitchFamily="34" charset="-122"/>
                <a:cs typeface="Arial" pitchFamily="34" charset="-120"/>
              </a:rPr>
              <a:t>Conclusion</a:t>
            </a:r>
            <a:endParaRPr lang="en-US" sz="3200" dirty="0"/>
          </a:p>
        </p:txBody>
      </p:sp>
      <p:sp>
        <p:nvSpPr>
          <p:cNvPr id="5" name="Shape 3"/>
          <p:cNvSpPr/>
          <p:nvPr/>
        </p:nvSpPr>
        <p:spPr>
          <a:xfrm>
            <a:off x="548640" y="1051560"/>
            <a:ext cx="8046720" cy="1188720"/>
          </a:xfrm>
          <a:prstGeom prst="roundRect">
            <a:avLst>
              <a:gd name="adj" fmla="val 11538"/>
            </a:avLst>
          </a:prstGeom>
          <a:solidFill>
            <a:srgbClr val="4CAF50">
              <a:alpha val="80000"/>
            </a:srgbClr>
          </a:solidFill>
          <a:ln w="12700">
            <a:solidFill>
              <a:srgbClr val="4CAF50">
                <a:alpha val="60000"/>
              </a:srgbClr>
            </a:solidFill>
            <a:prstDash val="solid"/>
          </a:ln>
          <a:effectLst>
            <a:outerShdw blurRad="101600" dist="38100" dir="2700000" algn="bl" rotWithShape="0">
              <a:srgbClr val="000000">
                <a:alpha val="12000"/>
              </a:srgbClr>
            </a:outerShdw>
          </a:effectLst>
        </p:spPr>
      </p:sp>
      <p:sp>
        <p:nvSpPr>
          <p:cNvPr id="6" name="Text 4"/>
          <p:cNvSpPr/>
          <p:nvPr/>
        </p:nvSpPr>
        <p:spPr>
          <a:xfrm>
            <a:off x="640080" y="1051560"/>
            <a:ext cx="7863840" cy="1188720"/>
          </a:xfrm>
          <a:prstGeom prst="rect">
            <a:avLst/>
          </a:prstGeom>
          <a:noFill/>
          <a:ln/>
        </p:spPr>
        <p:txBody>
          <a:bodyPr wrap="square" rtlCol="0" anchor="ctr"/>
          <a:lstStyle/>
          <a:p>
            <a:pPr marL="0" indent="0" algn="ctr">
              <a:buNone/>
            </a:pPr>
            <a:r>
              <a:rPr lang="en-US" sz="1500" b="1" i="1" dirty="0">
                <a:solidFill>
                  <a:srgbClr val="FFFFFF"/>
                </a:solidFill>
                <a:latin typeface="Calibri" pitchFamily="34" charset="0"/>
                <a:ea typeface="Calibri" pitchFamily="34" charset="-122"/>
                <a:cs typeface="Calibri" pitchFamily="34" charset="-120"/>
              </a:rPr>
              <a:t>EcoSort AI Agent demonstrates that responsible, accessible AI can drive real behavioral change at scale — helping millions of users make sustainable waste decisions every day.</a:t>
            </a:r>
            <a:endParaRPr lang="en-US" sz="1500" dirty="0"/>
          </a:p>
        </p:txBody>
      </p:sp>
      <p:sp>
        <p:nvSpPr>
          <p:cNvPr id="7" name="Shape 5"/>
          <p:cNvSpPr/>
          <p:nvPr/>
        </p:nvSpPr>
        <p:spPr>
          <a:xfrm>
            <a:off x="548640" y="2377440"/>
            <a:ext cx="8046720" cy="502920"/>
          </a:xfrm>
          <a:prstGeom prst="roundRect">
            <a:avLst>
              <a:gd name="adj" fmla="val 14545"/>
            </a:avLst>
          </a:prstGeom>
          <a:solidFill>
            <a:srgbClr val="2E7D32">
              <a:alpha val="50000"/>
            </a:srgbClr>
          </a:solidFill>
          <a:ln w="12700">
            <a:solidFill>
              <a:srgbClr val="4CAF50">
                <a:alpha val="40000"/>
              </a:srgbClr>
            </a:solidFill>
            <a:prstDash val="solid"/>
          </a:ln>
        </p:spPr>
      </p:sp>
      <p:sp>
        <p:nvSpPr>
          <p:cNvPr id="8" name="Text 6"/>
          <p:cNvSpPr/>
          <p:nvPr/>
        </p:nvSpPr>
        <p:spPr>
          <a:xfrm>
            <a:off x="685800" y="2377440"/>
            <a:ext cx="7818120" cy="5029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  IBM watsonx.ai + Watson Assistant powering 92%+ accurate waste guidance</a:t>
            </a:r>
            <a:endParaRPr lang="en-US" sz="1250" dirty="0"/>
          </a:p>
        </p:txBody>
      </p:sp>
      <p:sp>
        <p:nvSpPr>
          <p:cNvPr id="9" name="Shape 7"/>
          <p:cNvSpPr/>
          <p:nvPr/>
        </p:nvSpPr>
        <p:spPr>
          <a:xfrm>
            <a:off x="548640" y="2971800"/>
            <a:ext cx="8046720" cy="502920"/>
          </a:xfrm>
          <a:prstGeom prst="roundRect">
            <a:avLst>
              <a:gd name="adj" fmla="val 14545"/>
            </a:avLst>
          </a:prstGeom>
          <a:solidFill>
            <a:srgbClr val="2E7D32">
              <a:alpha val="50000"/>
            </a:srgbClr>
          </a:solidFill>
          <a:ln w="12700">
            <a:solidFill>
              <a:srgbClr val="4CAF50">
                <a:alpha val="40000"/>
              </a:srgbClr>
            </a:solidFill>
            <a:prstDash val="solid"/>
          </a:ln>
        </p:spPr>
      </p:sp>
      <p:sp>
        <p:nvSpPr>
          <p:cNvPr id="10" name="Text 8"/>
          <p:cNvSpPr/>
          <p:nvPr/>
        </p:nvSpPr>
        <p:spPr>
          <a:xfrm>
            <a:off x="685800" y="2971800"/>
            <a:ext cx="7818120" cy="5029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  Direct alignment with UN SDG 12 across five specific targets</a:t>
            </a:r>
            <a:endParaRPr lang="en-US" sz="1250" dirty="0"/>
          </a:p>
        </p:txBody>
      </p:sp>
      <p:sp>
        <p:nvSpPr>
          <p:cNvPr id="11" name="Shape 9"/>
          <p:cNvSpPr/>
          <p:nvPr/>
        </p:nvSpPr>
        <p:spPr>
          <a:xfrm>
            <a:off x="548640" y="3566160"/>
            <a:ext cx="8046720" cy="502920"/>
          </a:xfrm>
          <a:prstGeom prst="roundRect">
            <a:avLst>
              <a:gd name="adj" fmla="val 14545"/>
            </a:avLst>
          </a:prstGeom>
          <a:solidFill>
            <a:srgbClr val="2E7D32">
              <a:alpha val="50000"/>
            </a:srgbClr>
          </a:solidFill>
          <a:ln w="12700">
            <a:solidFill>
              <a:srgbClr val="4CAF50">
                <a:alpha val="40000"/>
              </a:srgbClr>
            </a:solidFill>
            <a:prstDash val="solid"/>
          </a:ln>
        </p:spPr>
      </p:sp>
      <p:sp>
        <p:nvSpPr>
          <p:cNvPr id="12" name="Text 10"/>
          <p:cNvSpPr/>
          <p:nvPr/>
        </p:nvSpPr>
        <p:spPr>
          <a:xfrm>
            <a:off x="685800" y="3566160"/>
            <a:ext cx="7818120" cy="5029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  Comprehensive Responsible AI framework: Fairness, Transparency, Ethics, Privacy</a:t>
            </a:r>
            <a:endParaRPr lang="en-US" sz="1250" dirty="0"/>
          </a:p>
        </p:txBody>
      </p:sp>
      <p:sp>
        <p:nvSpPr>
          <p:cNvPr id="13" name="Shape 11"/>
          <p:cNvSpPr/>
          <p:nvPr/>
        </p:nvSpPr>
        <p:spPr>
          <a:xfrm>
            <a:off x="548640" y="4160520"/>
            <a:ext cx="8046720" cy="502920"/>
          </a:xfrm>
          <a:prstGeom prst="roundRect">
            <a:avLst>
              <a:gd name="adj" fmla="val 14545"/>
            </a:avLst>
          </a:prstGeom>
          <a:solidFill>
            <a:srgbClr val="2E7D32">
              <a:alpha val="50000"/>
            </a:srgbClr>
          </a:solidFill>
          <a:ln w="12700">
            <a:solidFill>
              <a:srgbClr val="4CAF50">
                <a:alpha val="40000"/>
              </a:srgbClr>
            </a:solidFill>
            <a:prstDash val="solid"/>
          </a:ln>
        </p:spPr>
      </p:sp>
      <p:sp>
        <p:nvSpPr>
          <p:cNvPr id="14" name="Text 12"/>
          <p:cNvSpPr/>
          <p:nvPr/>
        </p:nvSpPr>
        <p:spPr>
          <a:xfrm>
            <a:off x="685800" y="4160520"/>
            <a:ext cx="7818120" cy="5029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  Scalable to millions of users with projected 100K tonnes landfill diversion by Year 3</a:t>
            </a:r>
            <a:endParaRPr lang="en-US" sz="1250" dirty="0"/>
          </a:p>
        </p:txBody>
      </p:sp>
      <p:sp>
        <p:nvSpPr>
          <p:cNvPr id="15" name="Shape 13"/>
          <p:cNvSpPr/>
          <p:nvPr/>
        </p:nvSpPr>
        <p:spPr>
          <a:xfrm>
            <a:off x="2286000" y="4663440"/>
            <a:ext cx="4572000" cy="365760"/>
          </a:xfrm>
          <a:prstGeom prst="roundRect">
            <a:avLst>
              <a:gd name="adj" fmla="val 25000"/>
            </a:avLst>
          </a:prstGeom>
          <a:solidFill>
            <a:srgbClr val="4CAF50">
              <a:alpha val="70000"/>
            </a:srgbClr>
          </a:solidFill>
          <a:ln w="12700">
            <a:solidFill>
              <a:srgbClr val="4CAF50">
                <a:alpha val="70000"/>
              </a:srgbClr>
            </a:solidFill>
            <a:prstDash val="solid"/>
          </a:ln>
        </p:spPr>
      </p:sp>
      <p:sp>
        <p:nvSpPr>
          <p:cNvPr id="16" name="Text 14"/>
          <p:cNvSpPr/>
          <p:nvPr/>
        </p:nvSpPr>
        <p:spPr>
          <a:xfrm>
            <a:off x="2286000" y="4663440"/>
            <a:ext cx="4572000" cy="365760"/>
          </a:xfrm>
          <a:prstGeom prst="rect">
            <a:avLst/>
          </a:prstGeom>
          <a:noFill/>
          <a:ln/>
        </p:spPr>
        <p:txBody>
          <a:bodyPr wrap="square" rtlCol="0" anchor="ctr"/>
          <a:lstStyle/>
          <a:p>
            <a:pPr marL="0" indent="0" algn="ctr">
              <a:buNone/>
            </a:pPr>
            <a:r>
              <a:rPr lang="en-US" sz="1100" dirty="0">
                <a:solidFill>
                  <a:srgbClr val="C8E6C9"/>
                </a:solidFill>
                <a:latin typeface="Calibri" pitchFamily="34" charset="0"/>
                <a:ea typeface="Calibri" pitchFamily="34" charset="-122"/>
                <a:cs typeface="Calibri" pitchFamily="34" charset="-120"/>
              </a:rPr>
              <a:t>Thank You  ·  IBM SkillsBuild + AICTE  ·  AI for Sustainability 2024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2050</Words>
  <Application>Microsoft Office PowerPoint</Application>
  <PresentationFormat>On-screen Show (16:9)</PresentationFormat>
  <Paragraphs>290</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EcoSort AI Agent – Smart Waste Segregation Assistant</dc:title>
  <dc:subject>PptxGenJS Presentation</dc:subject>
  <dc:creator>IBM SkillsBuild + AICTE Internship</dc:creator>
  <cp:lastModifiedBy>Kunja Bihari Bagh</cp:lastModifiedBy>
  <cp:revision>2</cp:revision>
  <dcterms:created xsi:type="dcterms:W3CDTF">2026-06-13T13:39:56Z</dcterms:created>
  <dcterms:modified xsi:type="dcterms:W3CDTF">2026-06-13T14:11:33Z</dcterms:modified>
</cp:coreProperties>
</file>